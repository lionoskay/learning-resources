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handoutMasterIdLst>
    <p:handoutMasterId r:id="rId99"/>
  </p:handoutMasterIdLst>
  <p:sldIdLst>
    <p:sldId id="325" r:id="rId2"/>
    <p:sldId id="256" r:id="rId3"/>
    <p:sldId id="335" r:id="rId4"/>
    <p:sldId id="341" r:id="rId5"/>
    <p:sldId id="342" r:id="rId6"/>
    <p:sldId id="370" r:id="rId7"/>
    <p:sldId id="257" r:id="rId8"/>
    <p:sldId id="345" r:id="rId9"/>
    <p:sldId id="375" r:id="rId10"/>
    <p:sldId id="376" r:id="rId11"/>
    <p:sldId id="499" r:id="rId12"/>
    <p:sldId id="372" r:id="rId13"/>
    <p:sldId id="371" r:id="rId14"/>
    <p:sldId id="346" r:id="rId15"/>
    <p:sldId id="373" r:id="rId16"/>
    <p:sldId id="347" r:id="rId17"/>
    <p:sldId id="258" r:id="rId18"/>
    <p:sldId id="278" r:id="rId19"/>
    <p:sldId id="259" r:id="rId20"/>
    <p:sldId id="279" r:id="rId21"/>
    <p:sldId id="348" r:id="rId22"/>
    <p:sldId id="349" r:id="rId23"/>
    <p:sldId id="350" r:id="rId24"/>
    <p:sldId id="260" r:id="rId25"/>
    <p:sldId id="281" r:id="rId26"/>
    <p:sldId id="282" r:id="rId27"/>
    <p:sldId id="261" r:id="rId28"/>
    <p:sldId id="283" r:id="rId29"/>
    <p:sldId id="262" r:id="rId30"/>
    <p:sldId id="351" r:id="rId31"/>
    <p:sldId id="362" r:id="rId32"/>
    <p:sldId id="377" r:id="rId33"/>
    <p:sldId id="363" r:id="rId34"/>
    <p:sldId id="352" r:id="rId35"/>
    <p:sldId id="353" r:id="rId36"/>
    <p:sldId id="385" r:id="rId37"/>
    <p:sldId id="386" r:id="rId38"/>
    <p:sldId id="387" r:id="rId39"/>
    <p:sldId id="337" r:id="rId40"/>
    <p:sldId id="388" r:id="rId41"/>
    <p:sldId id="389" r:id="rId42"/>
    <p:sldId id="390" r:id="rId43"/>
    <p:sldId id="391" r:id="rId44"/>
    <p:sldId id="355" r:id="rId45"/>
    <p:sldId id="356" r:id="rId46"/>
    <p:sldId id="264" r:id="rId47"/>
    <p:sldId id="328" r:id="rId48"/>
    <p:sldId id="265" r:id="rId49"/>
    <p:sldId id="309" r:id="rId50"/>
    <p:sldId id="329" r:id="rId51"/>
    <p:sldId id="357" r:id="rId52"/>
    <p:sldId id="379" r:id="rId53"/>
    <p:sldId id="381" r:id="rId54"/>
    <p:sldId id="382" r:id="rId55"/>
    <p:sldId id="500" r:id="rId56"/>
    <p:sldId id="380" r:id="rId57"/>
    <p:sldId id="266" r:id="rId58"/>
    <p:sldId id="367" r:id="rId59"/>
    <p:sldId id="366" r:id="rId60"/>
    <p:sldId id="368" r:id="rId61"/>
    <p:sldId id="369" r:id="rId62"/>
    <p:sldId id="365" r:id="rId63"/>
    <p:sldId id="378" r:id="rId64"/>
    <p:sldId id="336" r:id="rId65"/>
    <p:sldId id="358" r:id="rId66"/>
    <p:sldId id="333" r:id="rId67"/>
    <p:sldId id="359" r:id="rId68"/>
    <p:sldId id="268" r:id="rId69"/>
    <p:sldId id="331" r:id="rId70"/>
    <p:sldId id="332" r:id="rId71"/>
    <p:sldId id="310" r:id="rId72"/>
    <p:sldId id="271" r:id="rId73"/>
    <p:sldId id="272" r:id="rId74"/>
    <p:sldId id="360" r:id="rId75"/>
    <p:sldId id="273" r:id="rId76"/>
    <p:sldId id="274" r:id="rId77"/>
    <p:sldId id="298" r:id="rId78"/>
    <p:sldId id="275" r:id="rId79"/>
    <p:sldId id="501" r:id="rId80"/>
    <p:sldId id="299" r:id="rId81"/>
    <p:sldId id="276" r:id="rId82"/>
    <p:sldId id="340" r:id="rId83"/>
    <p:sldId id="300" r:id="rId84"/>
    <p:sldId id="301" r:id="rId85"/>
    <p:sldId id="292" r:id="rId86"/>
    <p:sldId id="302" r:id="rId87"/>
    <p:sldId id="293" r:id="rId88"/>
    <p:sldId id="303" r:id="rId89"/>
    <p:sldId id="295" r:id="rId90"/>
    <p:sldId id="503" r:id="rId91"/>
    <p:sldId id="509" r:id="rId92"/>
    <p:sldId id="513" r:id="rId93"/>
    <p:sldId id="512" r:id="rId94"/>
    <p:sldId id="515" r:id="rId95"/>
    <p:sldId id="514" r:id="rId96"/>
    <p:sldId id="334" r:id="rId97"/>
  </p:sldIdLst>
  <p:sldSz cx="9144000" cy="6858000" type="screen4x3"/>
  <p:notesSz cx="6881813" cy="92964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76"/>
    <p:restoredTop sz="69129" autoAdjust="0"/>
  </p:normalViewPr>
  <p:slideViewPr>
    <p:cSldViewPr snapToGrid="0" showGuides="1">
      <p:cViewPr varScale="1">
        <p:scale>
          <a:sx n="111" d="100"/>
          <a:sy n="111" d="100"/>
        </p:scale>
        <p:origin x="3126" y="114"/>
      </p:cViewPr>
      <p:guideLst>
        <p:guide orient="horz" pos="816"/>
        <p:guide pos="55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98788" cy="458788"/>
          </a:xfrm>
          <a:prstGeom prst="rect">
            <a:avLst/>
          </a:prstGeom>
          <a:noFill/>
          <a:ln w="9525">
            <a:noFill/>
            <a:miter lim="800000"/>
          </a:ln>
        </p:spPr>
        <p:txBody>
          <a:bodyPr vert="horz" wrap="none" lIns="90892" tIns="45445" rIns="90892" bIns="45445" numCol="1" anchor="ctr" anchorCtr="0" compatLnSpc="1"/>
          <a:lstStyle>
            <a:lvl1pPr defTabSz="908050">
              <a:defRPr sz="1200">
                <a:latin typeface="Helvetica"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62467" name="Rectangle 3"/>
          <p:cNvSpPr>
            <a:spLocks noGrp="1" noChangeArrowheads="1"/>
          </p:cNvSpPr>
          <p:nvPr>
            <p:ph type="dt" sz="quarter" idx="1"/>
          </p:nvPr>
        </p:nvSpPr>
        <p:spPr bwMode="auto">
          <a:xfrm>
            <a:off x="3900488" y="0"/>
            <a:ext cx="3000375" cy="458788"/>
          </a:xfrm>
          <a:prstGeom prst="rect">
            <a:avLst/>
          </a:prstGeom>
          <a:noFill/>
          <a:ln w="9525">
            <a:noFill/>
            <a:miter lim="800000"/>
          </a:ln>
        </p:spPr>
        <p:txBody>
          <a:bodyPr vert="horz" wrap="none" lIns="90892" tIns="45445" rIns="90892" bIns="45445" numCol="1" anchor="ctr" anchorCtr="0" compatLnSpc="1"/>
          <a:lstStyle>
            <a:lvl1pPr algn="r" defTabSz="908050">
              <a:defRPr sz="1200">
                <a:latin typeface="Helvetica" charset="0"/>
              </a:defRPr>
            </a:lvl1pPr>
          </a:lstStyle>
          <a:p>
            <a:pPr marL="0" marR="0" lvl="0" indent="0" algn="r"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62468" name="Rectangle 4"/>
          <p:cNvSpPr>
            <a:spLocks noGrp="1" noChangeArrowheads="1"/>
          </p:cNvSpPr>
          <p:nvPr>
            <p:ph type="ftr" sz="quarter" idx="2"/>
          </p:nvPr>
        </p:nvSpPr>
        <p:spPr bwMode="auto">
          <a:xfrm>
            <a:off x="0" y="8853488"/>
            <a:ext cx="2998788" cy="457200"/>
          </a:xfrm>
          <a:prstGeom prst="rect">
            <a:avLst/>
          </a:prstGeom>
          <a:noFill/>
          <a:ln w="9525">
            <a:noFill/>
            <a:miter lim="800000"/>
          </a:ln>
        </p:spPr>
        <p:txBody>
          <a:bodyPr vert="horz" wrap="none" lIns="90892" tIns="45445" rIns="90892" bIns="45445" numCol="1" anchor="b" anchorCtr="0" compatLnSpc="1"/>
          <a:lstStyle>
            <a:lvl1pPr defTabSz="908050">
              <a:defRPr sz="1200">
                <a:latin typeface="Helvetica"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62469" name="Rectangle 5"/>
          <p:cNvSpPr>
            <a:spLocks noGrp="1" noChangeArrowheads="1"/>
          </p:cNvSpPr>
          <p:nvPr>
            <p:ph type="sldNum" sz="quarter" idx="3"/>
          </p:nvPr>
        </p:nvSpPr>
        <p:spPr bwMode="auto">
          <a:xfrm>
            <a:off x="3900488" y="8853488"/>
            <a:ext cx="3000375" cy="457200"/>
          </a:xfrm>
          <a:prstGeom prst="rect">
            <a:avLst/>
          </a:prstGeom>
          <a:noFill/>
          <a:ln w="9525">
            <a:noFill/>
            <a:miter lim="800000"/>
          </a:ln>
        </p:spPr>
        <p:txBody>
          <a:bodyPr vert="horz" wrap="none" lIns="90892" tIns="45445" rIns="90892" bIns="45445" numCol="1" anchor="b" anchorCtr="0" compatLnSpc="1"/>
          <a:lstStyle/>
          <a:p>
            <a:pPr lvl="0" algn="r" defTabSz="908050">
              <a:buNone/>
            </a:pPr>
            <a:fld id="{9A0DB2DC-4C9A-4742-B13C-FB6460FD3503}" type="slidenum">
              <a:rPr lang="zh-CN" altLang="en-US" sz="1200">
                <a:latin typeface="Helvetica" charset="0"/>
              </a:rPr>
              <a:t>‹#›</a:t>
            </a:fld>
            <a:endParaRPr lang="zh-CN" altLang="en-US" sz="1200">
              <a:latin typeface="Helvetica"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2998788" cy="458788"/>
          </a:xfrm>
          <a:prstGeom prst="rect">
            <a:avLst/>
          </a:prstGeom>
          <a:noFill/>
          <a:ln w="9525">
            <a:noFill/>
            <a:miter lim="800000"/>
          </a:ln>
        </p:spPr>
        <p:txBody>
          <a:bodyPr vert="horz" wrap="none" lIns="90892" tIns="45445" rIns="90892" bIns="45445" numCol="1" anchor="ctr" anchorCtr="0" compatLnSpc="1"/>
          <a:lstStyle>
            <a:lvl1pPr defTabSz="908050">
              <a:defRPr sz="1200">
                <a:latin typeface="Helvetica"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74755" name="Rectangle 3"/>
          <p:cNvSpPr>
            <a:spLocks noGrp="1" noChangeArrowheads="1"/>
          </p:cNvSpPr>
          <p:nvPr>
            <p:ph type="dt" idx="1"/>
          </p:nvPr>
        </p:nvSpPr>
        <p:spPr bwMode="auto">
          <a:xfrm>
            <a:off x="3900488" y="0"/>
            <a:ext cx="3000375" cy="458788"/>
          </a:xfrm>
          <a:prstGeom prst="rect">
            <a:avLst/>
          </a:prstGeom>
          <a:noFill/>
          <a:ln w="9525">
            <a:noFill/>
            <a:miter lim="800000"/>
          </a:ln>
        </p:spPr>
        <p:txBody>
          <a:bodyPr vert="horz" wrap="none" lIns="90892" tIns="45445" rIns="90892" bIns="45445" numCol="1" anchor="ctr" anchorCtr="0" compatLnSpc="1"/>
          <a:lstStyle>
            <a:lvl1pPr algn="r" defTabSz="908050">
              <a:defRPr sz="1200">
                <a:latin typeface="Helvetica" charset="0"/>
              </a:defRPr>
            </a:lvl1pPr>
          </a:lstStyle>
          <a:p>
            <a:pPr marL="0" marR="0" lvl="0" indent="0" algn="r"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3076" name="Rectangle 4"/>
          <p:cNvSpPr>
            <a:spLocks noGrp="1" noRot="1" noChangeAspect="1" noTextEdit="1"/>
          </p:cNvSpPr>
          <p:nvPr>
            <p:ph type="sldImg" idx="2"/>
          </p:nvPr>
        </p:nvSpPr>
        <p:spPr>
          <a:xfrm>
            <a:off x="1073150" y="688975"/>
            <a:ext cx="4678363" cy="3508375"/>
          </a:xfrm>
          <a:prstGeom prst="rect">
            <a:avLst/>
          </a:prstGeom>
          <a:noFill/>
          <a:ln w="9525" cap="flat" cmpd="sng">
            <a:solidFill>
              <a:srgbClr val="000000"/>
            </a:solidFill>
            <a:prstDash val="solid"/>
            <a:miter/>
            <a:headEnd type="none" w="med" len="med"/>
            <a:tailEnd type="none" w="med" len="med"/>
          </a:ln>
        </p:spPr>
      </p:sp>
      <p:sp>
        <p:nvSpPr>
          <p:cNvPr id="74757" name="Rectangle 5"/>
          <p:cNvSpPr>
            <a:spLocks noGrp="1" noChangeArrowheads="1"/>
          </p:cNvSpPr>
          <p:nvPr>
            <p:ph type="body" sz="quarter" idx="3"/>
          </p:nvPr>
        </p:nvSpPr>
        <p:spPr bwMode="auto">
          <a:xfrm>
            <a:off x="900113" y="4427538"/>
            <a:ext cx="5100638" cy="4195763"/>
          </a:xfrm>
          <a:prstGeom prst="rect">
            <a:avLst/>
          </a:prstGeom>
          <a:noFill/>
          <a:ln w="9525">
            <a:noFill/>
            <a:miter lim="800000"/>
          </a:ln>
        </p:spPr>
        <p:txBody>
          <a:bodyPr vert="horz" wrap="none" lIns="90892" tIns="45445" rIns="90892" bIns="45445"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Fifth level</a:t>
            </a:r>
          </a:p>
        </p:txBody>
      </p:sp>
      <p:sp>
        <p:nvSpPr>
          <p:cNvPr id="74758" name="Rectangle 6"/>
          <p:cNvSpPr>
            <a:spLocks noGrp="1" noChangeArrowheads="1"/>
          </p:cNvSpPr>
          <p:nvPr>
            <p:ph type="ftr" sz="quarter" idx="4"/>
          </p:nvPr>
        </p:nvSpPr>
        <p:spPr bwMode="auto">
          <a:xfrm>
            <a:off x="0" y="8853488"/>
            <a:ext cx="2998788" cy="457200"/>
          </a:xfrm>
          <a:prstGeom prst="rect">
            <a:avLst/>
          </a:prstGeom>
          <a:noFill/>
          <a:ln w="9525">
            <a:noFill/>
            <a:miter lim="800000"/>
          </a:ln>
        </p:spPr>
        <p:txBody>
          <a:bodyPr vert="horz" wrap="none" lIns="90892" tIns="45445" rIns="90892" bIns="45445" numCol="1" anchor="b" anchorCtr="0" compatLnSpc="1"/>
          <a:lstStyle>
            <a:lvl1pPr defTabSz="908050">
              <a:defRPr sz="1200">
                <a:latin typeface="Helvetica"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74759" name="Rectangle 7"/>
          <p:cNvSpPr>
            <a:spLocks noGrp="1" noChangeArrowheads="1"/>
          </p:cNvSpPr>
          <p:nvPr>
            <p:ph type="sldNum" sz="quarter" idx="5"/>
          </p:nvPr>
        </p:nvSpPr>
        <p:spPr bwMode="auto">
          <a:xfrm>
            <a:off x="3900488" y="8853488"/>
            <a:ext cx="3000375" cy="457200"/>
          </a:xfrm>
          <a:prstGeom prst="rect">
            <a:avLst/>
          </a:prstGeom>
          <a:noFill/>
          <a:ln w="9525">
            <a:noFill/>
            <a:miter lim="800000"/>
          </a:ln>
        </p:spPr>
        <p:txBody>
          <a:bodyPr vert="horz" wrap="none" lIns="90892" tIns="45445" rIns="90892" bIns="45445" numCol="1" anchor="b" anchorCtr="0" compatLnSpc="1"/>
          <a:lstStyle/>
          <a:p>
            <a:pPr lvl="0" algn="r" defTabSz="908050">
              <a:buNone/>
            </a:pPr>
            <a:fld id="{9A0DB2DC-4C9A-4742-B13C-FB6460FD3503}" type="slidenum">
              <a:rPr lang="zh-CN" altLang="en-US" sz="1200">
                <a:latin typeface="Helvetica" charset="0"/>
              </a:rPr>
              <a:t>‹#›</a:t>
            </a:fld>
            <a:endParaRPr lang="zh-CN" altLang="en-US" sz="1200">
              <a:latin typeface="Helvetica"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Rot="1" noChangeAspect="1" noTextEdit="1"/>
          </p:cNvSpPr>
          <p:nvPr>
            <p:ph type="sldImg"/>
          </p:nvPr>
        </p:nvSpPr>
        <p:spPr>
          <a:ln/>
        </p:spPr>
      </p:sp>
      <p:sp>
        <p:nvSpPr>
          <p:cNvPr id="614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TextEdit="1"/>
          </p:cNvSpPr>
          <p:nvPr>
            <p:ph type="sldImg"/>
          </p:nvPr>
        </p:nvSpPr>
        <p:spPr>
          <a:ln/>
        </p:spPr>
      </p:sp>
      <p:sp>
        <p:nvSpPr>
          <p:cNvPr id="819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TextEdit="1"/>
          </p:cNvSpPr>
          <p:nvPr>
            <p:ph type="sldImg"/>
          </p:nvPr>
        </p:nvSpPr>
        <p:spPr>
          <a:ln/>
        </p:spPr>
      </p:sp>
      <p:sp>
        <p:nvSpPr>
          <p:cNvPr id="1024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Rot="1" noChangeAspect="1" noTextEdit="1"/>
          </p:cNvSpPr>
          <p:nvPr>
            <p:ph type="sldImg"/>
          </p:nvPr>
        </p:nvSpPr>
        <p:spPr>
          <a:ln/>
        </p:spPr>
      </p:sp>
      <p:sp>
        <p:nvSpPr>
          <p:cNvPr id="1229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TextEdit="1"/>
          </p:cNvSpPr>
          <p:nvPr>
            <p:ph type="sldImg"/>
          </p:nvPr>
        </p:nvSpPr>
        <p:spPr>
          <a:ln/>
        </p:spPr>
      </p:sp>
      <p:sp>
        <p:nvSpPr>
          <p:cNvPr id="1433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TextEdit="1"/>
          </p:cNvSpPr>
          <p:nvPr>
            <p:ph type="sldImg"/>
          </p:nvPr>
        </p:nvSpPr>
        <p:spPr>
          <a:ln/>
        </p:spPr>
      </p:sp>
      <p:sp>
        <p:nvSpPr>
          <p:cNvPr id="1843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TextEdit="1"/>
          </p:cNvSpPr>
          <p:nvPr>
            <p:ph type="sldImg"/>
          </p:nvPr>
        </p:nvSpPr>
        <p:spPr>
          <a:ln/>
        </p:spPr>
      </p:sp>
      <p:sp>
        <p:nvSpPr>
          <p:cNvPr id="20482"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r>
              <a:rPr lang="zh-CN" altLang="en-US"/>
              <a:t>一个具有一定独立功能的程序在一个数据集合上的一次动态执行过程。</a:t>
            </a:r>
          </a:p>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a:ln/>
        </p:spPr>
      </p:sp>
      <p:sp>
        <p:nvSpPr>
          <p:cNvPr id="22530"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TextEdit="1"/>
          </p:cNvSpPr>
          <p:nvPr>
            <p:ph type="sldImg"/>
          </p:nvPr>
        </p:nvSpPr>
        <p:spPr>
          <a:ln/>
        </p:spPr>
      </p:sp>
      <p:sp>
        <p:nvSpPr>
          <p:cNvPr id="24578"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TextEdit="1"/>
          </p:cNvSpPr>
          <p:nvPr>
            <p:ph type="sldImg"/>
          </p:nvPr>
        </p:nvSpPr>
        <p:spPr>
          <a:ln/>
        </p:spPr>
      </p:sp>
      <p:sp>
        <p:nvSpPr>
          <p:cNvPr id="26626"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TextEdit="1"/>
          </p:cNvSpPr>
          <p:nvPr>
            <p:ph type="sldImg"/>
          </p:nvPr>
        </p:nvSpPr>
        <p:spPr>
          <a:ln/>
        </p:spPr>
      </p:sp>
      <p:sp>
        <p:nvSpPr>
          <p:cNvPr id="29698"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zh-CN" altLang="en-US"/>
          </a:p>
          <a:p>
            <a:pPr lvl="0"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TextEdit="1"/>
          </p:cNvSpPr>
          <p:nvPr>
            <p:ph type="sldImg"/>
          </p:nvPr>
        </p:nvSpPr>
        <p:spPr>
          <a:ln/>
        </p:spPr>
      </p:sp>
      <p:sp>
        <p:nvSpPr>
          <p:cNvPr id="31746"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zh-CN" altLang="en-US"/>
          </a:p>
          <a:p>
            <a:pPr lvl="0"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spect="1" noTextEdit="1"/>
          </p:cNvSpPr>
          <p:nvPr>
            <p:ph type="sldImg"/>
          </p:nvPr>
        </p:nvSpPr>
        <p:spPr>
          <a:ln/>
        </p:spPr>
      </p:sp>
      <p:sp>
        <p:nvSpPr>
          <p:cNvPr id="33794"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r>
              <a:rPr lang="zh-CN" altLang="en-US">
                <a:latin typeface="宋体" panose="02010600030101010101" pitchFamily="2" charset="-122"/>
              </a:rPr>
              <a:t>系统进程与用户进程的区别：</a:t>
            </a:r>
          </a:p>
          <a:p>
            <a:pPr marL="37931725" lvl="1" indent="-37474525" eaLnBrk="1" hangingPunct="1"/>
            <a:r>
              <a:rPr lang="zh-CN" altLang="en-US">
                <a:latin typeface="宋体" panose="02010600030101010101" pitchFamily="2" charset="-122"/>
              </a:rPr>
              <a:t>资源的使用</a:t>
            </a:r>
            <a:r>
              <a:rPr lang="en-US" altLang="zh-CN">
                <a:latin typeface="宋体" panose="02010600030101010101" pitchFamily="2" charset="-122"/>
              </a:rPr>
              <a:t>:</a:t>
            </a:r>
            <a:r>
              <a:rPr lang="zh-CN" altLang="en-US">
                <a:latin typeface="宋体" panose="02010600030101010101" pitchFamily="2" charset="-122"/>
              </a:rPr>
              <a:t>系统进程被分配一个初始的资源集合，这些资源可以为它独占，也能以最高优先权的资格使用。用户进程通过系统服务请求的手段竞争使用系统资源；</a:t>
            </a:r>
          </a:p>
          <a:p>
            <a:pPr marL="37931725" lvl="1" indent="-37474525" eaLnBrk="1" hangingPunct="1"/>
            <a:r>
              <a:rPr lang="en-US" altLang="zh-CN"/>
              <a:t>I/O</a:t>
            </a:r>
            <a:r>
              <a:rPr lang="zh-CN" altLang="en-US">
                <a:latin typeface="宋体" panose="02010600030101010101" pitchFamily="2" charset="-122"/>
              </a:rPr>
              <a:t>操作</a:t>
            </a:r>
            <a:r>
              <a:rPr lang="en-US" altLang="zh-CN">
                <a:latin typeface="宋体" panose="02010600030101010101" pitchFamily="2" charset="-122"/>
              </a:rPr>
              <a:t>:</a:t>
            </a:r>
            <a:r>
              <a:rPr lang="zh-CN" altLang="en-US">
                <a:latin typeface="宋体" panose="02010600030101010101" pitchFamily="2" charset="-122"/>
              </a:rPr>
              <a:t>用户进程不能直接做</a:t>
            </a:r>
            <a:r>
              <a:rPr lang="en-US" altLang="zh-CN"/>
              <a:t>I/O</a:t>
            </a:r>
            <a:r>
              <a:rPr lang="zh-CN" altLang="en-US">
                <a:latin typeface="宋体" panose="02010600030101010101" pitchFamily="2" charset="-122"/>
              </a:rPr>
              <a:t>操作，而系统进程可以做显式的、直接的</a:t>
            </a:r>
            <a:r>
              <a:rPr lang="en-US" altLang="zh-CN">
                <a:latin typeface="宋体" panose="02010600030101010101" pitchFamily="2" charset="-122"/>
              </a:rPr>
              <a:t>I/O</a:t>
            </a:r>
            <a:r>
              <a:rPr lang="zh-CN" altLang="en-US">
                <a:latin typeface="宋体" panose="02010600030101010101" pitchFamily="2" charset="-122"/>
              </a:rPr>
              <a:t>操作。</a:t>
            </a:r>
          </a:p>
          <a:p>
            <a:pPr marL="37931725" lvl="1" indent="-37474525" eaLnBrk="1" hangingPunct="1"/>
            <a:r>
              <a:rPr lang="en-US" altLang="zh-CN"/>
              <a:t>CPU</a:t>
            </a:r>
            <a:r>
              <a:rPr lang="zh-CN" altLang="en-US">
                <a:latin typeface="宋体" panose="02010600030101010101" pitchFamily="2" charset="-122"/>
              </a:rPr>
              <a:t>工作状态</a:t>
            </a:r>
            <a:r>
              <a:rPr lang="en-US" altLang="zh-CN">
                <a:latin typeface="宋体" panose="02010600030101010101" pitchFamily="2" charset="-122"/>
              </a:rPr>
              <a:t>:</a:t>
            </a:r>
            <a:r>
              <a:rPr lang="zh-CN" altLang="en-US">
                <a:latin typeface="宋体" panose="02010600030101010101" pitchFamily="2" charset="-122"/>
              </a:rPr>
              <a:t>系统进程在管态下活动，而用户进程则在用户态（目态）下活动。</a:t>
            </a:r>
          </a:p>
          <a:p>
            <a:pPr lvl="0"/>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TextEdit="1"/>
          </p:cNvSpPr>
          <p:nvPr>
            <p:ph type="sldImg"/>
          </p:nvPr>
        </p:nvSpPr>
        <p:spPr>
          <a:ln/>
        </p:spPr>
      </p:sp>
      <p:sp>
        <p:nvSpPr>
          <p:cNvPr id="3584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Rot="1" noChangeAspect="1" noTextEdit="1"/>
          </p:cNvSpPr>
          <p:nvPr>
            <p:ph type="sldImg"/>
          </p:nvPr>
        </p:nvSpPr>
        <p:spPr>
          <a:ln/>
        </p:spPr>
      </p:sp>
      <p:sp>
        <p:nvSpPr>
          <p:cNvPr id="3789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Rot="1" noChangeAspect="1" noTextEdit="1"/>
          </p:cNvSpPr>
          <p:nvPr>
            <p:ph type="sldImg"/>
          </p:nvPr>
        </p:nvSpPr>
        <p:spPr>
          <a:ln/>
        </p:spPr>
      </p:sp>
      <p:sp>
        <p:nvSpPr>
          <p:cNvPr id="3993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Rot="1" noChangeAspect="1" noTextEdit="1"/>
          </p:cNvSpPr>
          <p:nvPr>
            <p:ph type="sldImg"/>
          </p:nvPr>
        </p:nvSpPr>
        <p:spPr>
          <a:ln/>
        </p:spPr>
      </p:sp>
      <p:sp>
        <p:nvSpPr>
          <p:cNvPr id="4198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TextEdit="1"/>
          </p:cNvSpPr>
          <p:nvPr>
            <p:ph type="sldImg"/>
          </p:nvPr>
        </p:nvSpPr>
        <p:spPr>
          <a:ln/>
        </p:spPr>
      </p:sp>
      <p:sp>
        <p:nvSpPr>
          <p:cNvPr id="4403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TextEdit="1"/>
          </p:cNvSpPr>
          <p:nvPr>
            <p:ph type="sldImg"/>
          </p:nvPr>
        </p:nvSpPr>
        <p:spPr>
          <a:ln/>
        </p:spPr>
      </p:sp>
      <p:sp>
        <p:nvSpPr>
          <p:cNvPr id="4608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Rot="1" noChangeAspect="1" noTextEdit="1"/>
          </p:cNvSpPr>
          <p:nvPr>
            <p:ph type="sldImg"/>
          </p:nvPr>
        </p:nvSpPr>
        <p:spPr>
          <a:ln/>
        </p:spPr>
      </p:sp>
      <p:sp>
        <p:nvSpPr>
          <p:cNvPr id="48130"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Rot="1" noChangeAspect="1" noTextEdit="1"/>
          </p:cNvSpPr>
          <p:nvPr>
            <p:ph type="sldImg"/>
          </p:nvPr>
        </p:nvSpPr>
        <p:spPr>
          <a:ln/>
        </p:spPr>
      </p:sp>
      <p:sp>
        <p:nvSpPr>
          <p:cNvPr id="5017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TextEdit="1"/>
          </p:cNvSpPr>
          <p:nvPr>
            <p:ph type="sldImg"/>
          </p:nvPr>
        </p:nvSpPr>
        <p:spPr>
          <a:ln/>
        </p:spPr>
      </p:sp>
      <p:sp>
        <p:nvSpPr>
          <p:cNvPr id="52226" name="Rectangle 3"/>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TextEdit="1"/>
          </p:cNvSpPr>
          <p:nvPr>
            <p:ph type="sldImg"/>
          </p:nvPr>
        </p:nvSpPr>
        <p:spPr>
          <a:ln/>
        </p:spPr>
      </p:sp>
      <p:sp>
        <p:nvSpPr>
          <p:cNvPr id="5427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TextEdit="1"/>
          </p:cNvSpPr>
          <p:nvPr>
            <p:ph type="sldImg"/>
          </p:nvPr>
        </p:nvSpPr>
        <p:spPr>
          <a:ln/>
        </p:spPr>
      </p:sp>
      <p:sp>
        <p:nvSpPr>
          <p:cNvPr id="5632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TextEdit="1"/>
          </p:cNvSpPr>
          <p:nvPr>
            <p:ph type="sldImg"/>
          </p:nvPr>
        </p:nvSpPr>
        <p:spPr>
          <a:ln/>
        </p:spPr>
      </p:sp>
      <p:sp>
        <p:nvSpPr>
          <p:cNvPr id="5837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Rot="1" noChangeAspect="1" noTextEdit="1"/>
          </p:cNvSpPr>
          <p:nvPr>
            <p:ph type="sldImg"/>
          </p:nvPr>
        </p:nvSpPr>
        <p:spPr>
          <a:ln/>
        </p:spPr>
      </p:sp>
      <p:sp>
        <p:nvSpPr>
          <p:cNvPr id="6041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Rot="1" noChangeAspect="1" noTextEdit="1"/>
          </p:cNvSpPr>
          <p:nvPr>
            <p:ph type="sldImg"/>
          </p:nvPr>
        </p:nvSpPr>
        <p:spPr>
          <a:ln/>
        </p:spPr>
      </p:sp>
      <p:sp>
        <p:nvSpPr>
          <p:cNvPr id="6246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Rot="1" noChangeAspect="1" noTextEdit="1"/>
          </p:cNvSpPr>
          <p:nvPr>
            <p:ph type="sldImg"/>
          </p:nvPr>
        </p:nvSpPr>
        <p:spPr>
          <a:ln/>
        </p:spPr>
      </p:sp>
      <p:sp>
        <p:nvSpPr>
          <p:cNvPr id="6451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幻灯片图像占位符 1"/>
          <p:cNvSpPr>
            <a:spLocks noGrp="1" noRot="1" noChangeAspect="1" noTextEdit="1"/>
          </p:cNvSpPr>
          <p:nvPr>
            <p:ph type="sldImg"/>
          </p:nvPr>
        </p:nvSpPr>
        <p:spPr>
          <a:ln/>
        </p:spPr>
      </p:sp>
      <p:sp>
        <p:nvSpPr>
          <p:cNvPr id="67586" name="备注占位符 2"/>
          <p:cNvSpPr>
            <a:spLocks noGrp="1"/>
          </p:cNvSpPr>
          <p:nvPr>
            <p:ph type="body" idx="1"/>
          </p:nvPr>
        </p:nvSpPr>
        <p:spPr>
          <a:xfrm>
            <a:off x="900113" y="4427538"/>
            <a:ext cx="5100637" cy="4195762"/>
          </a:xfrm>
          <a:ln/>
        </p:spPr>
        <p:txBody>
          <a:bodyPr wrap="none" lIns="90892" tIns="45445" rIns="90892" bIns="45445" anchor="ctr" anchorCtr="0"/>
          <a:lstStyle/>
          <a:p>
            <a:pPr lvl="0" eaLnBrk="1" hangingPunct="1">
              <a:lnSpc>
                <a:spcPct val="130000"/>
              </a:lnSpc>
            </a:pPr>
            <a:r>
              <a:rPr lang="en-US" altLang="zh-CN"/>
              <a:t>context</a:t>
            </a:r>
            <a:r>
              <a:rPr lang="zh-CN" altLang="en-US"/>
              <a:t>由进程的用户地址空间内容、硬件寄存器内容及与该进程相关的核心数据结构组成</a:t>
            </a:r>
          </a:p>
          <a:p>
            <a:pPr lvl="1" eaLnBrk="1" hangingPunct="1">
              <a:lnSpc>
                <a:spcPct val="130000"/>
              </a:lnSpc>
            </a:pPr>
            <a:r>
              <a:rPr lang="zh-CN" altLang="en-US"/>
              <a:t>用户级上下文：进程的用户地址空间（包括用户栈各层次），包括用户正文段、用户数据段和用户栈</a:t>
            </a:r>
          </a:p>
          <a:p>
            <a:pPr lvl="1" eaLnBrk="1" hangingPunct="1">
              <a:lnSpc>
                <a:spcPct val="130000"/>
              </a:lnSpc>
            </a:pPr>
            <a:r>
              <a:rPr lang="zh-CN" altLang="en-US"/>
              <a:t>寄存器级上下文：程序计数器、程序状态寄存器、栈指针、通用寄存器的值</a:t>
            </a:r>
          </a:p>
          <a:p>
            <a:pPr lvl="1" eaLnBrk="1" hangingPunct="1">
              <a:lnSpc>
                <a:spcPct val="130000"/>
              </a:lnSpc>
            </a:pPr>
            <a:r>
              <a:rPr lang="zh-CN" altLang="en-US"/>
              <a:t>系统级上下文：</a:t>
            </a:r>
          </a:p>
          <a:p>
            <a:pPr lvl="2" eaLnBrk="1" hangingPunct="1">
              <a:lnSpc>
                <a:spcPct val="130000"/>
              </a:lnSpc>
            </a:pPr>
            <a:r>
              <a:rPr lang="zh-CN" altLang="en-US"/>
              <a:t>静态部分（</a:t>
            </a:r>
            <a:r>
              <a:rPr lang="en-US" altLang="zh-CN"/>
              <a:t>PCB</a:t>
            </a:r>
            <a:r>
              <a:rPr lang="zh-CN" altLang="en-US"/>
              <a:t>和资源表格）</a:t>
            </a:r>
          </a:p>
          <a:p>
            <a:pPr lvl="2" eaLnBrk="1" hangingPunct="1">
              <a:lnSpc>
                <a:spcPct val="130000"/>
              </a:lnSpc>
            </a:pPr>
            <a:r>
              <a:rPr lang="zh-CN" altLang="en-US"/>
              <a:t>动态部分：核心栈（核心过程的栈结构，不同进程在调用相同核心过程时有不同核心栈）</a:t>
            </a:r>
          </a:p>
          <a:p>
            <a:pPr lvl="0"/>
            <a:endParaRPr lang="zh-CN" altLang="en-US"/>
          </a:p>
        </p:txBody>
      </p:sp>
      <p:sp>
        <p:nvSpPr>
          <p:cNvPr id="67587" name="灯片编号占位符 3"/>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zh-CN" altLang="en-US" sz="1200">
                <a:latin typeface="Helvetica" charset="0"/>
              </a:rPr>
              <a:t>31</a:t>
            </a:fld>
            <a:endParaRPr lang="zh-CN" altLang="en-US" sz="1200">
              <a:latin typeface="Helvetica"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a:ln/>
        </p:spPr>
      </p:sp>
      <p:sp>
        <p:nvSpPr>
          <p:cNvPr id="69634" name="备注占位符 2"/>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
        <p:nvSpPr>
          <p:cNvPr id="69635" name="灯片编号占位符 3"/>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zh-CN" altLang="en-US" sz="1200">
                <a:latin typeface="Helvetica" charset="0"/>
              </a:rPr>
              <a:t>32</a:t>
            </a:fld>
            <a:endParaRPr lang="zh-CN" altLang="en-US" sz="1200">
              <a:latin typeface="Helvetica"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TextEdit="1"/>
          </p:cNvSpPr>
          <p:nvPr>
            <p:ph type="sldImg"/>
          </p:nvPr>
        </p:nvSpPr>
        <p:spPr>
          <a:ln/>
        </p:spPr>
      </p:sp>
      <p:sp>
        <p:nvSpPr>
          <p:cNvPr id="7168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36</a:t>
            </a:fld>
            <a:endParaRPr lang="en-US" altLang="zh-CN" sz="1200">
              <a:latin typeface="Helvetica" charset="0"/>
            </a:endParaRPr>
          </a:p>
        </p:txBody>
      </p:sp>
      <p:sp>
        <p:nvSpPr>
          <p:cNvPr id="75778" name="Rectangle 2"/>
          <p:cNvSpPr>
            <a:spLocks noGrp="1" noRot="1" noChangeAspect="1" noTextEdit="1"/>
          </p:cNvSpPr>
          <p:nvPr>
            <p:ph type="sldImg"/>
          </p:nvPr>
        </p:nvSpPr>
        <p:spPr>
          <a:ln/>
        </p:spPr>
      </p:sp>
      <p:sp>
        <p:nvSpPr>
          <p:cNvPr id="75779"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37</a:t>
            </a:fld>
            <a:endParaRPr lang="en-US" altLang="zh-CN" sz="1200">
              <a:latin typeface="Helvetica" charset="0"/>
            </a:endParaRPr>
          </a:p>
        </p:txBody>
      </p:sp>
      <p:sp>
        <p:nvSpPr>
          <p:cNvPr id="77826" name="Rectangle 2"/>
          <p:cNvSpPr>
            <a:spLocks noGrp="1" noRot="1" noChangeAspect="1" noTextEdit="1"/>
          </p:cNvSpPr>
          <p:nvPr>
            <p:ph type="sldImg"/>
          </p:nvPr>
        </p:nvSpPr>
        <p:spPr>
          <a:ln/>
        </p:spPr>
      </p:sp>
      <p:sp>
        <p:nvSpPr>
          <p:cNvPr id="77827"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38</a:t>
            </a:fld>
            <a:endParaRPr lang="en-US" altLang="zh-CN" sz="1200">
              <a:latin typeface="Helvetica" charset="0"/>
            </a:endParaRPr>
          </a:p>
        </p:txBody>
      </p:sp>
      <p:sp>
        <p:nvSpPr>
          <p:cNvPr id="79874" name="Rectangle 2"/>
          <p:cNvSpPr>
            <a:spLocks noGrp="1" noRot="1" noChangeAspect="1" noTextEdit="1"/>
          </p:cNvSpPr>
          <p:nvPr>
            <p:ph type="sldImg"/>
          </p:nvPr>
        </p:nvSpPr>
        <p:spPr>
          <a:ln/>
        </p:spPr>
      </p:sp>
      <p:sp>
        <p:nvSpPr>
          <p:cNvPr id="79875"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39</a:t>
            </a:fld>
            <a:endParaRPr lang="en-US" altLang="zh-CN" sz="1200">
              <a:latin typeface="Helvetica" charset="0"/>
            </a:endParaRPr>
          </a:p>
        </p:txBody>
      </p:sp>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40</a:t>
            </a:fld>
            <a:endParaRPr lang="en-US" altLang="zh-CN" sz="1200">
              <a:latin typeface="Helvetica" charset="0"/>
            </a:endParaRPr>
          </a:p>
        </p:txBody>
      </p:sp>
      <p:sp>
        <p:nvSpPr>
          <p:cNvPr id="83970" name="Rectangle 2"/>
          <p:cNvSpPr>
            <a:spLocks noGrp="1" noRot="1" noChangeAspect="1" noTextEdit="1"/>
          </p:cNvSpPr>
          <p:nvPr>
            <p:ph type="sldImg"/>
          </p:nvPr>
        </p:nvSpPr>
        <p:spPr>
          <a:ln/>
        </p:spPr>
      </p:sp>
      <p:sp>
        <p:nvSpPr>
          <p:cNvPr id="83971"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41</a:t>
            </a:fld>
            <a:endParaRPr lang="en-US" altLang="zh-CN" sz="1200">
              <a:latin typeface="Helvetica" charset="0"/>
            </a:endParaRPr>
          </a:p>
        </p:txBody>
      </p:sp>
      <p:sp>
        <p:nvSpPr>
          <p:cNvPr id="86018" name="Rectangle 2"/>
          <p:cNvSpPr>
            <a:spLocks noGrp="1" noRot="1" noChangeAspect="1" noTextEdit="1"/>
          </p:cNvSpPr>
          <p:nvPr>
            <p:ph type="sldImg"/>
          </p:nvPr>
        </p:nvSpPr>
        <p:spPr>
          <a:ln/>
        </p:spPr>
      </p:sp>
      <p:sp>
        <p:nvSpPr>
          <p:cNvPr id="86019"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42</a:t>
            </a:fld>
            <a:endParaRPr lang="en-US" altLang="zh-CN" sz="1200">
              <a:latin typeface="Helvetica" charset="0"/>
            </a:endParaRPr>
          </a:p>
        </p:txBody>
      </p:sp>
      <p:sp>
        <p:nvSpPr>
          <p:cNvPr id="88066" name="Rectangle 2"/>
          <p:cNvSpPr>
            <a:spLocks noGrp="1" noRot="1" noChangeAspect="1" noTextEdit="1"/>
          </p:cNvSpPr>
          <p:nvPr>
            <p:ph type="sldImg"/>
          </p:nvPr>
        </p:nvSpPr>
        <p:spPr>
          <a:ln/>
        </p:spPr>
      </p:sp>
      <p:sp>
        <p:nvSpPr>
          <p:cNvPr id="88067"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a:latin typeface="Helvetica" charset="0"/>
              </a:rPr>
              <a:t>43</a:t>
            </a:fld>
            <a:endParaRPr lang="en-US" altLang="zh-CN" sz="1200">
              <a:latin typeface="Helvetica" charset="0"/>
            </a:endParaRPr>
          </a:p>
        </p:txBody>
      </p:sp>
      <p:sp>
        <p:nvSpPr>
          <p:cNvPr id="90114" name="Rectangle 2"/>
          <p:cNvSpPr>
            <a:spLocks noGrp="1" noRot="1" noChangeAspect="1" noTextEdit="1"/>
          </p:cNvSpPr>
          <p:nvPr>
            <p:ph type="sldImg"/>
          </p:nvPr>
        </p:nvSpPr>
        <p:spPr>
          <a:ln/>
        </p:spPr>
      </p:sp>
      <p:sp>
        <p:nvSpPr>
          <p:cNvPr id="90115"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Rot="1" noChangeAspect="1" noTextEdit="1"/>
          </p:cNvSpPr>
          <p:nvPr>
            <p:ph type="sldImg"/>
          </p:nvPr>
        </p:nvSpPr>
        <p:spPr>
          <a:ln/>
        </p:spPr>
      </p:sp>
      <p:sp>
        <p:nvSpPr>
          <p:cNvPr id="9216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幻灯片图像占位符 1"/>
          <p:cNvSpPr>
            <a:spLocks noGrp="1" noRot="1" noChangeAspect="1" noTextEdit="1"/>
          </p:cNvSpPr>
          <p:nvPr>
            <p:ph type="sldImg"/>
          </p:nvPr>
        </p:nvSpPr>
        <p:spPr>
          <a:ln/>
        </p:spPr>
      </p:sp>
      <p:sp>
        <p:nvSpPr>
          <p:cNvPr id="94210" name="备注占位符 2"/>
          <p:cNvSpPr>
            <a:spLocks noGrp="1"/>
          </p:cNvSpPr>
          <p:nvPr>
            <p:ph type="body" idx="1"/>
          </p:nvPr>
        </p:nvSpPr>
        <p:spPr>
          <a:xfrm>
            <a:off x="900113" y="4427538"/>
            <a:ext cx="5100637" cy="4195762"/>
          </a:xfrm>
          <a:ln/>
        </p:spPr>
        <p:txBody>
          <a:bodyPr wrap="none" lIns="90892" tIns="45445" rIns="90892" bIns="45445" anchor="ctr" anchorCtr="0"/>
          <a:lstStyle/>
          <a:p>
            <a:pPr lvl="1" eaLnBrk="1" hangingPunct="1"/>
            <a:endParaRPr lang="zh-CN" altLang="en-US"/>
          </a:p>
        </p:txBody>
      </p:sp>
      <p:sp>
        <p:nvSpPr>
          <p:cNvPr id="94211" name="灯片编号占位符 3"/>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zh-CN" altLang="en-US" sz="1200">
                <a:latin typeface="Helvetica" charset="0"/>
              </a:rPr>
              <a:t>45</a:t>
            </a:fld>
            <a:endParaRPr lang="zh-CN" altLang="en-US" sz="1200">
              <a:latin typeface="Helvetica"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Rot="1" noChangeAspect="1" noTextEdit="1"/>
          </p:cNvSpPr>
          <p:nvPr>
            <p:ph type="sldImg"/>
          </p:nvPr>
        </p:nvSpPr>
        <p:spPr>
          <a:ln/>
        </p:spPr>
      </p:sp>
      <p:sp>
        <p:nvSpPr>
          <p:cNvPr id="96258" name="Rectangle 3"/>
          <p:cNvSpPr>
            <a:spLocks noGrp="1"/>
          </p:cNvSpPr>
          <p:nvPr>
            <p:ph type="body" idx="1"/>
          </p:nvPr>
        </p:nvSpPr>
        <p:spPr>
          <a:xfrm>
            <a:off x="900113" y="4427538"/>
            <a:ext cx="5100637" cy="4195762"/>
          </a:xfrm>
          <a:ln/>
        </p:spPr>
        <p:txBody>
          <a:bodyPr wrap="none" lIns="90892" tIns="45445" rIns="90892" bIns="45445" anchor="ctr" anchorCtr="0"/>
          <a:lstStyle/>
          <a:p>
            <a:pPr lvl="0"/>
            <a:r>
              <a:rPr lang="zh-CN" altLang="en-US"/>
              <a:t>子进程所需的资源可有两个来源</a:t>
            </a:r>
            <a:r>
              <a:rPr lang="en-US" altLang="zh-CN"/>
              <a:t>:1,</a:t>
            </a:r>
            <a:r>
              <a:rPr lang="zh-CN" altLang="en-US"/>
              <a:t>由</a:t>
            </a:r>
            <a:r>
              <a:rPr lang="en-US" altLang="zh-CN"/>
              <a:t>OS</a:t>
            </a:r>
            <a:r>
              <a:rPr lang="zh-CN" altLang="en-US"/>
              <a:t>分配</a:t>
            </a:r>
            <a:r>
              <a:rPr lang="en-US" altLang="zh-CN"/>
              <a:t>; 2,</a:t>
            </a:r>
            <a:r>
              <a:rPr lang="zh-CN" altLang="en-US"/>
              <a:t>继承父进程的资源</a:t>
            </a:r>
            <a:r>
              <a:rPr lang="en-US" altLang="zh-CN"/>
              <a:t>(</a:t>
            </a:r>
            <a:r>
              <a:rPr lang="zh-CN" altLang="en-US"/>
              <a:t>全部或部分</a:t>
            </a:r>
            <a:r>
              <a:rPr lang="en-US" altLang="zh-CN"/>
              <a:t>)</a:t>
            </a:r>
          </a:p>
          <a:p>
            <a:pPr lvl="0"/>
            <a:r>
              <a:rPr lang="zh-CN" altLang="en-US"/>
              <a:t>当一个进程创建了一个子进程</a:t>
            </a:r>
            <a:r>
              <a:rPr lang="en-US" altLang="zh-CN"/>
              <a:t>,</a:t>
            </a:r>
            <a:r>
              <a:rPr lang="zh-CN" altLang="en-US"/>
              <a:t>其执行有两种可能情况</a:t>
            </a:r>
            <a:r>
              <a:rPr lang="en-US" altLang="zh-CN"/>
              <a:t>:</a:t>
            </a:r>
            <a:r>
              <a:rPr lang="zh-CN" altLang="en-US"/>
              <a:t>二者并发执行</a:t>
            </a:r>
            <a:r>
              <a:rPr lang="en-US" altLang="zh-CN"/>
              <a:t>; </a:t>
            </a:r>
            <a:r>
              <a:rPr lang="zh-CN" altLang="en-US"/>
              <a:t>父进程等待直到子进程结束</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Rot="1" noChangeAspect="1" noTextEdit="1"/>
          </p:cNvSpPr>
          <p:nvPr>
            <p:ph type="sldImg"/>
          </p:nvPr>
        </p:nvSpPr>
        <p:spPr>
          <a:ln/>
        </p:spPr>
      </p:sp>
      <p:sp>
        <p:nvSpPr>
          <p:cNvPr id="9830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TextEdit="1"/>
          </p:cNvSpPr>
          <p:nvPr>
            <p:ph type="sldImg"/>
          </p:nvPr>
        </p:nvSpPr>
        <p:spPr>
          <a:ln/>
        </p:spPr>
      </p:sp>
      <p:sp>
        <p:nvSpPr>
          <p:cNvPr id="10035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Rot="1" noChangeAspect="1" noTextEdit="1"/>
          </p:cNvSpPr>
          <p:nvPr>
            <p:ph type="sldImg"/>
          </p:nvPr>
        </p:nvSpPr>
        <p:spPr>
          <a:ln/>
        </p:spPr>
      </p:sp>
      <p:sp>
        <p:nvSpPr>
          <p:cNvPr id="10240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Rot="1" noChangeAspect="1" noTextEdit="1"/>
          </p:cNvSpPr>
          <p:nvPr>
            <p:ph type="sldImg"/>
          </p:nvPr>
        </p:nvSpPr>
        <p:spPr>
          <a:ln/>
        </p:spPr>
      </p:sp>
      <p:sp>
        <p:nvSpPr>
          <p:cNvPr id="10445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Rot="1" noChangeAspect="1" noTextEdit="1"/>
          </p:cNvSpPr>
          <p:nvPr>
            <p:ph type="sldImg"/>
          </p:nvPr>
        </p:nvSpPr>
        <p:spPr>
          <a:ln/>
        </p:spPr>
      </p:sp>
      <p:sp>
        <p:nvSpPr>
          <p:cNvPr id="10752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Rot="1" noChangeAspect="1" noTextEdit="1"/>
          </p:cNvSpPr>
          <p:nvPr>
            <p:ph type="sldImg"/>
          </p:nvPr>
        </p:nvSpPr>
        <p:spPr>
          <a:ln/>
        </p:spPr>
      </p:sp>
      <p:sp>
        <p:nvSpPr>
          <p:cNvPr id="10957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Rot="1" noChangeAspect="1" noTextEdit="1"/>
          </p:cNvSpPr>
          <p:nvPr>
            <p:ph type="sldImg"/>
          </p:nvPr>
        </p:nvSpPr>
        <p:spPr>
          <a:ln/>
        </p:spPr>
      </p:sp>
      <p:sp>
        <p:nvSpPr>
          <p:cNvPr id="111618" name="Rectangle 3"/>
          <p:cNvSpPr>
            <a:spLocks noGrp="1"/>
          </p:cNvSpPr>
          <p:nvPr>
            <p:ph type="body" idx="1"/>
          </p:nvPr>
        </p:nvSpPr>
        <p:spPr>
          <a:xfrm>
            <a:off x="900113" y="4427538"/>
            <a:ext cx="5100637" cy="4195762"/>
          </a:xfrm>
          <a:ln/>
        </p:spPr>
        <p:txBody>
          <a:bodyPr wrap="none" lIns="90892" tIns="45445" rIns="90892" bIns="45445" anchor="ctr" anchorCtr="0"/>
          <a:lstStyle/>
          <a:p>
            <a:pPr>
              <a:buFont typeface="Arial" panose="020B0604020202020204" pitchFamily="34" charset="0"/>
              <a:buChar char="•"/>
            </a:pPr>
            <a:r>
              <a:rPr lang="en-US" altLang="zh-CN" dirty="0"/>
              <a:t>fork() </a:t>
            </a:r>
            <a:r>
              <a:rPr lang="zh-CN" altLang="en-US" dirty="0"/>
              <a:t>创建子进程时，父子进程</a:t>
            </a:r>
            <a:r>
              <a:rPr lang="zh-CN" altLang="en-US" b="1" dirty="0"/>
              <a:t>最初共享相同的物理内存页</a:t>
            </a:r>
            <a:endParaRPr lang="zh-CN" altLang="en-US" dirty="0"/>
          </a:p>
          <a:p>
            <a:pPr>
              <a:buFont typeface="Arial" panose="020B0604020202020204" pitchFamily="34" charset="0"/>
              <a:buChar char="•"/>
            </a:pPr>
            <a:r>
              <a:rPr lang="zh-CN" altLang="en-US" dirty="0"/>
              <a:t>当任一进程尝试</a:t>
            </a:r>
            <a:r>
              <a:rPr lang="zh-CN" altLang="en-US" b="1" dirty="0"/>
              <a:t>写入</a:t>
            </a:r>
            <a:r>
              <a:rPr lang="zh-CN" altLang="en-US" dirty="0"/>
              <a:t>变量时，系统会为该进程创建该内存页的副本</a:t>
            </a:r>
          </a:p>
          <a:p>
            <a:pPr>
              <a:buFont typeface="Arial" panose="020B0604020202020204" pitchFamily="34" charset="0"/>
              <a:buChar char="•"/>
            </a:pPr>
            <a:r>
              <a:rPr lang="zh-CN" altLang="en-US" dirty="0"/>
              <a:t>读取操作不会触发复制</a:t>
            </a:r>
          </a:p>
          <a:p>
            <a:pPr lvl="0"/>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TextEdit="1"/>
          </p:cNvSpPr>
          <p:nvPr>
            <p:ph type="sldImg"/>
          </p:nvPr>
        </p:nvSpPr>
        <p:spPr>
          <a:ln/>
        </p:spPr>
      </p:sp>
      <p:sp>
        <p:nvSpPr>
          <p:cNvPr id="113666" name="Rectangle 3"/>
          <p:cNvSpPr>
            <a:spLocks noGrp="1"/>
          </p:cNvSpPr>
          <p:nvPr>
            <p:ph type="body" idx="1"/>
          </p:nvPr>
        </p:nvSpPr>
        <p:spPr>
          <a:xfrm>
            <a:off x="900113" y="4427538"/>
            <a:ext cx="5100637" cy="4195762"/>
          </a:xfrm>
          <a:ln/>
        </p:spPr>
        <p:txBody>
          <a:bodyPr wrap="none" lIns="90892" tIns="45445" rIns="90892" bIns="45445" anchor="ctr" anchorCtr="0"/>
          <a:lstStyle/>
          <a:p>
            <a:pPr lvl="0"/>
            <a:r>
              <a:rPr lang="zh-CN" altLang="en-US" b="1" dirty="0"/>
              <a:t>输出格式符 </a:t>
            </a:r>
            <a:r>
              <a:rPr lang="en-US" altLang="zh-CN" b="1" dirty="0"/>
              <a:t>%p</a:t>
            </a:r>
            <a:r>
              <a:rPr lang="zh-CN" altLang="en-US" dirty="0"/>
              <a:t> 用于打印指针地址，所以这段代码输出的是变量 </a:t>
            </a:r>
            <a:r>
              <a:rPr lang="en-US" altLang="zh-CN" dirty="0"/>
              <a:t>value </a:t>
            </a:r>
            <a:r>
              <a:rPr lang="zh-CN" altLang="en-US" dirty="0"/>
              <a:t>的</a:t>
            </a:r>
            <a:r>
              <a:rPr lang="zh-CN" altLang="en-US" b="1" dirty="0"/>
              <a:t>内存地址</a:t>
            </a:r>
            <a:endParaRPr lang="en-US" altLang="zh-CN" b="1" dirty="0"/>
          </a:p>
          <a:p>
            <a:pPr lvl="0"/>
            <a:endParaRPr lang="en-US" altLang="zh-CN" b="1" dirty="0"/>
          </a:p>
          <a:p>
            <a:pPr lvl="0"/>
            <a:r>
              <a:rPr lang="zh-CN" altLang="en-US" b="1" dirty="0"/>
              <a:t>父子进程的</a:t>
            </a:r>
            <a:r>
              <a:rPr lang="en-US" altLang="zh-CN" b="1" dirty="0"/>
              <a:t>value</a:t>
            </a:r>
            <a:r>
              <a:rPr lang="zh-CN" altLang="en-US" b="1" dirty="0"/>
              <a:t>地址相同</a:t>
            </a:r>
            <a:endParaRPr lang="en-US" altLang="zh-CN" b="1" dirty="0"/>
          </a:p>
          <a:p>
            <a:pPr lvl="0"/>
            <a:endParaRPr lang="en-US" altLang="zh-CN" b="1" dirty="0"/>
          </a:p>
          <a:p>
            <a:r>
              <a:rPr lang="zh-CN" altLang="en-US" b="1" dirty="0"/>
              <a:t>为什么地址相同？</a:t>
            </a:r>
          </a:p>
          <a:p>
            <a:r>
              <a:rPr lang="zh-CN" altLang="en-US" dirty="0"/>
              <a:t>这涉及到 </a:t>
            </a:r>
            <a:r>
              <a:rPr lang="en-US" altLang="zh-CN" dirty="0"/>
              <a:t>Linux </a:t>
            </a:r>
            <a:r>
              <a:rPr lang="zh-CN" altLang="en-US" dirty="0"/>
              <a:t>的</a:t>
            </a:r>
            <a:r>
              <a:rPr lang="zh-CN" altLang="en-US" b="1" dirty="0"/>
              <a:t>虚拟内存机制</a:t>
            </a:r>
            <a:r>
              <a:rPr lang="zh-CN" altLang="en-US" dirty="0"/>
              <a:t>：</a:t>
            </a:r>
          </a:p>
          <a:p>
            <a:r>
              <a:rPr lang="en-US" altLang="zh-CN" b="1" dirty="0"/>
              <a:t>1. </a:t>
            </a:r>
            <a:r>
              <a:rPr lang="zh-CN" altLang="en-US" b="1" dirty="0"/>
              <a:t>虚拟地址 </a:t>
            </a:r>
            <a:r>
              <a:rPr lang="en-US" altLang="zh-CN" b="1" dirty="0"/>
              <a:t>vs </a:t>
            </a:r>
            <a:r>
              <a:rPr lang="zh-CN" altLang="en-US" b="1" dirty="0"/>
              <a:t>物理地址</a:t>
            </a:r>
          </a:p>
          <a:p>
            <a:pPr>
              <a:buFont typeface="Arial" panose="020B0604020202020204" pitchFamily="34" charset="0"/>
              <a:buChar char="•"/>
            </a:pPr>
            <a:r>
              <a:rPr lang="zh-CN" altLang="en-US" dirty="0"/>
              <a:t>程序看到的是</a:t>
            </a:r>
            <a:r>
              <a:rPr lang="zh-CN" altLang="en-US" b="1" dirty="0"/>
              <a:t>虚拟地址</a:t>
            </a:r>
            <a:r>
              <a:rPr lang="zh-CN" altLang="en-US" dirty="0"/>
              <a:t>（</a:t>
            </a:r>
            <a:r>
              <a:rPr lang="en-US" altLang="zh-CN" dirty="0"/>
              <a:t>Virtual Address</a:t>
            </a:r>
            <a:r>
              <a:rPr lang="zh-CN" altLang="en-US" dirty="0"/>
              <a:t>）</a:t>
            </a:r>
          </a:p>
          <a:p>
            <a:pPr>
              <a:buFont typeface="Arial" panose="020B0604020202020204" pitchFamily="34" charset="0"/>
              <a:buChar char="•"/>
            </a:pPr>
            <a:r>
              <a:rPr lang="zh-CN" altLang="en-US" dirty="0"/>
              <a:t>操作系统和硬件将其映射到</a:t>
            </a:r>
            <a:r>
              <a:rPr lang="zh-CN" altLang="en-US" b="1" dirty="0"/>
              <a:t>物理地址</a:t>
            </a:r>
            <a:r>
              <a:rPr lang="zh-CN" altLang="en-US" dirty="0"/>
              <a:t>（</a:t>
            </a:r>
            <a:r>
              <a:rPr lang="en-US" altLang="zh-CN" dirty="0"/>
              <a:t>Physical Address</a:t>
            </a:r>
            <a:r>
              <a:rPr lang="zh-CN" altLang="en-US" dirty="0"/>
              <a:t>）</a:t>
            </a:r>
          </a:p>
          <a:p>
            <a:r>
              <a:rPr lang="en-US" altLang="zh-CN" b="1" dirty="0"/>
              <a:t>2. </a:t>
            </a:r>
            <a:r>
              <a:rPr lang="zh-CN" altLang="en-US" b="1" dirty="0"/>
              <a:t>写时复制（</a:t>
            </a:r>
            <a:r>
              <a:rPr lang="en-US" altLang="zh-CN" b="1" dirty="0"/>
              <a:t>Copy-on-Write</a:t>
            </a:r>
            <a:r>
              <a:rPr lang="zh-CN" altLang="en-US" b="1" dirty="0"/>
              <a:t>）</a:t>
            </a:r>
          </a:p>
          <a:p>
            <a:pPr>
              <a:buFont typeface="Arial" panose="020B0604020202020204" pitchFamily="34" charset="0"/>
              <a:buChar char="•"/>
            </a:pPr>
            <a:r>
              <a:rPr lang="en-US" altLang="zh-CN" dirty="0"/>
              <a:t>fork() </a:t>
            </a:r>
            <a:r>
              <a:rPr lang="zh-CN" altLang="en-US" dirty="0"/>
              <a:t>后，父子进程的</a:t>
            </a:r>
            <a:r>
              <a:rPr lang="zh-CN" altLang="en-US" b="1" dirty="0"/>
              <a:t>虚拟地址相同</a:t>
            </a:r>
            <a:endParaRPr lang="zh-CN" altLang="en-US" dirty="0"/>
          </a:p>
          <a:p>
            <a:pPr>
              <a:buFont typeface="Arial" panose="020B0604020202020204" pitchFamily="34" charset="0"/>
              <a:buChar char="•"/>
            </a:pPr>
            <a:r>
              <a:rPr lang="zh-CN" altLang="en-US" dirty="0"/>
              <a:t>但对应的</a:t>
            </a:r>
            <a:r>
              <a:rPr lang="zh-CN" altLang="en-US" b="1" dirty="0"/>
              <a:t>物理地址可能不同</a:t>
            </a:r>
            <a:endParaRPr lang="zh-CN" altLang="en-US" dirty="0"/>
          </a:p>
          <a:p>
            <a:pPr>
              <a:buFont typeface="Arial" panose="020B0604020202020204" pitchFamily="34" charset="0"/>
              <a:buChar char="•"/>
            </a:pPr>
            <a:r>
              <a:rPr lang="zh-CN" altLang="en-US" dirty="0"/>
              <a:t>只有在写入操作时，系统才会创建真正的物理内存副本</a:t>
            </a:r>
            <a:endParaRPr lang="en-US" altLang="zh-CN" dirty="0"/>
          </a:p>
          <a:p>
            <a:r>
              <a:rPr lang="en-US" altLang="zh-CN" b="1" dirty="0"/>
              <a:t>3. </a:t>
            </a:r>
            <a:r>
              <a:rPr lang="zh-CN" altLang="en-US" b="1" dirty="0"/>
              <a:t>地址空间布局</a:t>
            </a:r>
          </a:p>
          <a:p>
            <a:r>
              <a:rPr lang="zh-CN" altLang="en-US" dirty="0"/>
              <a:t>每个进程都有自己独立的虚拟地址空间，但布局相似：</a:t>
            </a:r>
          </a:p>
          <a:p>
            <a:pPr>
              <a:buFont typeface="Arial" panose="020B0604020202020204" pitchFamily="34" charset="0"/>
              <a:buChar char="•"/>
            </a:pPr>
            <a:r>
              <a:rPr lang="zh-CN" altLang="en-US" dirty="0"/>
              <a:t>代码段、数据段、堆栈段在虚拟地址空间中的相对位置相同</a:t>
            </a:r>
          </a:p>
          <a:p>
            <a:pPr>
              <a:buFont typeface="Arial" panose="020B0604020202020204" pitchFamily="34" charset="0"/>
              <a:buChar char="•"/>
            </a:pPr>
            <a:endParaRPr lang="zh-CN" altLang="en-US" dirty="0"/>
          </a:p>
          <a:p>
            <a:pPr lvl="0"/>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Rot="1" noChangeAspect="1" noTextEdit="1"/>
          </p:cNvSpPr>
          <p:nvPr>
            <p:ph type="sldImg"/>
          </p:nvPr>
        </p:nvSpPr>
        <p:spPr>
          <a:ln/>
        </p:spPr>
      </p:sp>
      <p:sp>
        <p:nvSpPr>
          <p:cNvPr id="11571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Rot="1" noChangeAspect="1" noTextEdit="1"/>
          </p:cNvSpPr>
          <p:nvPr>
            <p:ph type="sldImg"/>
          </p:nvPr>
        </p:nvSpPr>
        <p:spPr>
          <a:ln/>
        </p:spPr>
      </p:sp>
      <p:sp>
        <p:nvSpPr>
          <p:cNvPr id="11776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sz="2400"/>
          </a:p>
          <a:p>
            <a:pPr lvl="0"/>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Rot="1" noChangeAspect="1" noTextEdit="1"/>
          </p:cNvSpPr>
          <p:nvPr>
            <p:ph type="sldImg"/>
          </p:nvPr>
        </p:nvSpPr>
        <p:spPr>
          <a:ln/>
        </p:spPr>
      </p:sp>
      <p:sp>
        <p:nvSpPr>
          <p:cNvPr id="11981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Rot="1" noChangeAspect="1" noTextEdit="1"/>
          </p:cNvSpPr>
          <p:nvPr>
            <p:ph type="sldImg"/>
          </p:nvPr>
        </p:nvSpPr>
        <p:spPr>
          <a:ln/>
        </p:spPr>
      </p:sp>
      <p:sp>
        <p:nvSpPr>
          <p:cNvPr id="121858" name="Rectangle 3"/>
          <p:cNvSpPr>
            <a:spLocks noGrp="1"/>
          </p:cNvSpPr>
          <p:nvPr>
            <p:ph type="body" idx="1"/>
          </p:nvPr>
        </p:nvSpPr>
        <p:spPr>
          <a:xfrm>
            <a:off x="900113" y="4427538"/>
            <a:ext cx="5100637" cy="4195762"/>
          </a:xfrm>
          <a:ln/>
        </p:spPr>
        <p:txBody>
          <a:bodyPr wrap="none" lIns="90892" tIns="45445" rIns="90892" bIns="45445" anchor="ctr" anchorCtr="0"/>
          <a:lstStyle/>
          <a:p>
            <a:pPr marL="367030" lvl="0" indent="-367030" defTabSz="979805" eaLnBrk="1" hangingPunct="1"/>
            <a:r>
              <a:rPr lang="zh-CN" altLang="en-US">
                <a:latin typeface="宋体" panose="02010600030101010101" pitchFamily="2" charset="-122"/>
              </a:rPr>
              <a:t>引起进程阻塞和唤醒的事件：</a:t>
            </a:r>
          </a:p>
          <a:p>
            <a:pPr marL="367030" lvl="0" indent="-367030" defTabSz="979805" eaLnBrk="1" hangingPunct="1">
              <a:lnSpc>
                <a:spcPct val="130000"/>
              </a:lnSpc>
            </a:pPr>
            <a:r>
              <a:rPr lang="zh-CN" altLang="en-US">
                <a:latin typeface="宋体" panose="02010600030101010101" pitchFamily="2" charset="-122"/>
              </a:rPr>
              <a:t>  一个处在运行状态的进程，因等待某个事件的发生（如等待打印机、同步事件等）而不能继续运行时，将调用阻塞原语，把进程置为阻塞状态，并转进程调度程序（等于让出处理机）。</a:t>
            </a:r>
          </a:p>
          <a:p>
            <a:pPr marL="367030" lvl="0" indent="-367030" defTabSz="979805" eaLnBrk="1" hangingPunct="1">
              <a:lnSpc>
                <a:spcPct val="130000"/>
              </a:lnSpc>
            </a:pPr>
            <a:r>
              <a:rPr lang="zh-CN" altLang="en-US">
                <a:latin typeface="宋体" panose="02010600030101010101" pitchFamily="2" charset="-122"/>
              </a:rPr>
              <a:t>调用进程阻塞操作是在进程处于运行状态下执行的。它的执行将引起等待某事件的队列的改变.</a:t>
            </a:r>
            <a:r>
              <a:rPr lang="zh-CN" altLang="en-US">
                <a:solidFill>
                  <a:srgbClr val="FF0000"/>
                </a:solidFill>
              </a:rPr>
              <a:t> </a:t>
            </a:r>
          </a:p>
          <a:p>
            <a:pPr marL="367030" lvl="0" indent="-367030" defTabSz="979805"/>
            <a:r>
              <a:rPr lang="zh-CN" altLang="en-US">
                <a:latin typeface="宋体" panose="02010600030101010101" pitchFamily="2" charset="-122"/>
              </a:rPr>
              <a:t>当进程所等待的事件发生时，该进程将被唤醒</a:t>
            </a:r>
            <a:r>
              <a:rPr lang="en-US" altLang="zh-CN">
                <a:latin typeface="宋体" panose="02010600030101010101" pitchFamily="2" charset="-122"/>
              </a:rPr>
              <a:t>(</a:t>
            </a:r>
            <a:r>
              <a:rPr lang="zh-CN" altLang="en-US">
                <a:latin typeface="宋体" panose="02010600030101010101" pitchFamily="2" charset="-122"/>
              </a:rPr>
              <a:t>由进程唤醒操作完成</a:t>
            </a:r>
            <a:r>
              <a:rPr lang="en-US" altLang="zh-CN">
                <a:latin typeface="宋体" panose="02010600030101010101" pitchFamily="2" charset="-122"/>
              </a:rPr>
              <a:t>)</a:t>
            </a:r>
            <a:r>
              <a:rPr lang="zh-CN" altLang="en-US">
                <a:latin typeface="宋体" panose="02010600030101010101" pitchFamily="2" charset="-122"/>
              </a:rPr>
              <a:t>。</a:t>
            </a:r>
          </a:p>
          <a:p>
            <a:pPr marL="367030" lvl="0" indent="-367030" defTabSz="979805" eaLnBrk="1" hangingPunct="1"/>
            <a:r>
              <a:rPr lang="zh-CN" altLang="en-US">
                <a:latin typeface="宋体" panose="02010600030101010101" pitchFamily="2" charset="-122"/>
              </a:rPr>
              <a:t>唤醒一个进程有两种方法：</a:t>
            </a:r>
          </a:p>
          <a:p>
            <a:pPr marL="796925" lvl="1" indent="-306070" defTabSz="979805" eaLnBrk="1" hangingPunct="1"/>
            <a:r>
              <a:rPr lang="zh-CN" altLang="en-US" sz="2400">
                <a:latin typeface="宋体" panose="02010600030101010101" pitchFamily="2" charset="-122"/>
              </a:rPr>
              <a:t>由系统进程唤醒。</a:t>
            </a:r>
          </a:p>
          <a:p>
            <a:pPr marL="796925" lvl="1" indent="-306070" defTabSz="979805" eaLnBrk="1" hangingPunct="1"/>
            <a:r>
              <a:rPr lang="zh-CN" altLang="en-US" sz="2400">
                <a:latin typeface="宋体" panose="02010600030101010101" pitchFamily="2" charset="-122"/>
              </a:rPr>
              <a:t>由事件发生进程唤醒。</a:t>
            </a:r>
          </a:p>
          <a:p>
            <a:pPr marL="367030" lvl="0" indent="-367030" defTabSz="979805"/>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Rot="1" noChangeAspect="1" noTextEdit="1"/>
          </p:cNvSpPr>
          <p:nvPr>
            <p:ph type="sldImg"/>
          </p:nvPr>
        </p:nvSpPr>
        <p:spPr>
          <a:ln/>
        </p:spPr>
      </p:sp>
      <p:sp>
        <p:nvSpPr>
          <p:cNvPr id="123906" name="Rectangle 3"/>
          <p:cNvSpPr>
            <a:spLocks noGrp="1"/>
          </p:cNvSpPr>
          <p:nvPr>
            <p:ph type="body" idx="1"/>
          </p:nvPr>
        </p:nvSpPr>
        <p:spPr>
          <a:xfrm>
            <a:off x="900113" y="4427538"/>
            <a:ext cx="5100637" cy="4195762"/>
          </a:xfrm>
          <a:ln/>
        </p:spPr>
        <p:txBody>
          <a:bodyPr wrap="none" lIns="90892" tIns="45445" rIns="90892" bIns="45445" anchor="ctr" anchorCtr="0"/>
          <a:lstStyle/>
          <a:p>
            <a:pPr lvl="0"/>
            <a:r>
              <a:rPr lang="zh-CN" altLang="en-US"/>
              <a:t>转进程调度很重要</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Rot="1" noChangeAspect="1" noTextEdit="1"/>
          </p:cNvSpPr>
          <p:nvPr>
            <p:ph type="sldImg"/>
          </p:nvPr>
        </p:nvSpPr>
        <p:spPr>
          <a:ln/>
        </p:spPr>
      </p:sp>
      <p:sp>
        <p:nvSpPr>
          <p:cNvPr id="12595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Rot="1" noChangeAspect="1" noTextEdit="1"/>
          </p:cNvSpPr>
          <p:nvPr>
            <p:ph type="sldImg"/>
          </p:nvPr>
        </p:nvSpPr>
        <p:spPr>
          <a:ln/>
        </p:spPr>
      </p:sp>
      <p:sp>
        <p:nvSpPr>
          <p:cNvPr id="128002" name="Rectangle 3"/>
          <p:cNvSpPr>
            <a:spLocks noGrp="1"/>
          </p:cNvSpPr>
          <p:nvPr>
            <p:ph type="body" idx="1"/>
          </p:nvPr>
        </p:nvSpPr>
        <p:spPr>
          <a:xfrm>
            <a:off x="900113" y="4427538"/>
            <a:ext cx="5100637" cy="4195762"/>
          </a:xfrm>
          <a:ln/>
        </p:spPr>
        <p:txBody>
          <a:bodyPr wrap="none" lIns="90892" tIns="45445" rIns="90892" bIns="45445" anchor="ctr" anchorCtr="0"/>
          <a:lstStyle/>
          <a:p>
            <a:pPr marL="367030" lvl="0" indent="-367030" defTabSz="979805"/>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Rot="1" noChangeAspect="1" noTextEdit="1"/>
          </p:cNvSpPr>
          <p:nvPr>
            <p:ph type="sldImg"/>
          </p:nvPr>
        </p:nvSpPr>
        <p:spPr>
          <a:ln/>
        </p:spPr>
      </p:sp>
      <p:sp>
        <p:nvSpPr>
          <p:cNvPr id="13005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Rot="1" noChangeAspect="1" noTextEdit="1"/>
          </p:cNvSpPr>
          <p:nvPr>
            <p:ph type="sldImg"/>
          </p:nvPr>
        </p:nvSpPr>
        <p:spPr>
          <a:ln/>
        </p:spPr>
      </p:sp>
      <p:sp>
        <p:nvSpPr>
          <p:cNvPr id="13209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幻灯片图像占位符 1"/>
          <p:cNvSpPr>
            <a:spLocks noGrp="1" noRot="1" noChangeAspect="1" noTextEdit="1"/>
          </p:cNvSpPr>
          <p:nvPr>
            <p:ph type="sldImg"/>
          </p:nvPr>
        </p:nvSpPr>
        <p:spPr>
          <a:ln/>
        </p:spPr>
      </p:sp>
      <p:sp>
        <p:nvSpPr>
          <p:cNvPr id="134146" name="备注占位符 2"/>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
        <p:nvSpPr>
          <p:cNvPr id="134147" name="灯片编号占位符 3"/>
          <p:cNvSpPr txBox="1">
            <a:spLocks noGrp="1"/>
          </p:cNvSpPr>
          <p:nvPr>
            <p:ph type="sldNum" sz="quarte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zh-CN" altLang="en-US" sz="1200">
                <a:latin typeface="Helvetica" charset="0"/>
              </a:rPr>
              <a:t>65</a:t>
            </a:fld>
            <a:endParaRPr lang="zh-CN" altLang="en-US" sz="1200">
              <a:latin typeface="Helvetica"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noRot="1" noChangeAspect="1" noTextEdit="1"/>
          </p:cNvSpPr>
          <p:nvPr>
            <p:ph type="sldImg"/>
          </p:nvPr>
        </p:nvSpPr>
        <p:spPr>
          <a:ln/>
        </p:spPr>
      </p:sp>
      <p:sp>
        <p:nvSpPr>
          <p:cNvPr id="13619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a:latin typeface="Times New Roman" panose="02020603050405020304" pitchFamily="18" charset="0"/>
                <a:ea typeface="宋体" panose="02010600030101010101" pitchFamily="2" charset="-122"/>
              </a:rPr>
              <a:t>67</a:t>
            </a:fld>
            <a:endParaRPr lang="zh-CN" altLang="en-US" sz="1200">
              <a:latin typeface="Times New Roman" panose="02020603050405020304" pitchFamily="18" charset="0"/>
              <a:ea typeface="宋体" panose="02010600030101010101" pitchFamily="2" charset="-122"/>
            </a:endParaRPr>
          </a:p>
        </p:txBody>
      </p:sp>
      <p:sp>
        <p:nvSpPr>
          <p:cNvPr id="138242" name="Rectangle 2"/>
          <p:cNvSpPr>
            <a:spLocks noGrp="1" noRot="1" noChangeAspect="1" noTextEdit="1"/>
          </p:cNvSpPr>
          <p:nvPr>
            <p:ph type="sldImg"/>
          </p:nvPr>
        </p:nvSpPr>
        <p:spPr>
          <a:xfrm>
            <a:off x="1117600" y="696913"/>
            <a:ext cx="4648200" cy="3486150"/>
          </a:xfrm>
          <a:ln/>
        </p:spPr>
      </p:sp>
      <p:sp>
        <p:nvSpPr>
          <p:cNvPr id="138243" name="Rectangle 3"/>
          <p:cNvSpPr>
            <a:spLocks noGrp="1"/>
          </p:cNvSpPr>
          <p:nvPr>
            <p:ph type="body" idx="1"/>
          </p:nvPr>
        </p:nvSpPr>
        <p:spPr>
          <a:xfrm>
            <a:off x="917575" y="4416425"/>
            <a:ext cx="5046663" cy="4183063"/>
          </a:xfrm>
          <a:ln/>
        </p:spPr>
        <p:txBody>
          <a:bodyPr wrap="none" lIns="92446" tIns="46223" rIns="92446" bIns="46223" anchor="ctr" anchorCtr="0"/>
          <a:lstStyle/>
          <a:p>
            <a:pPr lvl="0" eaLnBrk="1" hangingPunct="1"/>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Rot="1" noChangeAspect="1" noTextEdit="1"/>
          </p:cNvSpPr>
          <p:nvPr>
            <p:ph type="sldImg"/>
          </p:nvPr>
        </p:nvSpPr>
        <p:spPr>
          <a:ln/>
        </p:spPr>
      </p:sp>
      <p:sp>
        <p:nvSpPr>
          <p:cNvPr id="14029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Rot="1" noChangeAspect="1" noTextEdit="1"/>
          </p:cNvSpPr>
          <p:nvPr>
            <p:ph type="sldImg"/>
          </p:nvPr>
        </p:nvSpPr>
        <p:spPr>
          <a:ln/>
        </p:spPr>
      </p:sp>
      <p:sp>
        <p:nvSpPr>
          <p:cNvPr id="14233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noRot="1" noChangeAspect="1" noTextEdit="1"/>
          </p:cNvSpPr>
          <p:nvPr>
            <p:ph type="sldImg"/>
          </p:nvPr>
        </p:nvSpPr>
        <p:spPr>
          <a:ln/>
        </p:spPr>
      </p:sp>
      <p:sp>
        <p:nvSpPr>
          <p:cNvPr id="144386" name="Rectangle 3"/>
          <p:cNvSpPr>
            <a:spLocks noGrp="1"/>
          </p:cNvSpPr>
          <p:nvPr>
            <p:ph type="body" idx="1"/>
          </p:nvPr>
        </p:nvSpPr>
        <p:spPr>
          <a:xfrm>
            <a:off x="900113" y="4427538"/>
            <a:ext cx="5100637" cy="4195762"/>
          </a:xfrm>
          <a:ln/>
        </p:spPr>
        <p:txBody>
          <a:bodyPr wrap="none" lIns="90892" tIns="45445" rIns="90892" bIns="45445" anchor="ctr" anchorCtr="0"/>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如果只用 </a:t>
            </a:r>
            <a:r>
              <a:rPr lang="en-US" altLang="zh-CN" dirty="0"/>
              <a:t>in == out </a:t>
            </a:r>
            <a:r>
              <a:rPr lang="zh-CN" altLang="en-US" dirty="0"/>
              <a:t>判断，无法区分缓冲区是空还是满。通过</a:t>
            </a:r>
            <a:r>
              <a:rPr lang="zh-CN" altLang="en-US" b="1" dirty="0"/>
              <a:t>故意浪费一个位置</a:t>
            </a:r>
            <a:r>
              <a:rPr lang="zh-CN" altLang="en-US" dirty="0"/>
              <a:t>来解决这个问题：</a:t>
            </a:r>
          </a:p>
          <a:p>
            <a:pPr lvl="0"/>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Rot="1" noChangeAspect="1" noTextEdit="1"/>
          </p:cNvSpPr>
          <p:nvPr>
            <p:ph type="sldImg"/>
          </p:nvPr>
        </p:nvSpPr>
        <p:spPr>
          <a:ln/>
        </p:spPr>
      </p:sp>
      <p:sp>
        <p:nvSpPr>
          <p:cNvPr id="14643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p:cNvSpPr>
            <a:spLocks noGrp="1" noRot="1" noChangeAspect="1" noTextEdit="1"/>
          </p:cNvSpPr>
          <p:nvPr>
            <p:ph type="sldImg"/>
          </p:nvPr>
        </p:nvSpPr>
        <p:spPr>
          <a:ln/>
        </p:spPr>
      </p:sp>
      <p:sp>
        <p:nvSpPr>
          <p:cNvPr id="14848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noRot="1" noChangeAspect="1" noTextEdit="1"/>
          </p:cNvSpPr>
          <p:nvPr>
            <p:ph type="sldImg"/>
          </p:nvPr>
        </p:nvSpPr>
        <p:spPr>
          <a:ln/>
        </p:spPr>
      </p:sp>
      <p:sp>
        <p:nvSpPr>
          <p:cNvPr id="15053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noRot="1" noChangeAspect="1" noTextEdit="1"/>
          </p:cNvSpPr>
          <p:nvPr>
            <p:ph type="sldImg"/>
          </p:nvPr>
        </p:nvSpPr>
        <p:spPr>
          <a:ln/>
        </p:spPr>
      </p:sp>
      <p:sp>
        <p:nvSpPr>
          <p:cNvPr id="15360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Rot="1" noChangeAspect="1" noTextEdit="1"/>
          </p:cNvSpPr>
          <p:nvPr>
            <p:ph type="sldImg"/>
          </p:nvPr>
        </p:nvSpPr>
        <p:spPr>
          <a:ln/>
        </p:spPr>
      </p:sp>
      <p:sp>
        <p:nvSpPr>
          <p:cNvPr id="15565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noRot="1" noChangeAspect="1" noTextEdit="1"/>
          </p:cNvSpPr>
          <p:nvPr>
            <p:ph type="sldImg"/>
          </p:nvPr>
        </p:nvSpPr>
        <p:spPr>
          <a:ln/>
        </p:spPr>
      </p:sp>
      <p:sp>
        <p:nvSpPr>
          <p:cNvPr id="15769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noRot="1" noChangeAspect="1" noTextEdit="1"/>
          </p:cNvSpPr>
          <p:nvPr>
            <p:ph type="sldImg"/>
          </p:nvPr>
        </p:nvSpPr>
        <p:spPr>
          <a:ln/>
        </p:spPr>
      </p:sp>
      <p:sp>
        <p:nvSpPr>
          <p:cNvPr id="15974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p:cNvSpPr>
            <a:spLocks noGrp="1" noRot="1" noChangeAspect="1" noTextEdit="1"/>
          </p:cNvSpPr>
          <p:nvPr>
            <p:ph type="sldImg"/>
          </p:nvPr>
        </p:nvSpPr>
        <p:spPr>
          <a:ln/>
        </p:spPr>
      </p:sp>
      <p:sp>
        <p:nvSpPr>
          <p:cNvPr id="161794"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Rot="1" noChangeAspect="1" noTextEdit="1"/>
          </p:cNvSpPr>
          <p:nvPr>
            <p:ph type="sldImg"/>
          </p:nvPr>
        </p:nvSpPr>
        <p:spPr>
          <a:ln/>
        </p:spPr>
      </p:sp>
      <p:sp>
        <p:nvSpPr>
          <p:cNvPr id="163842"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noRot="1" noChangeAspect="1" noTextEdit="1"/>
          </p:cNvSpPr>
          <p:nvPr>
            <p:ph type="sldImg"/>
          </p:nvPr>
        </p:nvSpPr>
        <p:spPr>
          <a:ln/>
        </p:spPr>
      </p:sp>
      <p:sp>
        <p:nvSpPr>
          <p:cNvPr id="165890"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noRot="1" noChangeAspect="1" noTextEdit="1"/>
          </p:cNvSpPr>
          <p:nvPr>
            <p:ph type="sldImg"/>
          </p:nvPr>
        </p:nvSpPr>
        <p:spPr>
          <a:ln/>
        </p:spPr>
      </p:sp>
      <p:sp>
        <p:nvSpPr>
          <p:cNvPr id="167938"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CB3F6B88-1803-4A73-9804-E92749667EA5}"/>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8C9640B3-B092-4AA8-ADD9-AAECC963C2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14956B2F-8FB5-4E3A-BB28-F992D6A2E294}"/>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CFBD21E1-17A3-4031-80F6-D37B715F55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C79C5FF6-224E-46E7-8440-7D4944B9D7A2}"/>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D33FDCA9-A55B-42B2-A5D9-AEB18EC73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F51EF7AC-814C-44DA-B234-861CBD93824A}"/>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D5681387-3410-471F-BE09-9D3143E8F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AC4D7B00-CADA-4B24-8AAD-EAE25BB0BC09}"/>
              </a:ext>
            </a:extLst>
          </p:cNvPr>
          <p:cNvSpPr>
            <a:spLocks noGrp="1" noRot="1" noChangeAspect="1" noChangeArrowheads="1" noTextEdit="1"/>
          </p:cNvSpPr>
          <p:nvPr>
            <p:ph type="sldImg"/>
          </p:nvPr>
        </p:nvSpPr>
        <p:spPr>
          <a:ln/>
        </p:spPr>
      </p:sp>
      <p:sp>
        <p:nvSpPr>
          <p:cNvPr id="144387" name="Rectangle 3">
            <a:extLst>
              <a:ext uri="{FF2B5EF4-FFF2-40B4-BE49-F238E27FC236}">
                <a16:creationId xmlns:a16="http://schemas.microsoft.com/office/drawing/2014/main" id="{733A18B9-9B13-4241-8B78-3518DB16AD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F366EB4C-788C-4B84-9477-278E46A1A615}"/>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89C4CD5F-43B8-4217-A92E-5369B9D2F5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a:extLst>
              <a:ext uri="{FF2B5EF4-FFF2-40B4-BE49-F238E27FC236}">
                <a16:creationId xmlns:a16="http://schemas.microsoft.com/office/drawing/2014/main" id="{8A12988B-AFBB-4EC6-BD04-EB432FADD951}"/>
              </a:ext>
            </a:extLst>
          </p:cNvPr>
          <p:cNvSpPr>
            <a:spLocks noGrp="1" noRot="1" noChangeAspect="1" noChangeArrowheads="1" noTextEdit="1"/>
          </p:cNvSpPr>
          <p:nvPr>
            <p:ph type="sldImg"/>
          </p:nvPr>
        </p:nvSpPr>
        <p:spPr>
          <a:ln/>
        </p:spPr>
      </p:sp>
      <p:sp>
        <p:nvSpPr>
          <p:cNvPr id="114691" name="备注占位符 2">
            <a:extLst>
              <a:ext uri="{FF2B5EF4-FFF2-40B4-BE49-F238E27FC236}">
                <a16:creationId xmlns:a16="http://schemas.microsoft.com/office/drawing/2014/main" id="{A3A2EB71-62D8-4733-B1E4-737BED186B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14692" name="灯片编号占位符 3">
            <a:extLst>
              <a:ext uri="{FF2B5EF4-FFF2-40B4-BE49-F238E27FC236}">
                <a16:creationId xmlns:a16="http://schemas.microsoft.com/office/drawing/2014/main" id="{53F6739E-9C4E-49AB-A167-366459E13A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1837BD-6A72-42E6-AED7-2597D4DBE671}" type="slidenum">
              <a:rPr lang="en-US" altLang="zh-CN">
                <a:latin typeface="Helvetica" panose="020B0604020202020204" pitchFamily="34" charset="0"/>
              </a:rPr>
              <a:pPr/>
              <a:t>92</a:t>
            </a:fld>
            <a:endParaRPr lang="en-US" altLang="zh-CN">
              <a:latin typeface="Helvetica"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a:extLst>
              <a:ext uri="{FF2B5EF4-FFF2-40B4-BE49-F238E27FC236}">
                <a16:creationId xmlns:a16="http://schemas.microsoft.com/office/drawing/2014/main" id="{83EE3DEF-B5AE-4F8A-9D36-F7D549720F4C}"/>
              </a:ext>
            </a:extLst>
          </p:cNvPr>
          <p:cNvSpPr>
            <a:spLocks noGrp="1" noRot="1" noChangeAspect="1" noChangeArrowheads="1" noTextEdit="1"/>
          </p:cNvSpPr>
          <p:nvPr>
            <p:ph type="sldImg"/>
          </p:nvPr>
        </p:nvSpPr>
        <p:spPr>
          <a:ln/>
        </p:spPr>
      </p:sp>
      <p:sp>
        <p:nvSpPr>
          <p:cNvPr id="116739" name="备注占位符 2">
            <a:extLst>
              <a:ext uri="{FF2B5EF4-FFF2-40B4-BE49-F238E27FC236}">
                <a16:creationId xmlns:a16="http://schemas.microsoft.com/office/drawing/2014/main" id="{DAA79472-5736-44DA-A7C7-8D3CD07F53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16740" name="灯片编号占位符 3">
            <a:extLst>
              <a:ext uri="{FF2B5EF4-FFF2-40B4-BE49-F238E27FC236}">
                <a16:creationId xmlns:a16="http://schemas.microsoft.com/office/drawing/2014/main" id="{0D40AF85-F811-4629-84A3-A5F66DCAEE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C64668-5B1F-45D3-AC35-5E00A5D331C9}" type="slidenum">
              <a:rPr lang="en-US" altLang="zh-CN">
                <a:latin typeface="Helvetica" panose="020B0604020202020204" pitchFamily="34" charset="0"/>
              </a:rPr>
              <a:pPr/>
              <a:t>93</a:t>
            </a:fld>
            <a:endParaRPr lang="en-US" altLang="zh-CN">
              <a:latin typeface="Helvetica"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a:extLst>
              <a:ext uri="{FF2B5EF4-FFF2-40B4-BE49-F238E27FC236}">
                <a16:creationId xmlns:a16="http://schemas.microsoft.com/office/drawing/2014/main" id="{83EE3DEF-B5AE-4F8A-9D36-F7D549720F4C}"/>
              </a:ext>
            </a:extLst>
          </p:cNvPr>
          <p:cNvSpPr>
            <a:spLocks noGrp="1" noRot="1" noChangeAspect="1" noChangeArrowheads="1" noTextEdit="1"/>
          </p:cNvSpPr>
          <p:nvPr>
            <p:ph type="sldImg"/>
          </p:nvPr>
        </p:nvSpPr>
        <p:spPr>
          <a:ln/>
        </p:spPr>
      </p:sp>
      <p:sp>
        <p:nvSpPr>
          <p:cNvPr id="116739" name="备注占位符 2">
            <a:extLst>
              <a:ext uri="{FF2B5EF4-FFF2-40B4-BE49-F238E27FC236}">
                <a16:creationId xmlns:a16="http://schemas.microsoft.com/office/drawing/2014/main" id="{DAA79472-5736-44DA-A7C7-8D3CD07F53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16740" name="灯片编号占位符 3">
            <a:extLst>
              <a:ext uri="{FF2B5EF4-FFF2-40B4-BE49-F238E27FC236}">
                <a16:creationId xmlns:a16="http://schemas.microsoft.com/office/drawing/2014/main" id="{0D40AF85-F811-4629-84A3-A5F66DCAEE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C64668-5B1F-45D3-AC35-5E00A5D331C9}" type="slidenum">
              <a:rPr lang="en-US" altLang="zh-CN">
                <a:latin typeface="Helvetica" panose="020B0604020202020204" pitchFamily="34" charset="0"/>
              </a:rPr>
              <a:pPr/>
              <a:t>94</a:t>
            </a:fld>
            <a:endParaRPr lang="en-US" altLang="zh-CN">
              <a:latin typeface="Helvetica" panose="020B0604020202020204" pitchFamily="34" charset="0"/>
            </a:endParaRPr>
          </a:p>
        </p:txBody>
      </p:sp>
    </p:spTree>
    <p:extLst>
      <p:ext uri="{BB962C8B-B14F-4D97-AF65-F5344CB8AC3E}">
        <p14:creationId xmlns:p14="http://schemas.microsoft.com/office/powerpoint/2010/main" val="33101355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a:extLst>
              <a:ext uri="{FF2B5EF4-FFF2-40B4-BE49-F238E27FC236}">
                <a16:creationId xmlns:a16="http://schemas.microsoft.com/office/drawing/2014/main" id="{83EE3DEF-B5AE-4F8A-9D36-F7D549720F4C}"/>
              </a:ext>
            </a:extLst>
          </p:cNvPr>
          <p:cNvSpPr>
            <a:spLocks noGrp="1" noRot="1" noChangeAspect="1" noChangeArrowheads="1" noTextEdit="1"/>
          </p:cNvSpPr>
          <p:nvPr>
            <p:ph type="sldImg"/>
          </p:nvPr>
        </p:nvSpPr>
        <p:spPr>
          <a:ln/>
        </p:spPr>
      </p:sp>
      <p:sp>
        <p:nvSpPr>
          <p:cNvPr id="116739" name="备注占位符 2">
            <a:extLst>
              <a:ext uri="{FF2B5EF4-FFF2-40B4-BE49-F238E27FC236}">
                <a16:creationId xmlns:a16="http://schemas.microsoft.com/office/drawing/2014/main" id="{DAA79472-5736-44DA-A7C7-8D3CD07F53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16740" name="灯片编号占位符 3">
            <a:extLst>
              <a:ext uri="{FF2B5EF4-FFF2-40B4-BE49-F238E27FC236}">
                <a16:creationId xmlns:a16="http://schemas.microsoft.com/office/drawing/2014/main" id="{0D40AF85-F811-4629-84A3-A5F66DCAEE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C64668-5B1F-45D3-AC35-5E00A5D331C9}" type="slidenum">
              <a:rPr lang="en-US" altLang="zh-CN">
                <a:latin typeface="Helvetica" panose="020B0604020202020204" pitchFamily="34" charset="0"/>
              </a:rPr>
              <a:pPr/>
              <a:t>95</a:t>
            </a:fld>
            <a:endParaRPr lang="en-US" altLang="zh-CN">
              <a:latin typeface="Helvetica" panose="020B0604020202020204" pitchFamily="34" charset="0"/>
            </a:endParaRPr>
          </a:p>
        </p:txBody>
      </p:sp>
    </p:spTree>
    <p:extLst>
      <p:ext uri="{BB962C8B-B14F-4D97-AF65-F5344CB8AC3E}">
        <p14:creationId xmlns:p14="http://schemas.microsoft.com/office/powerpoint/2010/main" val="22698443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Rot="1" noChangeAspect="1" noTextEdit="1"/>
          </p:cNvSpPr>
          <p:nvPr>
            <p:ph type="sldImg"/>
          </p:nvPr>
        </p:nvSpPr>
        <p:spPr>
          <a:ln/>
        </p:spPr>
      </p:sp>
      <p:sp>
        <p:nvSpPr>
          <p:cNvPr id="169986" name="Rectangle 3"/>
          <p:cNvSpPr>
            <a:spLocks noGrp="1"/>
          </p:cNvSpPr>
          <p:nvPr>
            <p:ph type="body" idx="1"/>
          </p:nvPr>
        </p:nvSpPr>
        <p:spPr>
          <a:xfrm>
            <a:off x="900113" y="4427538"/>
            <a:ext cx="5100637" cy="4195762"/>
          </a:xfrm>
          <a:ln/>
        </p:spPr>
        <p:txBody>
          <a:bodyPr wrap="none" lIns="90892" tIns="45445" rIns="90892" bIns="45445" anchor="ctr" anchorCtr="0"/>
          <a:lstStyle/>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171010" name="Group 3"/>
          <p:cNvGrpSpPr/>
          <p:nvPr/>
        </p:nvGrpSpPr>
        <p:grpSpPr>
          <a:xfrm>
            <a:off x="198438" y="2960688"/>
            <a:ext cx="8610600" cy="201612"/>
            <a:chOff x="125" y="1865"/>
            <a:chExt cx="5424" cy="127"/>
          </a:xfrm>
        </p:grpSpPr>
        <p:sp>
          <p:nvSpPr>
            <p:cNvPr id="3"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4"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5"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6"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charset="0"/>
                <a:ea typeface="MS PGothic" panose="020B0600070205080204" pitchFamily="34" charset="-128"/>
                <a:cs typeface="+mn-cs"/>
              </a:rPr>
              <a:t>Silberschatz, Galvin and Gagne ©2009</a:t>
            </a:r>
          </a:p>
        </p:txBody>
      </p:sp>
      <p:sp>
        <p:nvSpPr>
          <p:cNvPr id="7" name="Text Box 8"/>
          <p:cNvSpPr txBox="1">
            <a:spLocks noChangeArrowheads="1"/>
          </p:cNvSpPr>
          <p:nvPr/>
        </p:nvSpPr>
        <p:spPr bwMode="auto">
          <a:xfrm>
            <a:off x="26988" y="6613525"/>
            <a:ext cx="2835275"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dirty="0">
                <a:ln>
                  <a:noFill/>
                </a:ln>
                <a:solidFill>
                  <a:srgbClr val="336699"/>
                </a:solidFill>
                <a:effectLst/>
                <a:uLnTx/>
                <a:uFillTx/>
                <a:latin typeface="Helvetica" charset="0"/>
                <a:ea typeface="MS PGothic" panose="020B0600070205080204" pitchFamily="34" charset="-128"/>
                <a:cs typeface="+mn-cs"/>
              </a:rPr>
              <a:t>Operating System Concepts – 10</a:t>
            </a:r>
            <a:r>
              <a:rPr kumimoji="0" lang="en-US" altLang="zh-CN" sz="1000" b="1" i="0" u="none" strike="noStrike" kern="1200" cap="none" spc="0" normalizeH="0" baseline="30000" noProof="0" dirty="0">
                <a:ln>
                  <a:noFill/>
                </a:ln>
                <a:solidFill>
                  <a:srgbClr val="336699"/>
                </a:solidFill>
                <a:effectLst/>
                <a:uLnTx/>
                <a:uFillTx/>
                <a:latin typeface="Helvetica" charset="0"/>
                <a:ea typeface="MS PGothic" panose="020B0600070205080204" pitchFamily="34" charset="-128"/>
                <a:cs typeface="+mn-cs"/>
              </a:rPr>
              <a:t>th</a:t>
            </a:r>
            <a:r>
              <a:rPr kumimoji="0" lang="en-US" altLang="zh-CN" sz="1000" b="1" i="0" u="none" strike="noStrike" kern="1200" cap="none" spc="0" normalizeH="0" baseline="0" noProof="0" dirty="0">
                <a:ln>
                  <a:noFill/>
                </a:ln>
                <a:solidFill>
                  <a:srgbClr val="336699"/>
                </a:solidFill>
                <a:effectLst/>
                <a:uLnTx/>
                <a:uFillTx/>
                <a:latin typeface="Helvetica" charset="0"/>
                <a:ea typeface="MS PGothic" panose="020B0600070205080204" pitchFamily="34" charset="-128"/>
                <a:cs typeface="+mn-cs"/>
              </a:rPr>
              <a:t> Edition,</a:t>
            </a:r>
          </a:p>
        </p:txBody>
      </p:sp>
      <p:pic>
        <p:nvPicPr>
          <p:cNvPr id="171013" name="Picture 9" descr="dino_4"/>
          <p:cNvPicPr>
            <a:picLocks noChangeAspect="1"/>
          </p:cNvPicPr>
          <p:nvPr/>
        </p:nvPicPr>
        <p:blipFill>
          <a:blip r:embed="rId2"/>
          <a:stretch>
            <a:fillRect/>
          </a:stretch>
        </p:blipFill>
        <p:spPr>
          <a:xfrm>
            <a:off x="3360738" y="4157663"/>
            <a:ext cx="2062162" cy="1593850"/>
          </a:xfrm>
          <a:prstGeom prst="rect">
            <a:avLst/>
          </a:prstGeom>
          <a:noFill/>
          <a:ln w="76200" cap="flat" cmpd="sng">
            <a:solidFill>
              <a:srgbClr val="336699"/>
            </a:solidFill>
            <a:prstDash val="solid"/>
            <a:miter/>
            <a:headEnd type="none" w="med" len="med"/>
            <a:tailEnd type="none" w="med" len="med"/>
          </a:ln>
        </p:spPr>
      </p:pic>
      <p:sp>
        <p:nvSpPr>
          <p:cNvPr id="9" name="Rectangle 10"/>
          <p:cNvSpPr>
            <a:spLocks noChangeArrowheads="1"/>
          </p:cNvSpPr>
          <p:nvPr/>
        </p:nvSpPr>
        <p:spPr bwMode="auto">
          <a:xfrm>
            <a:off x="3243263" y="4006850"/>
            <a:ext cx="2336800" cy="1887538"/>
          </a:xfrm>
          <a:prstGeom prst="rect">
            <a:avLst/>
          </a:prstGeom>
          <a:noFill/>
          <a:ln w="57150" cmpd="thinThick">
            <a:solidFill>
              <a:srgbClr val="66CCFF"/>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4745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charset="2"/>
              <a:buNone/>
              <a:defRPr/>
            </a:pPr>
            <a:endParaRPr kumimoji="1" lang="en-US" sz="3200" b="0" i="0" u="none" strike="noStrike" kern="0" cap="none" spc="0" normalizeH="0" baseline="0" noProof="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p:cNvPicPr>
          <p:nvPr/>
        </p:nvPicPr>
        <p:blipFill>
          <a:blip r:embed="rId13"/>
          <a:stretch>
            <a:fillRect/>
          </a:stretch>
        </p:blipFill>
        <p:spPr>
          <a:xfrm>
            <a:off x="285750" y="0"/>
            <a:ext cx="1195388" cy="908050"/>
          </a:xfrm>
          <a:prstGeom prst="rect">
            <a:avLst/>
          </a:prstGeom>
          <a:noFill/>
          <a:ln w="9525">
            <a:noFill/>
          </a:ln>
        </p:spPr>
      </p:pic>
      <p:sp>
        <p:nvSpPr>
          <p:cNvPr id="1027" name="Rectangle 3"/>
          <p:cNvSpPr>
            <a:spLocks noGrp="1"/>
          </p:cNvSpPr>
          <p:nvPr>
            <p:ph type="title"/>
          </p:nvPr>
        </p:nvSpPr>
        <p:spPr>
          <a:xfrm>
            <a:off x="457200" y="277813"/>
            <a:ext cx="8229600" cy="576262"/>
          </a:xfrm>
          <a:prstGeom prst="rect">
            <a:avLst/>
          </a:prstGeom>
          <a:noFill/>
          <a:ln w="9525">
            <a:noFill/>
          </a:ln>
        </p:spPr>
        <p:txBody>
          <a:bodyPr anchor="b" anchorCtr="0"/>
          <a:lstStyle/>
          <a:p>
            <a:pPr lvl="0"/>
            <a:r>
              <a:rPr lang="en-US" altLang="zh-CN"/>
              <a:t>Click to edit Master title style</a:t>
            </a:r>
          </a:p>
        </p:txBody>
      </p:sp>
      <p:sp>
        <p:nvSpPr>
          <p:cNvPr id="1028" name="Rectangle 4"/>
          <p:cNvSpPr>
            <a:spLocks noGrp="1"/>
          </p:cNvSpPr>
          <p:nvPr>
            <p:ph type="body" idx="1"/>
          </p:nvPr>
        </p:nvSpPr>
        <p:spPr>
          <a:xfrm>
            <a:off x="806450" y="1233488"/>
            <a:ext cx="8229600" cy="4530725"/>
          </a:xfrm>
          <a:prstGeom prst="rect">
            <a:avLst/>
          </a:prstGeom>
          <a:noFill/>
          <a:ln w="9525">
            <a:noFill/>
          </a:ln>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030" name="Line 6"/>
          <p:cNvSpPr/>
          <p:nvPr/>
        </p:nvSpPr>
        <p:spPr>
          <a:xfrm>
            <a:off x="457200" y="860425"/>
            <a:ext cx="8077200" cy="0"/>
          </a:xfrm>
          <a:prstGeom prst="line">
            <a:avLst/>
          </a:prstGeom>
          <a:ln w="19050" cap="flat" cmpd="sng">
            <a:solidFill>
              <a:srgbClr val="336699"/>
            </a:solidFill>
            <a:prstDash val="solid"/>
            <a:headEnd type="none" w="med" len="med"/>
            <a:tailEnd type="none" w="med" len="med"/>
          </a:ln>
        </p:spPr>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46441" name="Text Box 9"/>
          <p:cNvSpPr txBox="1">
            <a:spLocks noChangeArrowheads="1"/>
          </p:cNvSpPr>
          <p:nvPr/>
        </p:nvSpPr>
        <p:spPr bwMode="auto">
          <a:xfrm>
            <a:off x="4257675" y="6613525"/>
            <a:ext cx="444500" cy="244475"/>
          </a:xfrm>
          <a:prstGeom prst="rect">
            <a:avLst/>
          </a:prstGeom>
          <a:noFill/>
          <a:ln w="9525">
            <a:noFill/>
            <a:miter lim="800000"/>
          </a:ln>
          <a:effectLst/>
        </p:spPr>
        <p:txBody>
          <a:bodyPr wrap="none">
            <a:spAutoFit/>
          </a:bodyPr>
          <a:lstStyle/>
          <a:p>
            <a:pPr lvl="0" algn="ctr">
              <a:spcBef>
                <a:spcPct val="50000"/>
              </a:spcBef>
              <a:buNone/>
            </a:pPr>
            <a:r>
              <a:rPr lang="en-US" altLang="zh-CN" sz="1000" b="1">
                <a:solidFill>
                  <a:srgbClr val="006699"/>
                </a:solidFill>
                <a:latin typeface="Helvetica" charset="0"/>
              </a:rPr>
              <a:t>3.</a:t>
            </a:r>
            <a:fld id="{9A0DB2DC-4C9A-4742-B13C-FB6460FD3503}" type="slidenum">
              <a:rPr lang="en-US" altLang="zh-CN" sz="1000" b="1">
                <a:solidFill>
                  <a:srgbClr val="006699"/>
                </a:solidFill>
                <a:latin typeface="Helvetica" charset="0"/>
              </a:rPr>
              <a:t>‹#›</a:t>
            </a:fld>
            <a:endParaRPr lang="en-US" altLang="zh-CN" sz="1000" b="1">
              <a:solidFill>
                <a:srgbClr val="006699"/>
              </a:solidFill>
              <a:latin typeface="Helvetica"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charset="0"/>
                <a:ea typeface="MS PGothic" panose="020B0600070205080204" pitchFamily="34" charset="-128"/>
                <a:cs typeface="+mn-cs"/>
              </a:rPr>
              <a:t>Silberschatz, Galvin and Gagne ©2009</a:t>
            </a:r>
          </a:p>
        </p:txBody>
      </p:sp>
      <p:sp>
        <p:nvSpPr>
          <p:cNvPr id="1035" name="Text Box 11"/>
          <p:cNvSpPr txBox="1">
            <a:spLocks noChangeArrowheads="1"/>
          </p:cNvSpPr>
          <p:nvPr/>
        </p:nvSpPr>
        <p:spPr bwMode="auto">
          <a:xfrm>
            <a:off x="185738" y="6621463"/>
            <a:ext cx="2800350"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dirty="0">
                <a:ln>
                  <a:noFill/>
                </a:ln>
                <a:solidFill>
                  <a:srgbClr val="006699"/>
                </a:solidFill>
                <a:effectLst/>
                <a:uLnTx/>
                <a:uFillTx/>
                <a:latin typeface="Helvetica" charset="0"/>
                <a:ea typeface="MS PGothic" panose="020B0600070205080204" pitchFamily="34" charset="-128"/>
                <a:cs typeface="+mn-cs"/>
              </a:rPr>
              <a:t>Operating System Concepts – 10</a:t>
            </a:r>
            <a:r>
              <a:rPr kumimoji="0" lang="en-US" altLang="zh-CN" sz="1000" b="1" i="0" u="none" strike="noStrike" kern="1200" cap="none" spc="0" normalizeH="0" baseline="30000" noProof="0" dirty="0">
                <a:ln>
                  <a:noFill/>
                </a:ln>
                <a:solidFill>
                  <a:srgbClr val="006699"/>
                </a:solidFill>
                <a:effectLst/>
                <a:uLnTx/>
                <a:uFillTx/>
                <a:latin typeface="Helvetica" charset="0"/>
                <a:ea typeface="MS PGothic" panose="020B0600070205080204" pitchFamily="34" charset="-128"/>
                <a:cs typeface="+mn-cs"/>
              </a:rPr>
              <a:t>th</a:t>
            </a:r>
            <a:r>
              <a:rPr kumimoji="0" lang="en-US" altLang="zh-CN" sz="1000" b="1" i="0" u="none" strike="noStrike" kern="1200" cap="none" spc="0" normalizeH="0" baseline="0" noProof="0" dirty="0">
                <a:ln>
                  <a:noFill/>
                </a:ln>
                <a:solidFill>
                  <a:srgbClr val="006699"/>
                </a:solidFill>
                <a:effectLst/>
                <a:uLnTx/>
                <a:uFillTx/>
                <a:latin typeface="Helvetica" charset="0"/>
                <a:ea typeface="MS PGothic" panose="020B0600070205080204" pitchFamily="34" charset="-128"/>
                <a:cs typeface="+mn-cs"/>
              </a:rPr>
              <a:t> Edition</a:t>
            </a:r>
          </a:p>
        </p:txBody>
      </p:sp>
      <p:pic>
        <p:nvPicPr>
          <p:cNvPr id="1036" name="Picture 12" descr="dino_6"/>
          <p:cNvPicPr>
            <a:picLocks noChangeAspect="1"/>
          </p:cNvPicPr>
          <p:nvPr/>
        </p:nvPicPr>
        <p:blipFill>
          <a:blip r:embed="rId14"/>
          <a:stretch>
            <a:fillRect/>
          </a:stretch>
        </p:blipFill>
        <p:spPr>
          <a:xfrm>
            <a:off x="7773988" y="5849938"/>
            <a:ext cx="1284287" cy="79216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8.png"/><Relationship Id="rId4" Type="http://schemas.openxmlformats.org/officeDocument/2006/relationships/oleObject" Target="../embeddings/oleObject1.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ctrTitle"/>
          </p:nvPr>
        </p:nvSpPr>
        <p:spPr>
          <a:ln/>
        </p:spPr>
        <p:txBody>
          <a:bodyPr vert="horz" wrap="square" lIns="91440" tIns="45720" rIns="91440" bIns="45720" anchor="b" anchorCtr="0"/>
          <a:lstStyle/>
          <a:p>
            <a:pPr eaLnBrk="1" hangingPunct="1">
              <a:buClrTx/>
              <a:buSzTx/>
              <a:buFontTx/>
            </a:pPr>
            <a:r>
              <a:rPr lang="en-US" altLang="zh-CN">
                <a:latin typeface="+mj-lt"/>
                <a:ea typeface="MS PGothic" panose="020B0600070205080204" pitchFamily="34" charset="-128"/>
                <a:cs typeface="MS PGothic" panose="020B0600070205080204" pitchFamily="34" charset="-128"/>
              </a:rPr>
              <a:t>Chapter 3: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a:xfrm>
            <a:off x="700088" y="277813"/>
            <a:ext cx="7324725" cy="576262"/>
          </a:xfrm>
          <a:ln/>
        </p:spPr>
        <p:txBody>
          <a:bodyPr vert="horz" wrap="square" lIns="91440" tIns="45720" rIns="91440" bIns="45720" anchor="b" anchorCtr="0"/>
          <a:lstStyle/>
          <a:p>
            <a:pPr eaLnBrk="1" hangingPunct="1"/>
            <a:r>
              <a:rPr lang="en-US" altLang="zh-CN"/>
              <a:t>Chapter 3:  Processes</a:t>
            </a:r>
          </a:p>
        </p:txBody>
      </p:sp>
      <p:sp>
        <p:nvSpPr>
          <p:cNvPr id="7170" name="Rectangle 3"/>
          <p:cNvSpPr>
            <a:spLocks noGrp="1"/>
          </p:cNvSpPr>
          <p:nvPr>
            <p:ph idx="1"/>
          </p:nvPr>
        </p:nvSpPr>
        <p:spPr>
          <a:xfrm>
            <a:off x="806450" y="1246188"/>
            <a:ext cx="7370763" cy="3822700"/>
          </a:xfrm>
          <a:ln/>
        </p:spPr>
        <p:txBody>
          <a:bodyPr vert="horz" wrap="square" lIns="91440" tIns="45720" rIns="91440" bIns="45720" anchor="t" anchorCtr="0"/>
          <a:lstStyle/>
          <a:p>
            <a:r>
              <a:rPr lang="en-US" altLang="zh-CN" sz="2400"/>
              <a:t>Process Concept</a:t>
            </a:r>
          </a:p>
          <a:p>
            <a:r>
              <a:rPr lang="en-US" altLang="zh-CN" sz="2400"/>
              <a:t>Process Scheduling</a:t>
            </a:r>
          </a:p>
          <a:p>
            <a:r>
              <a:rPr lang="en-US" altLang="zh-CN" sz="2400"/>
              <a:t>Operations on Processes</a:t>
            </a:r>
          </a:p>
          <a:p>
            <a:r>
              <a:rPr lang="en-US" altLang="zh-CN" sz="2400"/>
              <a:t>Interprocess Communication</a:t>
            </a:r>
          </a:p>
          <a:p>
            <a:r>
              <a:rPr lang="en-US" altLang="zh-CN" sz="2400"/>
              <a:t>Examples of IPC Systems</a:t>
            </a:r>
          </a:p>
          <a:p>
            <a:r>
              <a:rPr lang="en-US" altLang="zh-CN" sz="2400"/>
              <a:t>Communication in Client-Server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ln/>
        </p:spPr>
        <p:txBody>
          <a:bodyPr vert="horz" wrap="square" lIns="91440" tIns="45720" rIns="91440" bIns="45720" anchor="b" anchorCtr="0"/>
          <a:lstStyle/>
          <a:p>
            <a:pPr eaLnBrk="1" hangingPunct="1"/>
            <a:r>
              <a:rPr lang="en-US" altLang="zh-CN"/>
              <a:t>Objectives</a:t>
            </a:r>
          </a:p>
        </p:txBody>
      </p:sp>
      <p:sp>
        <p:nvSpPr>
          <p:cNvPr id="9218" name="Content Placeholder 2"/>
          <p:cNvSpPr>
            <a:spLocks noGrp="1"/>
          </p:cNvSpPr>
          <p:nvPr>
            <p:ph idx="1"/>
          </p:nvPr>
        </p:nvSpPr>
        <p:spPr>
          <a:xfrm>
            <a:off x="806450" y="1233488"/>
            <a:ext cx="7315200" cy="4530725"/>
          </a:xfrm>
          <a:ln/>
        </p:spPr>
        <p:txBody>
          <a:bodyPr vert="horz" wrap="square" lIns="91440" tIns="45720" rIns="91440" bIns="45720" anchor="t" anchorCtr="0"/>
          <a:lstStyle/>
          <a:p>
            <a:r>
              <a:rPr lang="en-US" altLang="zh-CN" sz="2400"/>
              <a:t>To introduce the notion of a process -- a program in execution, which forms the basis of all computation</a:t>
            </a:r>
          </a:p>
          <a:p>
            <a:r>
              <a:rPr lang="en-US" altLang="zh-CN" sz="2400"/>
              <a:t>To describe the various features of processes, including scheduling, creation and termination, and communication</a:t>
            </a:r>
          </a:p>
          <a:p>
            <a:r>
              <a:rPr lang="en-US" altLang="zh-CN" sz="2400"/>
              <a:t>To describe Interprocesses communication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11266" name="Rectangle 3"/>
          <p:cNvSpPr>
            <a:spLocks noGrp="1"/>
          </p:cNvSpPr>
          <p:nvPr>
            <p:ph type="body"/>
          </p:nvPr>
        </p:nvSpPr>
        <p:spPr>
          <a:xfrm>
            <a:off x="806450" y="1246188"/>
            <a:ext cx="7370763" cy="3822700"/>
          </a:xfrm>
          <a:ln/>
        </p:spPr>
        <p:txBody>
          <a:bodyPr vert="horz" wrap="square" lIns="91440" tIns="45720" rIns="91440" bIns="45720" anchor="t" anchorCtr="0"/>
          <a:lstStyle/>
          <a:p>
            <a:pPr>
              <a:lnSpc>
                <a:spcPct val="90000"/>
              </a:lnSpc>
            </a:pPr>
            <a:r>
              <a:rPr lang="en-US" altLang="zh-CN" sz="2400"/>
              <a:t>An operating system executes a variety of programs:</a:t>
            </a:r>
          </a:p>
          <a:p>
            <a:pPr lvl="1">
              <a:lnSpc>
                <a:spcPct val="90000"/>
              </a:lnSpc>
            </a:pPr>
            <a:r>
              <a:rPr lang="en-US" altLang="zh-CN" sz="2400">
                <a:solidFill>
                  <a:srgbClr val="FF0000"/>
                </a:solidFill>
              </a:rPr>
              <a:t>Batch system </a:t>
            </a:r>
            <a:r>
              <a:rPr lang="en-US" altLang="zh-CN" sz="2400"/>
              <a:t>– jobs</a:t>
            </a:r>
          </a:p>
          <a:p>
            <a:pPr lvl="1">
              <a:lnSpc>
                <a:spcPct val="90000"/>
              </a:lnSpc>
            </a:pPr>
            <a:r>
              <a:rPr lang="en-US" altLang="zh-CN" sz="2400">
                <a:solidFill>
                  <a:srgbClr val="FF0000"/>
                </a:solidFill>
              </a:rPr>
              <a:t>Time-shared systems </a:t>
            </a:r>
            <a:r>
              <a:rPr lang="en-US" altLang="zh-CN" sz="2400"/>
              <a:t>– user programs or tasks</a:t>
            </a:r>
          </a:p>
          <a:p>
            <a:pPr eaLnBrk="1" hangingPunct="1">
              <a:lnSpc>
                <a:spcPct val="90000"/>
              </a:lnSpc>
              <a:buClr>
                <a:srgbClr val="000099"/>
              </a:buClr>
            </a:pPr>
            <a:r>
              <a:rPr lang="en-US" altLang="zh-CN" sz="2400"/>
              <a:t>Allow multiple programs to be loaded into memory and to be executed concurrently.</a:t>
            </a:r>
            <a:r>
              <a:rPr lang="zh-CN" altLang="en-US" sz="2400">
                <a:latin typeface="Times New Roman" panose="02020603050405020304" pitchFamily="18" charset="0"/>
              </a:rPr>
              <a:t>     </a:t>
            </a:r>
            <a:endParaRPr lang="en-US" altLang="zh-CN"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pic>
        <p:nvPicPr>
          <p:cNvPr id="13314" name="Picture 4"/>
          <p:cNvPicPr>
            <a:picLocks noGrp="1" noChangeAspect="1"/>
          </p:cNvPicPr>
          <p:nvPr>
            <p:ph type="body"/>
          </p:nvPr>
        </p:nvPicPr>
        <p:blipFill>
          <a:blip r:embed="rId3"/>
          <a:srcRect l="2265" r="7401" b="13811"/>
          <a:stretch>
            <a:fillRect/>
          </a:stretch>
        </p:blipFill>
        <p:spPr>
          <a:xfrm>
            <a:off x="457200" y="2692400"/>
            <a:ext cx="4523105" cy="937260"/>
          </a:xfrm>
          <a:ln/>
        </p:spPr>
      </p:pic>
      <p:pic>
        <p:nvPicPr>
          <p:cNvPr id="326660" name="Picture 4"/>
          <p:cNvPicPr>
            <a:picLocks noChangeAspect="1"/>
          </p:cNvPicPr>
          <p:nvPr/>
        </p:nvPicPr>
        <p:blipFill>
          <a:blip r:embed="rId4"/>
          <a:stretch>
            <a:fillRect/>
          </a:stretch>
        </p:blipFill>
        <p:spPr>
          <a:xfrm>
            <a:off x="5591493" y="2078990"/>
            <a:ext cx="2411412" cy="2163763"/>
          </a:xfrm>
          <a:prstGeom prst="rect">
            <a:avLst/>
          </a:prstGeom>
          <a:noFill/>
          <a:ln w="9525">
            <a:noFill/>
          </a:ln>
        </p:spPr>
      </p:pic>
      <p:sp>
        <p:nvSpPr>
          <p:cNvPr id="13316" name="Text Box 6"/>
          <p:cNvSpPr txBox="1"/>
          <p:nvPr/>
        </p:nvSpPr>
        <p:spPr>
          <a:xfrm>
            <a:off x="1146175" y="4613275"/>
            <a:ext cx="3070225" cy="3667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50000"/>
              </a:spcBef>
              <a:buClrTx/>
              <a:buSzTx/>
              <a:buFontTx/>
              <a:buNone/>
            </a:pPr>
            <a:r>
              <a:rPr lang="en-US" altLang="zh-CN" sz="1800" b="1">
                <a:latin typeface="Verdana" panose="020B0604030504040204" pitchFamily="34" charset="0"/>
              </a:rPr>
              <a:t>Sequential execution</a:t>
            </a:r>
          </a:p>
        </p:txBody>
      </p:sp>
      <p:sp>
        <p:nvSpPr>
          <p:cNvPr id="121863" name="Text Box 7"/>
          <p:cNvSpPr txBox="1"/>
          <p:nvPr/>
        </p:nvSpPr>
        <p:spPr>
          <a:xfrm>
            <a:off x="5283200" y="4613275"/>
            <a:ext cx="3192463" cy="3667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50000"/>
              </a:spcBef>
              <a:buClrTx/>
              <a:buSzTx/>
              <a:buFontTx/>
              <a:buNone/>
            </a:pPr>
            <a:r>
              <a:rPr lang="en-US" altLang="zh-CN" sz="1800" b="1">
                <a:latin typeface="Verdana" panose="020B0604030504040204" pitchFamily="34" charset="0"/>
              </a:rPr>
              <a:t>Concurrent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6660"/>
                                        </p:tgtEl>
                                        <p:attrNameLst>
                                          <p:attrName>style.visibility</p:attrName>
                                        </p:attrNameLst>
                                      </p:cBhvr>
                                      <p:to>
                                        <p:strVal val="visible"/>
                                      </p:to>
                                    </p:set>
                                    <p:anim calcmode="lin" valueType="num">
                                      <p:cBhvr additive="base">
                                        <p:cTn id="7" dur="500" fill="hold"/>
                                        <p:tgtEl>
                                          <p:spTgt spid="326660"/>
                                        </p:tgtEl>
                                        <p:attrNameLst>
                                          <p:attrName>ppt_x</p:attrName>
                                        </p:attrNameLst>
                                      </p:cBhvr>
                                      <p:tavLst>
                                        <p:tav tm="0">
                                          <p:val>
                                            <p:strVal val="#ppt_x"/>
                                          </p:val>
                                        </p:tav>
                                        <p:tav tm="100000">
                                          <p:val>
                                            <p:strVal val="#ppt_x"/>
                                          </p:val>
                                        </p:tav>
                                      </p:tavLst>
                                    </p:anim>
                                    <p:anim calcmode="lin" valueType="num">
                                      <p:cBhvr additive="base">
                                        <p:cTn id="8" dur="500" fill="hold"/>
                                        <p:tgtEl>
                                          <p:spTgt spid="3266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1863"/>
                                        </p:tgtEl>
                                        <p:attrNameLst>
                                          <p:attrName>style.visibility</p:attrName>
                                        </p:attrNameLst>
                                      </p:cBhvr>
                                      <p:to>
                                        <p:strVal val="visible"/>
                                      </p:to>
                                    </p:set>
                                    <p:anim calcmode="lin" valueType="num">
                                      <p:cBhvr additive="base">
                                        <p:cTn id="13" dur="500" fill="hold"/>
                                        <p:tgtEl>
                                          <p:spTgt spid="121863"/>
                                        </p:tgtEl>
                                        <p:attrNameLst>
                                          <p:attrName>ppt_x</p:attrName>
                                        </p:attrNameLst>
                                      </p:cBhvr>
                                      <p:tavLst>
                                        <p:tav tm="0">
                                          <p:val>
                                            <p:strVal val="#ppt_x"/>
                                          </p:val>
                                        </p:tav>
                                        <p:tav tm="100000">
                                          <p:val>
                                            <p:strVal val="#ppt_x"/>
                                          </p:val>
                                        </p:tav>
                                      </p:tavLst>
                                    </p:anim>
                                    <p:anim calcmode="lin" valueType="num">
                                      <p:cBhvr additive="base">
                                        <p:cTn id="14" dur="500" fill="hold"/>
                                        <p:tgtEl>
                                          <p:spTgt spid="1218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Rot="1"/>
          </p:cNvSpPr>
          <p:nvPr>
            <p:ph type="body"/>
          </p:nvPr>
        </p:nvSpPr>
        <p:spPr>
          <a:xfrm>
            <a:off x="387350" y="847725"/>
            <a:ext cx="8542655" cy="5297805"/>
          </a:xfrm>
          <a:ln/>
        </p:spPr>
        <p:txBody>
          <a:bodyPr vert="horz" wrap="square" lIns="91440" tIns="45720" rIns="91440" bIns="45720" anchor="t" anchorCtr="0"/>
          <a:lstStyle/>
          <a:p>
            <a:pPr eaLnBrk="1" hangingPunct="1">
              <a:lnSpc>
                <a:spcPct val="150000"/>
              </a:lnSpc>
            </a:pPr>
            <a:r>
              <a:rPr lang="zh-CN" altLang="en-US" sz="2000">
                <a:latin typeface="等线" panose="02010600030101010101" pitchFamily="2" charset="-122"/>
                <a:ea typeface="等线" panose="02010600030101010101" pitchFamily="2" charset="-122"/>
              </a:rPr>
              <a:t>程序并发执行的特点</a:t>
            </a:r>
            <a:r>
              <a:rPr lang="en-US" altLang="zh-CN" sz="2000">
                <a:latin typeface="等线" panose="02010600030101010101" pitchFamily="2" charset="-122"/>
                <a:ea typeface="等线" panose="02010600030101010101" pitchFamily="2" charset="-122"/>
              </a:rPr>
              <a:t>:</a:t>
            </a:r>
          </a:p>
          <a:p>
            <a:pPr eaLnBrk="1" hangingPunct="1">
              <a:lnSpc>
                <a:spcPct val="150000"/>
              </a:lnSpc>
            </a:pPr>
            <a:r>
              <a:rPr lang="en-US" altLang="zh-CN" sz="2000">
                <a:latin typeface="等线" panose="02010600030101010101" pitchFamily="2" charset="-122"/>
                <a:ea typeface="等线" panose="02010600030101010101" pitchFamily="2" charset="-122"/>
              </a:rPr>
              <a:t>1</a:t>
            </a:r>
            <a:r>
              <a:rPr lang="zh-CN" altLang="en-US" sz="2000">
                <a:latin typeface="等线" panose="02010600030101010101" pitchFamily="2" charset="-122"/>
                <a:ea typeface="等线" panose="02010600030101010101" pitchFamily="2" charset="-122"/>
              </a:rPr>
              <a:t>、间断性</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程序并发执行因竞争资源，而呈现出“执行</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暂停</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执行”的间断性活动规律。例如：</a:t>
            </a:r>
            <a:r>
              <a:rPr lang="en-US" altLang="zh-CN" sz="2000">
                <a:latin typeface="等线" panose="02010600030101010101" pitchFamily="2" charset="-122"/>
                <a:ea typeface="等线" panose="02010600030101010101" pitchFamily="2" charset="-122"/>
              </a:rPr>
              <a:t>2</a:t>
            </a:r>
            <a:r>
              <a:rPr lang="zh-CN" altLang="en-US" sz="2000">
                <a:latin typeface="等线" panose="02010600030101010101" pitchFamily="2" charset="-122"/>
                <a:ea typeface="等线" panose="02010600030101010101" pitchFamily="2" charset="-122"/>
              </a:rPr>
              <a:t>个并发程序都要使用打印机，其中</a:t>
            </a:r>
            <a:r>
              <a:rPr lang="en-US" altLang="zh-CN" sz="2000">
                <a:latin typeface="等线" panose="02010600030101010101" pitchFamily="2" charset="-122"/>
                <a:ea typeface="等线" panose="02010600030101010101" pitchFamily="2" charset="-122"/>
              </a:rPr>
              <a:t>1</a:t>
            </a:r>
            <a:r>
              <a:rPr lang="zh-CN" altLang="en-US" sz="2000">
                <a:latin typeface="等线" panose="02010600030101010101" pitchFamily="2" charset="-122"/>
                <a:ea typeface="等线" panose="02010600030101010101" pitchFamily="2" charset="-122"/>
              </a:rPr>
              <a:t>个就要等待。</a:t>
            </a:r>
          </a:p>
          <a:p>
            <a:pPr eaLnBrk="1" hangingPunct="1">
              <a:lnSpc>
                <a:spcPct val="150000"/>
              </a:lnSpc>
            </a:pPr>
            <a:r>
              <a:rPr lang="en-US" altLang="zh-CN" sz="2000">
                <a:latin typeface="等线" panose="02010600030101010101" pitchFamily="2" charset="-122"/>
                <a:ea typeface="等线" panose="02010600030101010101" pitchFamily="2" charset="-122"/>
              </a:rPr>
              <a:t>2</a:t>
            </a:r>
            <a:r>
              <a:rPr lang="zh-CN" altLang="en-US" sz="2000">
                <a:latin typeface="等线" panose="02010600030101010101" pitchFamily="2" charset="-122"/>
                <a:ea typeface="等线" panose="02010600030101010101" pitchFamily="2" charset="-122"/>
              </a:rPr>
              <a:t>、失去封闭性</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程序执行的结果不仅依赖于程序的初始条件，还依赖于程序执行时的相对速度</a:t>
            </a:r>
          </a:p>
          <a:p>
            <a:pPr eaLnBrk="1" hangingPunct="1">
              <a:lnSpc>
                <a:spcPct val="150000"/>
              </a:lnSpc>
            </a:pPr>
            <a:r>
              <a:rPr lang="en-US" altLang="zh-CN" sz="2000">
                <a:latin typeface="等线" panose="02010600030101010101" pitchFamily="2" charset="-122"/>
                <a:ea typeface="等线" panose="02010600030101010101" pitchFamily="2" charset="-122"/>
              </a:rPr>
              <a:t>3</a:t>
            </a:r>
            <a:r>
              <a:rPr lang="zh-CN" altLang="en-US" sz="2000">
                <a:latin typeface="等线" panose="02010600030101010101" pitchFamily="2" charset="-122"/>
                <a:ea typeface="等线" panose="02010600030101010101" pitchFamily="2" charset="-122"/>
              </a:rPr>
              <a:t>、不可再现性</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由于失去封闭性，初始条件相同，但是结果不一定相同。</a:t>
            </a:r>
          </a:p>
          <a:p>
            <a:pPr eaLnBrk="1" hangingPunct="1">
              <a:lnSpc>
                <a:spcPct val="150000"/>
              </a:lnSpc>
            </a:pPr>
            <a:r>
              <a:rPr lang="zh-CN" altLang="en-US" sz="2000">
                <a:latin typeface="等线" panose="02010600030101010101" pitchFamily="2" charset="-122"/>
                <a:ea typeface="等线" panose="02010600030101010101" pitchFamily="2" charset="-122"/>
              </a:rPr>
              <a:t>例如：观察者</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报告者，有两个循环程序</a:t>
            </a:r>
            <a:r>
              <a:rPr lang="en-US" altLang="zh-CN" sz="2000">
                <a:latin typeface="等线" panose="02010600030101010101" pitchFamily="2" charset="-122"/>
                <a:ea typeface="等线" panose="02010600030101010101" pitchFamily="2" charset="-122"/>
              </a:rPr>
              <a:t>A</a:t>
            </a:r>
            <a:r>
              <a:rPr lang="zh-CN" altLang="en-US" sz="2000">
                <a:latin typeface="等线" panose="02010600030101010101" pitchFamily="2" charset="-122"/>
                <a:ea typeface="等线" panose="02010600030101010101" pitchFamily="2" charset="-122"/>
              </a:rPr>
              <a:t>和</a:t>
            </a:r>
            <a:r>
              <a:rPr lang="en-US" altLang="zh-CN" sz="2000">
                <a:latin typeface="等线" panose="02010600030101010101" pitchFamily="2" charset="-122"/>
                <a:ea typeface="等线" panose="02010600030101010101" pitchFamily="2" charset="-122"/>
              </a:rPr>
              <a:t>B</a:t>
            </a:r>
            <a:r>
              <a:rPr lang="zh-CN" altLang="en-US" sz="2000">
                <a:latin typeface="等线" panose="02010600030101010101" pitchFamily="2" charset="-122"/>
                <a:ea typeface="等线" panose="02010600030101010101" pitchFamily="2" charset="-122"/>
              </a:rPr>
              <a:t>，它们共享一个变量</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。程序</a:t>
            </a:r>
            <a:r>
              <a:rPr lang="en-US" altLang="zh-CN" sz="2000">
                <a:latin typeface="等线" panose="02010600030101010101" pitchFamily="2" charset="-122"/>
                <a:ea typeface="等线" panose="02010600030101010101" pitchFamily="2" charset="-122"/>
              </a:rPr>
              <a:t>A</a:t>
            </a:r>
            <a:r>
              <a:rPr lang="zh-CN" altLang="en-US" sz="2000">
                <a:latin typeface="等线" panose="02010600030101010101" pitchFamily="2" charset="-122"/>
                <a:ea typeface="等线" panose="02010600030101010101" pitchFamily="2" charset="-122"/>
              </a:rPr>
              <a:t>每执行一次时都要做</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a:t>
            </a:r>
            <a:r>
              <a:rPr lang="en-US" altLang="zh-CN" sz="2000">
                <a:latin typeface="等线" panose="02010600030101010101" pitchFamily="2" charset="-122"/>
                <a:ea typeface="等线" panose="02010600030101010101" pitchFamily="2" charset="-122"/>
              </a:rPr>
              <a:t>1</a:t>
            </a:r>
            <a:r>
              <a:rPr lang="zh-CN" altLang="en-US" sz="2000">
                <a:latin typeface="等线" panose="02010600030101010101" pitchFamily="2" charset="-122"/>
                <a:ea typeface="等线" panose="02010600030101010101" pitchFamily="2" charset="-122"/>
              </a:rPr>
              <a:t>操作；程序</a:t>
            </a:r>
            <a:r>
              <a:rPr lang="en-US" altLang="zh-CN" sz="2000">
                <a:latin typeface="等线" panose="02010600030101010101" pitchFamily="2" charset="-122"/>
                <a:ea typeface="等线" panose="02010600030101010101" pitchFamily="2" charset="-122"/>
              </a:rPr>
              <a:t>B</a:t>
            </a:r>
            <a:r>
              <a:rPr lang="zh-CN" altLang="en-US" sz="2000">
                <a:latin typeface="等线" panose="02010600030101010101" pitchFamily="2" charset="-122"/>
                <a:ea typeface="等线" panose="02010600030101010101" pitchFamily="2" charset="-122"/>
              </a:rPr>
              <a:t>每执行一次时，都要做</a:t>
            </a:r>
            <a:r>
              <a:rPr lang="en-US" altLang="zh-CN" sz="2000">
                <a:latin typeface="等线" panose="02010600030101010101" pitchFamily="2" charset="-122"/>
                <a:ea typeface="等线" panose="02010600030101010101" pitchFamily="2" charset="-122"/>
              </a:rPr>
              <a:t>print</a:t>
            </a:r>
            <a:r>
              <a:rPr lang="zh-CN" altLang="en-US" sz="2000">
                <a:latin typeface="等线" panose="02010600030101010101" pitchFamily="2" charset="-122"/>
                <a:ea typeface="等线" panose="02010600030101010101" pitchFamily="2" charset="-122"/>
              </a:rPr>
              <a:t>（</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）操作，然后再将</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置成“</a:t>
            </a:r>
            <a:r>
              <a:rPr lang="en-US" altLang="zh-CN" sz="2000">
                <a:latin typeface="等线" panose="02010600030101010101" pitchFamily="2" charset="-122"/>
                <a:ea typeface="等线" panose="02010600030101010101" pitchFamily="2" charset="-122"/>
              </a:rPr>
              <a:t>0”</a:t>
            </a:r>
            <a:r>
              <a:rPr lang="zh-CN" altLang="en-US" sz="2000">
                <a:latin typeface="等线" panose="02010600030101010101" pitchFamily="2" charset="-122"/>
                <a:ea typeface="等线" panose="02010600030101010101" pitchFamily="2" charset="-122"/>
              </a:rPr>
              <a:t>，程序</a:t>
            </a:r>
            <a:r>
              <a:rPr lang="en-US" altLang="zh-CN" sz="2000">
                <a:latin typeface="等线" panose="02010600030101010101" pitchFamily="2" charset="-122"/>
                <a:ea typeface="等线" panose="02010600030101010101" pitchFamily="2" charset="-122"/>
              </a:rPr>
              <a:t>A</a:t>
            </a:r>
            <a:r>
              <a:rPr lang="zh-CN" altLang="en-US" sz="2000">
                <a:latin typeface="等线" panose="02010600030101010101" pitchFamily="2" charset="-122"/>
                <a:ea typeface="等线" panose="02010600030101010101" pitchFamily="2" charset="-122"/>
              </a:rPr>
              <a:t>和</a:t>
            </a:r>
            <a:r>
              <a:rPr lang="en-US" altLang="zh-CN" sz="2000">
                <a:latin typeface="等线" panose="02010600030101010101" pitchFamily="2" charset="-122"/>
                <a:ea typeface="等线" panose="02010600030101010101" pitchFamily="2" charset="-122"/>
              </a:rPr>
              <a:t>B</a:t>
            </a:r>
            <a:r>
              <a:rPr lang="zh-CN" altLang="en-US" sz="2000">
                <a:latin typeface="等线" panose="02010600030101010101" pitchFamily="2" charset="-122"/>
                <a:ea typeface="等线" panose="02010600030101010101" pitchFamily="2" charset="-122"/>
              </a:rPr>
              <a:t>以不同的速度运行。可能出现多报或漏报。（假定某时刻变量</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的值为</a:t>
            </a:r>
            <a:r>
              <a:rPr lang="en-US" altLang="zh-CN" sz="2000">
                <a:latin typeface="等线" panose="02010600030101010101" pitchFamily="2" charset="-122"/>
                <a:ea typeface="等线" panose="02010600030101010101" pitchFamily="2" charset="-122"/>
              </a:rPr>
              <a:t>n</a:t>
            </a:r>
            <a:r>
              <a:rPr lang="zh-CN" altLang="en-US" sz="2000">
                <a:latin typeface="等线" panose="02010600030101010101" pitchFamily="2" charset="-122"/>
                <a:ea typeface="等线" panose="02010600030101010101" pitchFamily="2" charset="-122"/>
              </a:rPr>
              <a:t>）</a:t>
            </a:r>
          </a:p>
        </p:txBody>
      </p:sp>
      <p:sp>
        <p:nvSpPr>
          <p:cNvPr id="17410" name="Rectangle 3"/>
          <p:cNvSpPr/>
          <p:nvPr/>
        </p:nvSpPr>
        <p:spPr>
          <a:xfrm>
            <a:off x="928688" y="200025"/>
            <a:ext cx="6186487" cy="6477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367030" lvl="0" indent="-367030" algn="ctr" eaLnBrk="1" hangingPunct="1">
              <a:lnSpc>
                <a:spcPct val="130000"/>
              </a:lnSpc>
              <a:spcBef>
                <a:spcPct val="20000"/>
              </a:spcBef>
              <a:buClr>
                <a:schemeClr val="hlink"/>
              </a:buClr>
              <a:buSzTx/>
              <a:buFont typeface="Wingdings" panose="05000000000000000000" pitchFamily="2" charset="2"/>
              <a:buNone/>
            </a:pPr>
            <a:r>
              <a:rPr lang="en-US" altLang="zh-CN" sz="2800" b="1">
                <a:solidFill>
                  <a:srgbClr val="006699"/>
                </a:solidFill>
                <a:latin typeface="Verdana" panose="020B0604030504040204" pitchFamily="34" charset="0"/>
              </a:rPr>
              <a:t>Process Concept</a:t>
            </a:r>
            <a:endParaRPr lang="zh-CN" altLang="en-US" sz="2800" b="1">
              <a:solidFill>
                <a:srgbClr val="006699"/>
              </a:solidFill>
              <a:latin typeface="Verdana" panose="020B060403050404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19458" name="Rectangle 3"/>
          <p:cNvSpPr>
            <a:spLocks noGrp="1"/>
          </p:cNvSpPr>
          <p:nvPr>
            <p:ph idx="1"/>
          </p:nvPr>
        </p:nvSpPr>
        <p:spPr>
          <a:xfrm>
            <a:off x="806450" y="1246188"/>
            <a:ext cx="7370763" cy="3822700"/>
          </a:xfrm>
          <a:ln/>
        </p:spPr>
        <p:txBody>
          <a:bodyPr vert="horz" wrap="square" lIns="91440" tIns="45720" rIns="91440" bIns="45720" anchor="t" anchorCtr="0"/>
          <a:lstStyle/>
          <a:p>
            <a:pPr>
              <a:lnSpc>
                <a:spcPct val="90000"/>
              </a:lnSpc>
            </a:pPr>
            <a:r>
              <a:rPr lang="en-US" altLang="zh-CN" sz="2400"/>
              <a:t>Textbook uses the terms </a:t>
            </a:r>
            <a:r>
              <a:rPr lang="en-US" altLang="zh-CN" sz="2400" i="1"/>
              <a:t>job</a:t>
            </a:r>
            <a:r>
              <a:rPr lang="en-US" altLang="zh-CN" sz="2400"/>
              <a:t> and </a:t>
            </a:r>
            <a:r>
              <a:rPr lang="en-US" altLang="zh-CN" sz="2400" i="1"/>
              <a:t>process</a:t>
            </a:r>
            <a:r>
              <a:rPr lang="en-US" altLang="zh-CN" sz="2400"/>
              <a:t> almost interchangeably</a:t>
            </a:r>
          </a:p>
          <a:p>
            <a:pPr>
              <a:lnSpc>
                <a:spcPct val="90000"/>
              </a:lnSpc>
            </a:pPr>
            <a:r>
              <a:rPr lang="en-US" altLang="zh-CN" sz="2400"/>
              <a:t>Process – a program in execution; process execution must progress in sequential fashion</a:t>
            </a:r>
          </a:p>
          <a:p>
            <a:pPr eaLnBrk="1" hangingPunct="1">
              <a:lnSpc>
                <a:spcPct val="90000"/>
              </a:lnSpc>
            </a:pPr>
            <a:r>
              <a:rPr lang="en-US" altLang="zh-CN" sz="2400"/>
              <a:t>A program is a passive entity; a process is an active entity.</a:t>
            </a:r>
          </a:p>
          <a:p>
            <a:pPr>
              <a:lnSpc>
                <a:spcPct val="90000"/>
              </a:lnSpc>
            </a:pPr>
            <a:endParaRPr lang="en-US" altLang="zh-CN"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21506" name="Rectangle 3"/>
          <p:cNvSpPr>
            <a:spLocks noGrp="1"/>
          </p:cNvSpPr>
          <p:nvPr>
            <p:ph type="body"/>
          </p:nvPr>
        </p:nvSpPr>
        <p:spPr>
          <a:xfrm>
            <a:off x="806450" y="1246188"/>
            <a:ext cx="4710113" cy="3822700"/>
          </a:xfrm>
          <a:ln/>
        </p:spPr>
        <p:txBody>
          <a:bodyPr vert="horz" wrap="square" lIns="91440" tIns="45720" rIns="91440" bIns="45720" anchor="t" anchorCtr="0"/>
          <a:lstStyle/>
          <a:p>
            <a:r>
              <a:rPr lang="en-US" altLang="zh-CN" sz="2400"/>
              <a:t>A process includes:</a:t>
            </a:r>
          </a:p>
          <a:p>
            <a:pPr lvl="1"/>
            <a:r>
              <a:rPr lang="en-US" altLang="zh-CN" sz="2400"/>
              <a:t>program counter </a:t>
            </a:r>
          </a:p>
          <a:p>
            <a:pPr lvl="1"/>
            <a:r>
              <a:rPr lang="en-US" altLang="zh-CN" sz="2400"/>
              <a:t>stack</a:t>
            </a:r>
          </a:p>
          <a:p>
            <a:pPr lvl="1"/>
            <a:r>
              <a:rPr lang="en-US" altLang="zh-CN" sz="2400"/>
              <a:t>data section</a:t>
            </a:r>
          </a:p>
        </p:txBody>
      </p:sp>
      <p:pic>
        <p:nvPicPr>
          <p:cNvPr id="21507" name="Picture 4"/>
          <p:cNvPicPr>
            <a:picLocks noChangeAspect="1"/>
          </p:cNvPicPr>
          <p:nvPr/>
        </p:nvPicPr>
        <p:blipFill>
          <a:blip r:embed="rId3"/>
          <a:stretch>
            <a:fillRect/>
          </a:stretch>
        </p:blipFill>
        <p:spPr>
          <a:xfrm>
            <a:off x="4921250" y="1236663"/>
            <a:ext cx="2911475" cy="4598987"/>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23554" name="Rectangle 3"/>
          <p:cNvSpPr>
            <a:spLocks noGrp="1"/>
          </p:cNvSpPr>
          <p:nvPr>
            <p:ph type="body"/>
          </p:nvPr>
        </p:nvSpPr>
        <p:spPr>
          <a:xfrm>
            <a:off x="4659313" y="957263"/>
            <a:ext cx="4181475" cy="3822700"/>
          </a:xfrm>
          <a:ln/>
        </p:spPr>
        <p:txBody>
          <a:bodyPr vert="horz" wrap="square" lIns="91440" tIns="45720" rIns="91440" bIns="45720" anchor="t" anchorCtr="0"/>
          <a:lstStyle/>
          <a:p>
            <a:pPr marL="0" indent="0">
              <a:buNone/>
            </a:pPr>
            <a:r>
              <a:rPr lang="zh-CN" altLang="en-US" sz="2000">
                <a:latin typeface="等线" panose="02010600030101010101" pitchFamily="2" charset="-122"/>
                <a:ea typeface="等线" panose="02010600030101010101" pitchFamily="2" charset="-122"/>
              </a:rPr>
              <a:t>在</a:t>
            </a:r>
            <a:r>
              <a:rPr lang="en-US" altLang="zh-CN" sz="2000">
                <a:latin typeface="等线" panose="02010600030101010101" pitchFamily="2" charset="-122"/>
                <a:ea typeface="等线" panose="02010600030101010101" pitchFamily="2" charset="-122"/>
              </a:rPr>
              <a:t>linux</a:t>
            </a:r>
            <a:r>
              <a:rPr lang="zh-CN" altLang="en-US" sz="2000">
                <a:latin typeface="等线" panose="02010600030101010101" pitchFamily="2" charset="-122"/>
                <a:ea typeface="等线" panose="02010600030101010101" pitchFamily="2" charset="-122"/>
              </a:rPr>
              <a:t>写一个程序，里面全局变量，局部变量，</a:t>
            </a:r>
            <a:r>
              <a:rPr lang="en-US" altLang="zh-CN" sz="2000">
                <a:latin typeface="等线" panose="02010600030101010101" pitchFamily="2" charset="-122"/>
                <a:ea typeface="等线" panose="02010600030101010101" pitchFamily="2" charset="-122"/>
              </a:rPr>
              <a:t>static</a:t>
            </a:r>
            <a:r>
              <a:rPr lang="zh-CN" altLang="en-US" sz="2000">
                <a:latin typeface="等线" panose="02010600030101010101" pitchFamily="2" charset="-122"/>
                <a:ea typeface="等线" panose="02010600030101010101" pitchFamily="2" charset="-122"/>
              </a:rPr>
              <a:t>，</a:t>
            </a:r>
            <a:r>
              <a:rPr lang="en-US" altLang="zh-CN" sz="2000">
                <a:latin typeface="等线" panose="02010600030101010101" pitchFamily="2" charset="-122"/>
                <a:ea typeface="等线" panose="02010600030101010101" pitchFamily="2" charset="-122"/>
              </a:rPr>
              <a:t>const</a:t>
            </a:r>
            <a:r>
              <a:rPr lang="zh-CN" altLang="en-US" sz="2000">
                <a:latin typeface="等线" panose="02010600030101010101" pitchFamily="2" charset="-122"/>
                <a:ea typeface="等线" panose="02010600030101010101" pitchFamily="2" charset="-122"/>
              </a:rPr>
              <a:t>，常数，数组，输出这些变量的地址：</a:t>
            </a:r>
            <a:endParaRPr lang="en-US" altLang="zh-CN" sz="1600">
              <a:latin typeface="等线" panose="02010600030101010101" pitchFamily="2" charset="-122"/>
              <a:ea typeface="等线" panose="02010600030101010101" pitchFamily="2" charset="-122"/>
            </a:endParaRPr>
          </a:p>
        </p:txBody>
      </p:sp>
      <p:pic>
        <p:nvPicPr>
          <p:cNvPr id="23555" name="图片 2"/>
          <p:cNvPicPr>
            <a:picLocks noChangeAspect="1"/>
          </p:cNvPicPr>
          <p:nvPr/>
        </p:nvPicPr>
        <p:blipFill>
          <a:blip r:embed="rId3"/>
          <a:stretch>
            <a:fillRect/>
          </a:stretch>
        </p:blipFill>
        <p:spPr>
          <a:xfrm>
            <a:off x="520700" y="890588"/>
            <a:ext cx="4051300" cy="5967412"/>
          </a:xfrm>
          <a:prstGeom prst="rect">
            <a:avLst/>
          </a:prstGeom>
          <a:noFill/>
          <a:ln w="9525">
            <a:noFill/>
          </a:ln>
        </p:spPr>
      </p:pic>
      <p:pic>
        <p:nvPicPr>
          <p:cNvPr id="159746" name="Picture 2" descr="https://img-blog.csdn.net/20161018185304917?watermark/2/text/aHR0cDovL2Jsb2cuY3Nkbi5uZXQv/font/5a6L5L2T/fontsize/400/fill/I0JBQkFCMA==/dissolve/70/gravity/Center"/>
          <p:cNvPicPr>
            <a:picLocks noChangeAspect="1"/>
          </p:cNvPicPr>
          <p:nvPr/>
        </p:nvPicPr>
        <p:blipFill>
          <a:blip r:embed="rId4"/>
          <a:srcRect l="501"/>
          <a:stretch>
            <a:fillRect/>
          </a:stretch>
        </p:blipFill>
        <p:spPr>
          <a:xfrm>
            <a:off x="4739005" y="2209800"/>
            <a:ext cx="4160520" cy="2114550"/>
          </a:xfrm>
          <a:prstGeom prst="rect">
            <a:avLst/>
          </a:prstGeom>
          <a:noFill/>
          <a:ln w="9525">
            <a:noFill/>
          </a:ln>
        </p:spPr>
      </p:pic>
      <p:sp>
        <p:nvSpPr>
          <p:cNvPr id="2" name="矩形 1"/>
          <p:cNvSpPr/>
          <p:nvPr/>
        </p:nvSpPr>
        <p:spPr>
          <a:xfrm>
            <a:off x="4600575" y="4575175"/>
            <a:ext cx="4298950" cy="92202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zh-CN" altLang="en-US" sz="1800">
                <a:solidFill>
                  <a:srgbClr val="4D4D4D"/>
                </a:solidFill>
                <a:latin typeface="等线" panose="02010600030101010101" pitchFamily="2" charset="-122"/>
                <a:ea typeface="等线" panose="02010600030101010101" pitchFamily="2" charset="-122"/>
                <a:cs typeface="等线" panose="02010600030101010101" pitchFamily="2" charset="-122"/>
              </a:rPr>
              <a:t>可以看出全局变量和</a:t>
            </a:r>
            <a:r>
              <a:rPr lang="en-US" altLang="zh-CN" sz="1800">
                <a:solidFill>
                  <a:srgbClr val="4D4D4D"/>
                </a:solidFill>
                <a:latin typeface="等线" panose="02010600030101010101" pitchFamily="2" charset="-122"/>
                <a:ea typeface="等线" panose="02010600030101010101" pitchFamily="2" charset="-122"/>
                <a:cs typeface="等线" panose="02010600030101010101" pitchFamily="2" charset="-122"/>
              </a:rPr>
              <a:t>static</a:t>
            </a:r>
            <a:r>
              <a:rPr lang="zh-CN" altLang="en-US" sz="1800">
                <a:solidFill>
                  <a:srgbClr val="4D4D4D"/>
                </a:solidFill>
                <a:latin typeface="等线" panose="02010600030101010101" pitchFamily="2" charset="-122"/>
                <a:ea typeface="等线" panose="02010600030101010101" pitchFamily="2" charset="-122"/>
                <a:cs typeface="等线" panose="02010600030101010101" pitchFamily="2" charset="-122"/>
              </a:rPr>
              <a:t>修饰的变量在同一个存储位置，局部变量有自己 的存储位置，数组也是有自己的存储位置。</a:t>
            </a:r>
            <a:endParaRPr lang="zh-CN" altLang="en-US" sz="18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7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25602" name="矩形 3"/>
          <p:cNvSpPr/>
          <p:nvPr/>
        </p:nvSpPr>
        <p:spPr>
          <a:xfrm>
            <a:off x="650875" y="1611313"/>
            <a:ext cx="7426325" cy="21685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nSpc>
                <a:spcPct val="150000"/>
              </a:lnSpc>
              <a:spcBef>
                <a:spcPct val="0"/>
              </a:spcBef>
              <a:buClrTx/>
              <a:buSzTx/>
              <a:buFontTx/>
              <a:buNone/>
            </a:pPr>
            <a:r>
              <a:rPr lang="zh-CN" altLang="en-US" sz="1800">
                <a:latin typeface="等线" panose="02010600030101010101" pitchFamily="2" charset="-122"/>
                <a:ea typeface="等线" panose="02010600030101010101" pitchFamily="2" charset="-122"/>
              </a:rPr>
              <a:t>栈（操作系统）：由操作系统自动分配释放 ，存放函数的参数值，局部变量的值等。其操作方式类似于数据结构中的栈。</a:t>
            </a:r>
            <a:endParaRPr lang="en-US" altLang="zh-CN" sz="1800">
              <a:latin typeface="等线" panose="02010600030101010101" pitchFamily="2" charset="-122"/>
              <a:ea typeface="等线" panose="02010600030101010101" pitchFamily="2" charset="-122"/>
            </a:endParaRPr>
          </a:p>
          <a:p>
            <a:pPr marL="0" lvl="0" indent="0">
              <a:lnSpc>
                <a:spcPct val="150000"/>
              </a:lnSpc>
              <a:spcBef>
                <a:spcPct val="0"/>
              </a:spcBef>
              <a:buClrTx/>
              <a:buSzTx/>
              <a:buFontTx/>
              <a:buNone/>
            </a:pPr>
            <a:endParaRPr lang="zh-CN" altLang="en-US" sz="1800">
              <a:latin typeface="等线" panose="02010600030101010101" pitchFamily="2" charset="-122"/>
              <a:ea typeface="等线" panose="02010600030101010101" pitchFamily="2" charset="-122"/>
            </a:endParaRPr>
          </a:p>
          <a:p>
            <a:pPr marL="0" lvl="0" indent="0">
              <a:lnSpc>
                <a:spcPct val="150000"/>
              </a:lnSpc>
              <a:spcBef>
                <a:spcPct val="0"/>
              </a:spcBef>
              <a:buClrTx/>
              <a:buSzTx/>
              <a:buFontTx/>
              <a:buNone/>
            </a:pPr>
            <a:r>
              <a:rPr lang="zh-CN" altLang="en-US" sz="1800">
                <a:latin typeface="等线" panose="02010600030101010101" pitchFamily="2" charset="-122"/>
                <a:ea typeface="等线" panose="02010600030101010101" pitchFamily="2" charset="-122"/>
              </a:rPr>
              <a:t>堆（操作系统）： 一般由程序员分配释放， 若程序员不释放，程序结束时可能由</a:t>
            </a:r>
            <a:r>
              <a:rPr lang="en-US" altLang="zh-CN" sz="1800">
                <a:latin typeface="等线" panose="02010600030101010101" pitchFamily="2" charset="-122"/>
                <a:ea typeface="等线" panose="02010600030101010101" pitchFamily="2" charset="-122"/>
              </a:rPr>
              <a:t>OS</a:t>
            </a:r>
            <a:r>
              <a:rPr lang="zh-CN" altLang="en-US" sz="1800">
                <a:latin typeface="等线" panose="02010600030101010101" pitchFamily="2" charset="-122"/>
                <a:ea typeface="等线" panose="02010600030101010101" pitchFamily="2" charset="-122"/>
              </a:rPr>
              <a:t>回收，分配方式倒是类似于链表。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1074738" y="196850"/>
            <a:ext cx="8077200" cy="576263"/>
          </a:xfrm>
          <a:ln/>
        </p:spPr>
        <p:txBody>
          <a:bodyPr vert="horz" wrap="square" lIns="91440" tIns="45720" rIns="91440" bIns="45720" anchor="b" anchorCtr="0"/>
          <a:lstStyle/>
          <a:p>
            <a:r>
              <a:rPr lang="en-US" altLang="en-US"/>
              <a:t>Memory Layout of a C Program</a:t>
            </a:r>
          </a:p>
        </p:txBody>
      </p:sp>
      <p:pic>
        <p:nvPicPr>
          <p:cNvPr id="27650" name="Picture 1"/>
          <p:cNvPicPr>
            <a:picLocks noChangeAspect="1"/>
          </p:cNvPicPr>
          <p:nvPr/>
        </p:nvPicPr>
        <p:blipFill>
          <a:blip r:embed="rId2"/>
          <a:stretch>
            <a:fillRect/>
          </a:stretch>
        </p:blipFill>
        <p:spPr>
          <a:xfrm>
            <a:off x="952500" y="1701800"/>
            <a:ext cx="7227888" cy="343376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28674" name="Rectangle 3"/>
          <p:cNvSpPr>
            <a:spLocks noGrp="1"/>
          </p:cNvSpPr>
          <p:nvPr>
            <p:ph type="body"/>
          </p:nvPr>
        </p:nvSpPr>
        <p:spPr>
          <a:xfrm>
            <a:off x="193675" y="1109980"/>
            <a:ext cx="8477250" cy="3822700"/>
          </a:xfrm>
          <a:ln/>
        </p:spPr>
        <p:txBody>
          <a:bodyPr vert="horz" wrap="square" lIns="91440" tIns="45720" rIns="91440" bIns="45720" anchor="t" anchorCtr="0"/>
          <a:lstStyle/>
          <a:p>
            <a:pPr>
              <a:lnSpc>
                <a:spcPct val="150000"/>
              </a:lnSpc>
            </a:pPr>
            <a:r>
              <a:rPr lang="zh-CN" altLang="en-US" sz="2000">
                <a:latin typeface="等线" panose="02010600030101010101" pitchFamily="2" charset="-122"/>
                <a:ea typeface="等线" panose="02010600030101010101" pitchFamily="2" charset="-122"/>
              </a:rPr>
              <a:t>进程是动态的，程序是静态的：程序是有序代码的集合；进程是程序的执行。</a:t>
            </a:r>
          </a:p>
          <a:p>
            <a:pPr>
              <a:lnSpc>
                <a:spcPct val="150000"/>
              </a:lnSpc>
            </a:pPr>
            <a:r>
              <a:rPr lang="zh-CN" altLang="en-US" sz="2000">
                <a:latin typeface="等线" panose="02010600030101010101" pitchFamily="2" charset="-122"/>
                <a:ea typeface="等线" panose="02010600030101010101" pitchFamily="2" charset="-122"/>
              </a:rPr>
              <a:t>进程是暂时的，程序是永久的：进程是一个状态变化的过程，程序可长久保存。</a:t>
            </a:r>
          </a:p>
          <a:p>
            <a:pPr>
              <a:lnSpc>
                <a:spcPct val="150000"/>
              </a:lnSpc>
            </a:pPr>
            <a:r>
              <a:rPr lang="zh-CN" altLang="en-US" sz="2000">
                <a:latin typeface="等线" panose="02010600030101010101" pitchFamily="2" charset="-122"/>
                <a:ea typeface="等线" panose="02010600030101010101" pitchFamily="2" charset="-122"/>
              </a:rPr>
              <a:t>进程与程序的组成不同：进程的组成包括程序、数据和进程控制块（即进程状态信息）。</a:t>
            </a:r>
          </a:p>
          <a:p>
            <a:pPr>
              <a:lnSpc>
                <a:spcPct val="150000"/>
              </a:lnSpc>
            </a:pPr>
            <a:r>
              <a:rPr lang="zh-CN" altLang="en-US" sz="2000">
                <a:latin typeface="等线" panose="02010600030101010101" pitchFamily="2" charset="-122"/>
                <a:ea typeface="等线" panose="02010600030101010101" pitchFamily="2" charset="-122"/>
              </a:rPr>
              <a:t>进程与程序的对应关系：通过多次执行，一个程序可对应多个进程；通过调用关系，一个进程可对应多个程序。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30722" name="Rectangle 3"/>
          <p:cNvSpPr>
            <a:spLocks noGrp="1"/>
          </p:cNvSpPr>
          <p:nvPr>
            <p:ph type="body"/>
          </p:nvPr>
        </p:nvSpPr>
        <p:spPr>
          <a:xfrm>
            <a:off x="177800" y="895350"/>
            <a:ext cx="8788400" cy="3822700"/>
          </a:xfrm>
          <a:ln/>
        </p:spPr>
        <p:txBody>
          <a:bodyPr vert="horz" wrap="square" lIns="91440" tIns="45720" rIns="91440" bIns="45720" anchor="t" anchorCtr="0"/>
          <a:lstStyle/>
          <a:p>
            <a:pPr>
              <a:lnSpc>
                <a:spcPct val="150000"/>
              </a:lnSpc>
            </a:pPr>
            <a:r>
              <a:rPr lang="zh-CN" altLang="en-US" sz="2000">
                <a:latin typeface="等线" panose="02010600030101010101" pitchFamily="2" charset="-122"/>
                <a:ea typeface="等线" panose="02010600030101010101" pitchFamily="2" charset="-122"/>
              </a:rPr>
              <a:t>结构特征：进程实体</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程序段</a:t>
            </a:r>
            <a:r>
              <a:rPr lang="en-US" altLang="zh-CN" sz="2000">
                <a:latin typeface="等线" panose="02010600030101010101" pitchFamily="2" charset="-122"/>
                <a:ea typeface="等线" panose="02010600030101010101" pitchFamily="2" charset="-122"/>
              </a:rPr>
              <a:t>+</a:t>
            </a:r>
            <a:r>
              <a:rPr lang="zh-CN" altLang="en-US" sz="2000">
                <a:latin typeface="等线" panose="02010600030101010101" pitchFamily="2" charset="-122"/>
                <a:ea typeface="等线" panose="02010600030101010101" pitchFamily="2" charset="-122"/>
              </a:rPr>
              <a:t>相关的数据段</a:t>
            </a:r>
            <a:r>
              <a:rPr lang="en-US" altLang="zh-CN" sz="2000">
                <a:latin typeface="等线" panose="02010600030101010101" pitchFamily="2" charset="-122"/>
                <a:ea typeface="等线" panose="02010600030101010101" pitchFamily="2" charset="-122"/>
              </a:rPr>
              <a:t>+PCB</a:t>
            </a:r>
            <a:r>
              <a:rPr lang="zh-CN" altLang="en-US" sz="2000">
                <a:latin typeface="等线" panose="02010600030101010101" pitchFamily="2" charset="-122"/>
                <a:ea typeface="等线" panose="02010600030101010101" pitchFamily="2" charset="-122"/>
              </a:rPr>
              <a:t>。</a:t>
            </a:r>
          </a:p>
          <a:p>
            <a:pPr>
              <a:lnSpc>
                <a:spcPct val="150000"/>
              </a:lnSpc>
            </a:pPr>
            <a:r>
              <a:rPr lang="zh-CN" altLang="en-US" sz="2000">
                <a:latin typeface="等线" panose="02010600030101010101" pitchFamily="2" charset="-122"/>
                <a:ea typeface="等线" panose="02010600030101010101" pitchFamily="2" charset="-122"/>
              </a:rPr>
              <a:t>动态性：进程的实质是进程实体的一次执行过程，因此动态性是进程的最基本的特征。</a:t>
            </a:r>
          </a:p>
          <a:p>
            <a:pPr>
              <a:lnSpc>
                <a:spcPct val="150000"/>
              </a:lnSpc>
            </a:pPr>
            <a:r>
              <a:rPr lang="zh-CN" altLang="en-US" sz="2000">
                <a:latin typeface="等线" panose="02010600030101010101" pitchFamily="2" charset="-122"/>
                <a:ea typeface="等线" panose="02010600030101010101" pitchFamily="2" charset="-122"/>
              </a:rPr>
              <a:t>并发性：多个进程实体同存在于内存中，且能在一段时间内同时运行。是最重要的特征。</a:t>
            </a:r>
          </a:p>
          <a:p>
            <a:pPr>
              <a:lnSpc>
                <a:spcPct val="150000"/>
              </a:lnSpc>
            </a:pPr>
            <a:r>
              <a:rPr lang="zh-CN" altLang="en-US" sz="2000">
                <a:latin typeface="等线" panose="02010600030101010101" pitchFamily="2" charset="-122"/>
                <a:ea typeface="等线" panose="02010600030101010101" pitchFamily="2" charset="-122"/>
              </a:rPr>
              <a:t>独立性：进程实体是一个能独立运行、独立分配资源和独立接受调度的基本单位。</a:t>
            </a:r>
          </a:p>
          <a:p>
            <a:pPr>
              <a:lnSpc>
                <a:spcPct val="150000"/>
              </a:lnSpc>
            </a:pPr>
            <a:r>
              <a:rPr lang="zh-CN" altLang="en-US" sz="2000">
                <a:latin typeface="等线" panose="02010600030101010101" pitchFamily="2" charset="-122"/>
                <a:ea typeface="等线" panose="02010600030101010101" pitchFamily="2" charset="-122"/>
              </a:rPr>
              <a:t>异步性：进程按各自独立的、不可预知的速度向前推进。</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32770" name="Rectangle 3"/>
          <p:cNvSpPr>
            <a:spLocks noGrp="1"/>
          </p:cNvSpPr>
          <p:nvPr>
            <p:ph type="body"/>
          </p:nvPr>
        </p:nvSpPr>
        <p:spPr>
          <a:xfrm>
            <a:off x="806450" y="1246188"/>
            <a:ext cx="7370763" cy="3822700"/>
          </a:xfrm>
          <a:ln/>
        </p:spPr>
        <p:txBody>
          <a:bodyPr vert="horz" wrap="square" lIns="91440" tIns="45720" rIns="91440" bIns="45720" anchor="t" anchorCtr="0"/>
          <a:lstStyle/>
          <a:p>
            <a:r>
              <a:rPr lang="en-US" altLang="zh-CN" sz="2400"/>
              <a:t>Two types process</a:t>
            </a:r>
          </a:p>
          <a:p>
            <a:pPr lvl="1"/>
            <a:r>
              <a:rPr lang="en-US" altLang="zh-CN" sz="2400"/>
              <a:t>System process</a:t>
            </a:r>
          </a:p>
          <a:p>
            <a:pPr lvl="1"/>
            <a:r>
              <a:rPr lang="en-US" altLang="zh-CN" sz="2400"/>
              <a:t>User process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34818" name="Rectangle 3"/>
          <p:cNvSpPr>
            <a:spLocks noGrp="1"/>
          </p:cNvSpPr>
          <p:nvPr>
            <p:ph type="body"/>
          </p:nvPr>
        </p:nvSpPr>
        <p:spPr>
          <a:xfrm>
            <a:off x="806450" y="1081088"/>
            <a:ext cx="7370763" cy="3822700"/>
          </a:xfrm>
          <a:ln/>
        </p:spPr>
        <p:txBody>
          <a:bodyPr vert="horz" wrap="square" lIns="91440" tIns="45720" rIns="91440" bIns="45720" anchor="t" anchorCtr="0"/>
          <a:lstStyle/>
          <a:p>
            <a:pPr>
              <a:lnSpc>
                <a:spcPct val="150000"/>
              </a:lnSpc>
            </a:pPr>
            <a:r>
              <a:rPr lang="zh-CN" altLang="en-US" sz="2400">
                <a:latin typeface="等线" panose="02010600030101010101" pitchFamily="2" charset="-122"/>
                <a:ea typeface="等线" panose="02010600030101010101" pitchFamily="2" charset="-122"/>
              </a:rPr>
              <a:t>系统进程与用户进程的区别：</a:t>
            </a:r>
          </a:p>
          <a:p>
            <a:pPr>
              <a:lnSpc>
                <a:spcPct val="150000"/>
              </a:lnSpc>
            </a:pPr>
            <a:r>
              <a:rPr lang="zh-CN" altLang="en-US" sz="2400">
                <a:latin typeface="等线" panose="02010600030101010101" pitchFamily="2" charset="-122"/>
                <a:ea typeface="等线" panose="02010600030101010101" pitchFamily="2" charset="-122"/>
              </a:rPr>
              <a:t>资源的使用</a:t>
            </a:r>
            <a:r>
              <a:rPr lang="en-US" altLang="zh-CN" sz="2400">
                <a:latin typeface="等线" panose="02010600030101010101" pitchFamily="2" charset="-122"/>
                <a:ea typeface="等线" panose="02010600030101010101" pitchFamily="2" charset="-122"/>
              </a:rPr>
              <a:t>:</a:t>
            </a:r>
            <a:r>
              <a:rPr lang="zh-CN" altLang="en-US" sz="2400">
                <a:latin typeface="等线" panose="02010600030101010101" pitchFamily="2" charset="-122"/>
                <a:ea typeface="等线" panose="02010600030101010101" pitchFamily="2" charset="-122"/>
              </a:rPr>
              <a:t>系统进程被分配一个初始的资源集合，这些资源可以为它独占，也能以最高优先权的资格使用。用户进程通过系统服务请求的手段竞争使用系统资源；</a:t>
            </a:r>
          </a:p>
          <a:p>
            <a:pPr>
              <a:lnSpc>
                <a:spcPct val="150000"/>
              </a:lnSpc>
            </a:pPr>
            <a:r>
              <a:rPr lang="en-US" altLang="zh-CN" sz="2400">
                <a:latin typeface="等线" panose="02010600030101010101" pitchFamily="2" charset="-122"/>
                <a:ea typeface="等线" panose="02010600030101010101" pitchFamily="2" charset="-122"/>
              </a:rPr>
              <a:t>I/O</a:t>
            </a:r>
            <a:r>
              <a:rPr lang="zh-CN" altLang="en-US" sz="2400">
                <a:latin typeface="等线" panose="02010600030101010101" pitchFamily="2" charset="-122"/>
                <a:ea typeface="等线" panose="02010600030101010101" pitchFamily="2" charset="-122"/>
              </a:rPr>
              <a:t>操作</a:t>
            </a:r>
            <a:r>
              <a:rPr lang="en-US" altLang="zh-CN" sz="2400">
                <a:latin typeface="等线" panose="02010600030101010101" pitchFamily="2" charset="-122"/>
                <a:ea typeface="等线" panose="02010600030101010101" pitchFamily="2" charset="-122"/>
              </a:rPr>
              <a:t>:</a:t>
            </a:r>
            <a:r>
              <a:rPr lang="zh-CN" altLang="en-US" sz="2400">
                <a:latin typeface="等线" panose="02010600030101010101" pitchFamily="2" charset="-122"/>
                <a:ea typeface="等线" panose="02010600030101010101" pitchFamily="2" charset="-122"/>
              </a:rPr>
              <a:t>用户进程不能直接做</a:t>
            </a:r>
            <a:r>
              <a:rPr lang="en-US" altLang="zh-CN" sz="2400">
                <a:latin typeface="等线" panose="02010600030101010101" pitchFamily="2" charset="-122"/>
                <a:ea typeface="等线" panose="02010600030101010101" pitchFamily="2" charset="-122"/>
              </a:rPr>
              <a:t>I/O</a:t>
            </a:r>
            <a:r>
              <a:rPr lang="zh-CN" altLang="en-US" sz="2400">
                <a:latin typeface="等线" panose="02010600030101010101" pitchFamily="2" charset="-122"/>
                <a:ea typeface="等线" panose="02010600030101010101" pitchFamily="2" charset="-122"/>
              </a:rPr>
              <a:t>操作，而系统进程可以做显式的、直接的</a:t>
            </a:r>
            <a:r>
              <a:rPr lang="en-US" altLang="zh-CN" sz="2400">
                <a:latin typeface="等线" panose="02010600030101010101" pitchFamily="2" charset="-122"/>
                <a:ea typeface="等线" panose="02010600030101010101" pitchFamily="2" charset="-122"/>
              </a:rPr>
              <a:t>I/O</a:t>
            </a:r>
            <a:r>
              <a:rPr lang="zh-CN" altLang="en-US" sz="2400">
                <a:latin typeface="等线" panose="02010600030101010101" pitchFamily="2" charset="-122"/>
                <a:ea typeface="等线" panose="02010600030101010101" pitchFamily="2" charset="-122"/>
              </a:rPr>
              <a:t>操作。</a:t>
            </a:r>
          </a:p>
          <a:p>
            <a:pPr>
              <a:lnSpc>
                <a:spcPct val="150000"/>
              </a:lnSpc>
            </a:pPr>
            <a:r>
              <a:rPr lang="en-US" altLang="zh-CN" sz="2400">
                <a:latin typeface="等线" panose="02010600030101010101" pitchFamily="2" charset="-122"/>
                <a:ea typeface="等线" panose="02010600030101010101" pitchFamily="2" charset="-122"/>
              </a:rPr>
              <a:t>CPU</a:t>
            </a:r>
            <a:r>
              <a:rPr lang="zh-CN" altLang="en-US" sz="2400">
                <a:latin typeface="等线" panose="02010600030101010101" pitchFamily="2" charset="-122"/>
                <a:ea typeface="等线" panose="02010600030101010101" pitchFamily="2" charset="-122"/>
              </a:rPr>
              <a:t>工作状态</a:t>
            </a:r>
            <a:r>
              <a:rPr lang="en-US" altLang="zh-CN" sz="2400">
                <a:latin typeface="等线" panose="02010600030101010101" pitchFamily="2" charset="-122"/>
                <a:ea typeface="等线" panose="02010600030101010101" pitchFamily="2" charset="-122"/>
              </a:rPr>
              <a:t>:</a:t>
            </a:r>
            <a:r>
              <a:rPr lang="zh-CN" altLang="en-US" sz="2400">
                <a:latin typeface="等线" panose="02010600030101010101" pitchFamily="2" charset="-122"/>
                <a:ea typeface="等线" panose="02010600030101010101" pitchFamily="2" charset="-122"/>
              </a:rPr>
              <a:t>系统进程在管态下活动，而用户进程则在用户态下活动。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a:xfrm>
            <a:off x="457200" y="277813"/>
            <a:ext cx="7226300" cy="576262"/>
          </a:xfrm>
          <a:ln/>
        </p:spPr>
        <p:txBody>
          <a:bodyPr vert="horz" wrap="square" lIns="91440" tIns="45720" rIns="91440" bIns="45720" anchor="b" anchorCtr="0"/>
          <a:lstStyle/>
          <a:p>
            <a:pPr eaLnBrk="1" hangingPunct="1"/>
            <a:r>
              <a:rPr lang="en-US" altLang="zh-CN"/>
              <a:t>Process Concept</a:t>
            </a:r>
          </a:p>
        </p:txBody>
      </p:sp>
      <p:sp>
        <p:nvSpPr>
          <p:cNvPr id="36866" name="Rectangle 3"/>
          <p:cNvSpPr>
            <a:spLocks noGrp="1"/>
          </p:cNvSpPr>
          <p:nvPr>
            <p:ph type="body"/>
          </p:nvPr>
        </p:nvSpPr>
        <p:spPr>
          <a:xfrm>
            <a:off x="806450" y="1246188"/>
            <a:ext cx="7370763" cy="3822700"/>
          </a:xfrm>
          <a:ln/>
        </p:spPr>
        <p:txBody>
          <a:bodyPr vert="horz" wrap="square" lIns="91440" tIns="45720" rIns="91440" bIns="45720" anchor="t" anchorCtr="0"/>
          <a:lstStyle/>
          <a:p>
            <a:r>
              <a:rPr lang="en-US" altLang="zh-CN" sz="2400"/>
              <a:t>A process is related to:</a:t>
            </a:r>
          </a:p>
          <a:p>
            <a:pPr lvl="1"/>
            <a:r>
              <a:rPr lang="en-US" altLang="zh-CN" sz="2400"/>
              <a:t>PCB</a:t>
            </a:r>
          </a:p>
          <a:p>
            <a:pPr lvl="1"/>
            <a:r>
              <a:rPr lang="en-US" altLang="zh-CN" sz="2400"/>
              <a:t>A executable file</a:t>
            </a:r>
          </a:p>
          <a:p>
            <a:pPr lvl="1"/>
            <a:r>
              <a:rPr lang="en-US" altLang="zh-CN" sz="2400"/>
              <a:t>Some state</a:t>
            </a:r>
          </a:p>
          <a:p>
            <a:pPr lvl="1"/>
            <a:r>
              <a:rPr lang="en-US" altLang="zh-CN" sz="2400"/>
              <a:t>A queue (ready, run, waiting)</a:t>
            </a:r>
          </a:p>
          <a:p>
            <a:pPr lvl="1"/>
            <a:r>
              <a:rPr lang="en-US" altLang="zh-CN" sz="2400"/>
              <a:t>Some resources (memory, file, CPU, device)</a:t>
            </a:r>
          </a:p>
          <a:p>
            <a:endParaRPr lang="en-US" altLang="zh-CN"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a:xfrm>
            <a:off x="457200" y="277813"/>
            <a:ext cx="7154863" cy="576262"/>
          </a:xfrm>
          <a:ln/>
        </p:spPr>
        <p:txBody>
          <a:bodyPr vert="horz" wrap="square" lIns="91440" tIns="45720" rIns="91440" bIns="45720" anchor="b" anchorCtr="0"/>
          <a:lstStyle/>
          <a:p>
            <a:pPr eaLnBrk="1" hangingPunct="1"/>
            <a:r>
              <a:rPr lang="en-US" altLang="zh-CN"/>
              <a:t>Process State</a:t>
            </a:r>
          </a:p>
        </p:txBody>
      </p:sp>
      <p:sp>
        <p:nvSpPr>
          <p:cNvPr id="38914" name="Rectangle 3"/>
          <p:cNvSpPr>
            <a:spLocks noGrp="1"/>
          </p:cNvSpPr>
          <p:nvPr>
            <p:ph idx="1"/>
          </p:nvPr>
        </p:nvSpPr>
        <p:spPr>
          <a:xfrm>
            <a:off x="806450" y="1246188"/>
            <a:ext cx="7370763" cy="4457700"/>
          </a:xfrm>
          <a:ln/>
        </p:spPr>
        <p:txBody>
          <a:bodyPr vert="horz" wrap="square" lIns="91440" tIns="45720" rIns="91440" bIns="45720" anchor="t" anchorCtr="0"/>
          <a:lstStyle/>
          <a:p>
            <a:r>
              <a:rPr lang="en-US" altLang="zh-CN" sz="2400"/>
              <a:t>As a process executes, it changes </a:t>
            </a:r>
            <a:r>
              <a:rPr lang="en-US" altLang="zh-CN" sz="2400" i="1"/>
              <a:t>state</a:t>
            </a:r>
            <a:endParaRPr lang="en-US" altLang="zh-CN" sz="2400"/>
          </a:p>
          <a:p>
            <a:pPr lvl="1"/>
            <a:r>
              <a:rPr lang="en-US" altLang="zh-CN" sz="2400" b="1"/>
              <a:t>new</a:t>
            </a:r>
            <a:r>
              <a:rPr lang="en-US" altLang="zh-CN" sz="2400"/>
              <a:t>:  The process is being created</a:t>
            </a:r>
          </a:p>
          <a:p>
            <a:pPr lvl="1"/>
            <a:r>
              <a:rPr lang="en-US" altLang="zh-CN" sz="2400" b="1"/>
              <a:t>running</a:t>
            </a:r>
            <a:r>
              <a:rPr lang="en-US" altLang="zh-CN" sz="2400"/>
              <a:t>:  Instructions are being executed</a:t>
            </a:r>
          </a:p>
          <a:p>
            <a:pPr lvl="1"/>
            <a:r>
              <a:rPr lang="en-US" altLang="zh-CN" sz="2400" b="1"/>
              <a:t>waiting</a:t>
            </a:r>
            <a:r>
              <a:rPr lang="en-US" altLang="zh-CN" sz="2400"/>
              <a:t>:  The process is waiting for some event to occur</a:t>
            </a:r>
          </a:p>
          <a:p>
            <a:pPr lvl="1"/>
            <a:r>
              <a:rPr lang="en-US" altLang="zh-CN" sz="2400" b="1"/>
              <a:t>ready</a:t>
            </a:r>
            <a:r>
              <a:rPr lang="en-US" altLang="zh-CN" sz="2400"/>
              <a:t>:  The process is waiting to be assigned to a processor</a:t>
            </a:r>
          </a:p>
          <a:p>
            <a:pPr lvl="1"/>
            <a:r>
              <a:rPr lang="en-US" altLang="zh-CN" sz="2400" b="1"/>
              <a:t>terminated</a:t>
            </a:r>
            <a:r>
              <a:rPr lang="en-US" altLang="zh-CN" sz="2400"/>
              <a:t>:  The process has finished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type="title"/>
          </p:nvPr>
        </p:nvSpPr>
        <p:spPr>
          <a:ln/>
        </p:spPr>
        <p:txBody>
          <a:bodyPr vert="horz" wrap="square" lIns="91440" tIns="45720" rIns="91440" bIns="45720" anchor="b" anchorCtr="0"/>
          <a:lstStyle/>
          <a:p>
            <a:pPr eaLnBrk="1" hangingPunct="1"/>
            <a:r>
              <a:rPr lang="en-US" altLang="zh-CN"/>
              <a:t>Diagram of Process State</a:t>
            </a:r>
          </a:p>
        </p:txBody>
      </p:sp>
      <p:pic>
        <p:nvPicPr>
          <p:cNvPr id="40962" name="Picture 9"/>
          <p:cNvPicPr>
            <a:picLocks noChangeAspect="1"/>
          </p:cNvPicPr>
          <p:nvPr/>
        </p:nvPicPr>
        <p:blipFill>
          <a:blip r:embed="rId3"/>
          <a:stretch>
            <a:fillRect/>
          </a:stretch>
        </p:blipFill>
        <p:spPr>
          <a:xfrm>
            <a:off x="941388" y="2063750"/>
            <a:ext cx="7550150" cy="30099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ln/>
        </p:spPr>
        <p:txBody>
          <a:bodyPr vert="horz" wrap="square" lIns="91440" tIns="45720" rIns="91440" bIns="45720" anchor="b" anchorCtr="0"/>
          <a:lstStyle/>
          <a:p>
            <a:pPr eaLnBrk="1" hangingPunct="1"/>
            <a:r>
              <a:rPr lang="en-US" altLang="zh-CN"/>
              <a:t>Process Control Block (PCB)</a:t>
            </a:r>
          </a:p>
        </p:txBody>
      </p:sp>
      <p:sp>
        <p:nvSpPr>
          <p:cNvPr id="43010" name="Rectangle 3"/>
          <p:cNvSpPr>
            <a:spLocks noGrp="1"/>
          </p:cNvSpPr>
          <p:nvPr>
            <p:ph idx="1"/>
          </p:nvPr>
        </p:nvSpPr>
        <p:spPr>
          <a:xfrm>
            <a:off x="806450" y="1246188"/>
            <a:ext cx="7369175" cy="3822700"/>
          </a:xfrm>
          <a:ln/>
        </p:spPr>
        <p:txBody>
          <a:bodyPr vert="horz" wrap="square" lIns="91440" tIns="45720" rIns="91440" bIns="45720" anchor="t" anchorCtr="0"/>
          <a:lstStyle/>
          <a:p>
            <a:pPr>
              <a:buNone/>
            </a:pPr>
            <a:r>
              <a:rPr lang="en-US" altLang="zh-CN" sz="2400"/>
              <a:t>Information associated with each process</a:t>
            </a:r>
          </a:p>
          <a:p>
            <a:r>
              <a:rPr lang="en-US" altLang="zh-CN" sz="2400"/>
              <a:t>Process state</a:t>
            </a:r>
          </a:p>
          <a:p>
            <a:r>
              <a:rPr lang="en-US" altLang="zh-CN" sz="2400"/>
              <a:t>Program counter</a:t>
            </a:r>
          </a:p>
          <a:p>
            <a:r>
              <a:rPr lang="en-US" altLang="zh-CN" sz="2400"/>
              <a:t>CPU registers</a:t>
            </a:r>
          </a:p>
          <a:p>
            <a:r>
              <a:rPr lang="en-US" altLang="zh-CN" sz="2400"/>
              <a:t>CPU scheduling information</a:t>
            </a:r>
          </a:p>
          <a:p>
            <a:r>
              <a:rPr lang="en-US" altLang="zh-CN" sz="2400"/>
              <a:t>Memory-management information</a:t>
            </a:r>
          </a:p>
          <a:p>
            <a:r>
              <a:rPr lang="en-US" altLang="zh-CN" sz="2400"/>
              <a:t>Accounting information</a:t>
            </a:r>
          </a:p>
          <a:p>
            <a:r>
              <a:rPr lang="en-US" altLang="zh-CN" sz="2400"/>
              <a:t>I/O status information</a:t>
            </a:r>
          </a:p>
          <a:p>
            <a:endParaRPr lang="zh-CN"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a:ln/>
        </p:spPr>
        <p:txBody>
          <a:bodyPr vert="horz" wrap="square" lIns="91440" tIns="45720" rIns="91440" bIns="45720" anchor="b" anchorCtr="0"/>
          <a:lstStyle/>
          <a:p>
            <a:pPr eaLnBrk="1" hangingPunct="1"/>
            <a:r>
              <a:rPr lang="en-US" altLang="zh-CN"/>
              <a:t>Process Control Block (PCB)</a:t>
            </a:r>
          </a:p>
        </p:txBody>
      </p:sp>
      <p:pic>
        <p:nvPicPr>
          <p:cNvPr id="45058" name="Picture 9"/>
          <p:cNvPicPr>
            <a:picLocks noChangeAspect="1"/>
          </p:cNvPicPr>
          <p:nvPr/>
        </p:nvPicPr>
        <p:blipFill>
          <a:blip r:embed="rId3"/>
          <a:stretch>
            <a:fillRect/>
          </a:stretch>
        </p:blipFill>
        <p:spPr>
          <a:xfrm>
            <a:off x="3105150" y="1239838"/>
            <a:ext cx="3076575" cy="49403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ln/>
        </p:spPr>
        <p:txBody>
          <a:bodyPr vert="horz" wrap="square" lIns="91440" tIns="45720" rIns="91440" bIns="45720" anchor="b" anchorCtr="0"/>
          <a:lstStyle/>
          <a:p>
            <a:pPr eaLnBrk="1" hangingPunct="1"/>
            <a:r>
              <a:rPr lang="en-US" altLang="zh-CN"/>
              <a:t>Process Control Block (PCB)</a:t>
            </a:r>
          </a:p>
        </p:txBody>
      </p:sp>
      <p:sp>
        <p:nvSpPr>
          <p:cNvPr id="47106" name="Rectangle 3"/>
          <p:cNvSpPr>
            <a:spLocks noGrp="1"/>
          </p:cNvSpPr>
          <p:nvPr>
            <p:ph type="body"/>
          </p:nvPr>
        </p:nvSpPr>
        <p:spPr>
          <a:xfrm>
            <a:off x="806450" y="1246188"/>
            <a:ext cx="7369175" cy="3822700"/>
          </a:xfrm>
          <a:ln/>
        </p:spPr>
        <p:txBody>
          <a:bodyPr vert="horz" wrap="square" lIns="91440" tIns="45720" rIns="91440" bIns="45720" anchor="t" anchorCtr="0"/>
          <a:lstStyle/>
          <a:p>
            <a:r>
              <a:rPr lang="en-US" altLang="zh-CN" sz="2400"/>
              <a:t>PCB in Linux</a:t>
            </a:r>
          </a:p>
          <a:p>
            <a:r>
              <a:rPr lang="en-US" altLang="zh-CN" sz="2400"/>
              <a:t>task_struct: PCB of a process</a:t>
            </a:r>
          </a:p>
          <a:p>
            <a:r>
              <a:rPr lang="en-US" altLang="zh-CN" sz="2400"/>
              <a:t>Task array: </a:t>
            </a:r>
          </a:p>
          <a:p>
            <a:r>
              <a:rPr lang="en-US" altLang="zh-CN" sz="2400"/>
              <a:t>       Saves all pointers of task_struct</a:t>
            </a:r>
          </a:p>
          <a:p>
            <a:r>
              <a:rPr lang="en-US" altLang="zh-CN" sz="2400"/>
              <a:t>       default size is 512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type="title"/>
          </p:nvPr>
        </p:nvSpPr>
        <p:spPr>
          <a:ln/>
        </p:spPr>
        <p:txBody>
          <a:bodyPr vert="horz" wrap="square" lIns="91440" tIns="45720" rIns="91440" bIns="45720" anchor="b" anchorCtr="0"/>
          <a:lstStyle/>
          <a:p>
            <a:r>
              <a:rPr lang="en-US" altLang="zh-CN" sz="2800"/>
              <a:t>Process Control Block (PCB)</a:t>
            </a:r>
            <a:endParaRPr lang="zh-CN" altLang="en-US" sz="2800"/>
          </a:p>
        </p:txBody>
      </p:sp>
      <p:sp>
        <p:nvSpPr>
          <p:cNvPr id="49154" name="Rectangle 3"/>
          <p:cNvSpPr>
            <a:spLocks noGrp="1"/>
          </p:cNvSpPr>
          <p:nvPr>
            <p:ph idx="1"/>
          </p:nvPr>
        </p:nvSpPr>
        <p:spPr>
          <a:ln/>
        </p:spPr>
        <p:txBody>
          <a:bodyPr vert="horz" wrap="square" lIns="91440" tIns="45720" rIns="91440" bIns="45720" anchor="t" anchorCtr="0"/>
          <a:lstStyle/>
          <a:p>
            <a:r>
              <a:rPr lang="en-US" altLang="zh-CN" sz="2400"/>
              <a:t>Information in task_struct of Linux</a:t>
            </a:r>
          </a:p>
          <a:p>
            <a:pPr lvl="1"/>
            <a:r>
              <a:rPr lang="en-US" altLang="zh-CN" sz="2400"/>
              <a:t>Id: process id, user id, group id</a:t>
            </a:r>
          </a:p>
          <a:p>
            <a:pPr lvl="1"/>
            <a:r>
              <a:rPr lang="en-US" altLang="zh-CN" sz="2400"/>
              <a:t>State:</a:t>
            </a:r>
          </a:p>
          <a:p>
            <a:pPr lvl="1"/>
            <a:r>
              <a:rPr lang="en-US" altLang="zh-CN" sz="2400"/>
              <a:t>Scheduling information:</a:t>
            </a:r>
          </a:p>
          <a:p>
            <a:pPr lvl="1"/>
            <a:r>
              <a:rPr lang="en-US" altLang="zh-CN" sz="2400"/>
              <a:t>Family information: father, son </a:t>
            </a:r>
          </a:p>
          <a:p>
            <a:pPr lvl="1"/>
            <a:r>
              <a:rPr lang="en-US" altLang="zh-CN" sz="2400"/>
              <a:t>Communication information</a:t>
            </a:r>
          </a:p>
          <a:p>
            <a:pPr lvl="1"/>
            <a:r>
              <a:rPr lang="en-US" altLang="zh-CN" sz="2400"/>
              <a:t>Timer</a:t>
            </a:r>
          </a:p>
          <a:p>
            <a:pPr lvl="1"/>
            <a:r>
              <a:rPr lang="en-US" altLang="zh-CN" sz="2400"/>
              <a:t>file opened</a:t>
            </a:r>
          </a:p>
          <a:p>
            <a:pPr lvl="1"/>
            <a:r>
              <a:rPr lang="en-US" altLang="zh-CN" sz="2400"/>
              <a:t>Context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ln/>
        </p:spPr>
        <p:txBody>
          <a:bodyPr vert="horz" wrap="square" lIns="91440" tIns="45720" rIns="91440" bIns="45720" anchor="b" anchorCtr="0"/>
          <a:lstStyle/>
          <a:p>
            <a:r>
              <a:rPr lang="en-US" altLang="zh-CN" sz="2800"/>
              <a:t>Process Control Block (PCB)</a:t>
            </a:r>
            <a:endParaRPr lang="zh-CN" altLang="en-US" sz="2800"/>
          </a:p>
        </p:txBody>
      </p:sp>
      <p:sp>
        <p:nvSpPr>
          <p:cNvPr id="51202" name="Rectangle 3"/>
          <p:cNvSpPr>
            <a:spLocks noGrp="1"/>
          </p:cNvSpPr>
          <p:nvPr>
            <p:ph idx="1"/>
          </p:nvPr>
        </p:nvSpPr>
        <p:spPr>
          <a:ln/>
        </p:spPr>
        <p:txBody>
          <a:bodyPr vert="horz" wrap="square" lIns="91440" tIns="45720" rIns="91440" bIns="45720" anchor="t" anchorCtr="0"/>
          <a:lstStyle/>
          <a:p>
            <a:r>
              <a:rPr lang="en-US" altLang="zh-CN" sz="2400"/>
              <a:t>Process Scheduling Information in task_struct of Linux</a:t>
            </a:r>
          </a:p>
          <a:p>
            <a:pPr lvl="1"/>
            <a:r>
              <a:rPr lang="en-US" altLang="zh-CN" sz="2400"/>
              <a:t>Policy: realtime or normal </a:t>
            </a:r>
          </a:p>
          <a:p>
            <a:pPr lvl="1"/>
            <a:r>
              <a:rPr lang="en-US" altLang="zh-CN" sz="2400"/>
              <a:t>Priority : the whole time a process can execution</a:t>
            </a:r>
          </a:p>
          <a:p>
            <a:pPr lvl="1"/>
            <a:r>
              <a:rPr lang="en-US" altLang="zh-CN" sz="2400"/>
              <a:t>Rt_priority : the relative priority of a realtime process </a:t>
            </a:r>
          </a:p>
          <a:p>
            <a:pPr lvl="1"/>
            <a:r>
              <a:rPr lang="en-US" altLang="zh-CN" sz="2400"/>
              <a:t>Counter: time a process can execution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ln/>
        </p:spPr>
        <p:txBody>
          <a:bodyPr vert="horz" wrap="square" lIns="91440" tIns="45720" rIns="91440" bIns="45720" anchor="b" anchorCtr="0"/>
          <a:lstStyle/>
          <a:p>
            <a:pPr eaLnBrk="1" hangingPunct="1"/>
            <a:r>
              <a:rPr lang="en-US" altLang="zh-CN"/>
              <a:t>Process Scheduling Queues</a:t>
            </a:r>
          </a:p>
        </p:txBody>
      </p:sp>
      <p:sp>
        <p:nvSpPr>
          <p:cNvPr id="53250" name="Rectangle 3"/>
          <p:cNvSpPr>
            <a:spLocks noGrp="1"/>
          </p:cNvSpPr>
          <p:nvPr>
            <p:ph idx="1"/>
          </p:nvPr>
        </p:nvSpPr>
        <p:spPr>
          <a:xfrm>
            <a:off x="808038" y="1500188"/>
            <a:ext cx="6975475" cy="2446337"/>
          </a:xfrm>
          <a:ln/>
        </p:spPr>
        <p:txBody>
          <a:bodyPr vert="horz" wrap="square" lIns="91440" tIns="45720" rIns="91440" bIns="45720" anchor="t" anchorCtr="0"/>
          <a:lstStyle/>
          <a:p>
            <a:r>
              <a:rPr lang="en-US" altLang="zh-CN" sz="2400" b="1"/>
              <a:t>Job queue</a:t>
            </a:r>
            <a:r>
              <a:rPr lang="en-US" altLang="zh-CN" sz="2400"/>
              <a:t> – set of all processes in the system</a:t>
            </a:r>
          </a:p>
          <a:p>
            <a:r>
              <a:rPr lang="en-US" altLang="zh-CN" sz="2400" b="1"/>
              <a:t>Ready queue </a:t>
            </a:r>
            <a:r>
              <a:rPr lang="en-US" altLang="zh-CN" sz="2400"/>
              <a:t>– set of all processes residing in main memory, ready and waiting to execute</a:t>
            </a:r>
          </a:p>
          <a:p>
            <a:r>
              <a:rPr lang="en-US" altLang="zh-CN" sz="2400" b="1"/>
              <a:t>Device queues </a:t>
            </a:r>
            <a:r>
              <a:rPr lang="en-US" altLang="zh-CN" sz="2400"/>
              <a:t>– set of processes waiting for an I/O device</a:t>
            </a:r>
          </a:p>
          <a:p>
            <a:r>
              <a:rPr lang="en-US" altLang="zh-CN" sz="2400"/>
              <a:t>Processes migrate among the various queues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a:xfrm>
            <a:off x="1136650" y="381000"/>
            <a:ext cx="7983538" cy="457200"/>
          </a:xfrm>
          <a:ln/>
        </p:spPr>
        <p:txBody>
          <a:bodyPr vert="horz" wrap="square" lIns="91440" tIns="45720" rIns="91440" bIns="45720" anchor="b" anchorCtr="0"/>
          <a:lstStyle/>
          <a:p>
            <a:pPr eaLnBrk="1" hangingPunct="1"/>
            <a:r>
              <a:rPr lang="en-US" altLang="zh-CN" sz="2800"/>
              <a:t>Ready Queue And Various I/O Device Queues</a:t>
            </a:r>
          </a:p>
        </p:txBody>
      </p:sp>
      <p:pic>
        <p:nvPicPr>
          <p:cNvPr id="55298" name="Picture 7"/>
          <p:cNvPicPr>
            <a:picLocks noChangeAspect="1"/>
          </p:cNvPicPr>
          <p:nvPr/>
        </p:nvPicPr>
        <p:blipFill>
          <a:blip r:embed="rId3"/>
          <a:stretch>
            <a:fillRect/>
          </a:stretch>
        </p:blipFill>
        <p:spPr>
          <a:xfrm>
            <a:off x="1768475" y="1214438"/>
            <a:ext cx="5822950" cy="5021262"/>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a:xfrm>
            <a:off x="971550" y="277813"/>
            <a:ext cx="8229600" cy="576262"/>
          </a:xfrm>
          <a:ln/>
        </p:spPr>
        <p:txBody>
          <a:bodyPr vert="horz" wrap="square" lIns="91440" tIns="45720" rIns="91440" bIns="45720" anchor="b" anchorCtr="0"/>
          <a:lstStyle/>
          <a:p>
            <a:pPr eaLnBrk="1" hangingPunct="1"/>
            <a:r>
              <a:rPr lang="en-US" altLang="zh-CN"/>
              <a:t>Representation of Process Scheduling</a:t>
            </a:r>
          </a:p>
        </p:txBody>
      </p:sp>
      <p:pic>
        <p:nvPicPr>
          <p:cNvPr id="57346" name="Picture 7"/>
          <p:cNvPicPr>
            <a:picLocks noChangeAspect="1"/>
          </p:cNvPicPr>
          <p:nvPr/>
        </p:nvPicPr>
        <p:blipFill>
          <a:blip r:embed="rId3"/>
          <a:stretch>
            <a:fillRect/>
          </a:stretch>
        </p:blipFill>
        <p:spPr>
          <a:xfrm>
            <a:off x="963613" y="1558925"/>
            <a:ext cx="7192962" cy="4221163"/>
          </a:xfrm>
          <a:prstGeom prst="rect">
            <a:avLst/>
          </a:prstGeom>
          <a:noFill/>
          <a:ln w="9525">
            <a:noFill/>
          </a:ln>
        </p:spPr>
      </p:pic>
      <p:sp>
        <p:nvSpPr>
          <p:cNvPr id="57347" name="Oval 4"/>
          <p:cNvSpPr/>
          <p:nvPr/>
        </p:nvSpPr>
        <p:spPr>
          <a:xfrm>
            <a:off x="247650" y="1023938"/>
            <a:ext cx="914400" cy="9144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sz="1800">
              <a:latin typeface="Verdana" panose="020B0604030504040204" pitchFamily="34" charset="0"/>
            </a:endParaRPr>
          </a:p>
        </p:txBody>
      </p:sp>
      <p:sp>
        <p:nvSpPr>
          <p:cNvPr id="57348" name="Text Box 7"/>
          <p:cNvSpPr txBox="1"/>
          <p:nvPr/>
        </p:nvSpPr>
        <p:spPr>
          <a:xfrm>
            <a:off x="280988" y="1279525"/>
            <a:ext cx="838200" cy="3667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50000"/>
              </a:spcBef>
              <a:buClrTx/>
              <a:buSzTx/>
              <a:buFontTx/>
              <a:buNone/>
            </a:pPr>
            <a:r>
              <a:rPr lang="en-US" altLang="zh-CN" sz="1800" b="1">
                <a:latin typeface="Verdana" panose="020B0604030504040204" pitchFamily="34" charset="0"/>
              </a:rPr>
              <a:t>NEW</a:t>
            </a:r>
          </a:p>
        </p:txBody>
      </p:sp>
      <p:sp>
        <p:nvSpPr>
          <p:cNvPr id="57349" name="Oval 9"/>
          <p:cNvSpPr/>
          <p:nvPr/>
        </p:nvSpPr>
        <p:spPr>
          <a:xfrm>
            <a:off x="6853238" y="1087438"/>
            <a:ext cx="2290762" cy="617537"/>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sz="1800">
              <a:latin typeface="Verdana" panose="020B0604030504040204" pitchFamily="34" charset="0"/>
            </a:endParaRPr>
          </a:p>
        </p:txBody>
      </p:sp>
      <p:sp>
        <p:nvSpPr>
          <p:cNvPr id="57350" name="Text Box 11"/>
          <p:cNvSpPr txBox="1"/>
          <p:nvPr/>
        </p:nvSpPr>
        <p:spPr>
          <a:xfrm>
            <a:off x="7221538" y="1200150"/>
            <a:ext cx="1658937" cy="366713"/>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1800" b="1">
                <a:latin typeface="Verdana" panose="020B0604030504040204" pitchFamily="34" charset="0"/>
              </a:rPr>
              <a:t>Terminated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a:ln/>
        </p:spPr>
        <p:txBody>
          <a:bodyPr vert="horz" wrap="square" lIns="91440" tIns="45720" rIns="91440" bIns="45720" anchor="b" anchorCtr="0"/>
          <a:lstStyle/>
          <a:p>
            <a:pPr eaLnBrk="1" hangingPunct="1"/>
            <a:r>
              <a:rPr lang="en-US" altLang="zh-CN"/>
              <a:t>Schedulers</a:t>
            </a:r>
          </a:p>
        </p:txBody>
      </p:sp>
      <p:sp>
        <p:nvSpPr>
          <p:cNvPr id="59394" name="Rectangle 3"/>
          <p:cNvSpPr>
            <a:spLocks noGrp="1"/>
          </p:cNvSpPr>
          <p:nvPr>
            <p:ph idx="1"/>
          </p:nvPr>
        </p:nvSpPr>
        <p:spPr>
          <a:xfrm>
            <a:off x="806450" y="1447800"/>
            <a:ext cx="7839075" cy="3663950"/>
          </a:xfrm>
          <a:ln/>
        </p:spPr>
        <p:txBody>
          <a:bodyPr vert="horz" wrap="square" lIns="91440" tIns="45720" rIns="91440" bIns="45720" anchor="t" anchorCtr="0"/>
          <a:lstStyle/>
          <a:p>
            <a:r>
              <a:rPr lang="en-US" altLang="zh-CN" sz="2400" b="1">
                <a:solidFill>
                  <a:srgbClr val="000000"/>
                </a:solidFill>
              </a:rPr>
              <a:t>Long-term scheduler</a:t>
            </a:r>
            <a:r>
              <a:rPr lang="en-US" altLang="zh-CN" sz="2400">
                <a:solidFill>
                  <a:srgbClr val="000000"/>
                </a:solidFill>
              </a:rPr>
              <a:t>  </a:t>
            </a:r>
            <a:r>
              <a:rPr lang="en-US" altLang="zh-CN" sz="2400"/>
              <a:t>(or job scheduler) – selects which processes should be brought into the </a:t>
            </a:r>
            <a:r>
              <a:rPr lang="en-US" altLang="zh-CN" sz="2400">
                <a:solidFill>
                  <a:srgbClr val="FF0000"/>
                </a:solidFill>
              </a:rPr>
              <a:t>ready queue </a:t>
            </a:r>
            <a:r>
              <a:rPr lang="zh-CN" altLang="en-US" sz="2400">
                <a:solidFill>
                  <a:srgbClr val="FF0000"/>
                </a:solidFill>
              </a:rPr>
              <a:t>（</a:t>
            </a:r>
            <a:r>
              <a:rPr lang="en-US" altLang="zh-CN" sz="2400">
                <a:solidFill>
                  <a:srgbClr val="FF0000"/>
                </a:solidFill>
              </a:rPr>
              <a:t>memory</a:t>
            </a:r>
            <a:r>
              <a:rPr lang="zh-CN" altLang="en-US" sz="2400">
                <a:solidFill>
                  <a:srgbClr val="FF0000"/>
                </a:solidFill>
              </a:rPr>
              <a:t>）</a:t>
            </a:r>
            <a:endParaRPr lang="en-US" altLang="zh-CN" sz="2400">
              <a:solidFill>
                <a:srgbClr val="FF0000"/>
              </a:solidFill>
            </a:endParaRPr>
          </a:p>
          <a:p>
            <a:r>
              <a:rPr lang="en-US" altLang="zh-CN" sz="2400" b="1">
                <a:solidFill>
                  <a:srgbClr val="000000"/>
                </a:solidFill>
              </a:rPr>
              <a:t>Short-term scheduler</a:t>
            </a:r>
            <a:r>
              <a:rPr lang="en-US" altLang="zh-CN" sz="2400">
                <a:solidFill>
                  <a:srgbClr val="000000"/>
                </a:solidFill>
              </a:rPr>
              <a:t>  </a:t>
            </a:r>
            <a:r>
              <a:rPr lang="en-US" altLang="zh-CN" sz="2400"/>
              <a:t>(or CPU scheduler) – selects which process should be </a:t>
            </a:r>
            <a:r>
              <a:rPr lang="en-US" altLang="zh-CN" sz="2400">
                <a:solidFill>
                  <a:srgbClr val="FF0000"/>
                </a:solidFill>
              </a:rPr>
              <a:t>executed</a:t>
            </a:r>
            <a:r>
              <a:rPr lang="en-US" altLang="zh-CN" sz="2400"/>
              <a:t> next and allocates </a:t>
            </a:r>
            <a:r>
              <a:rPr lang="en-US" altLang="zh-CN" sz="2400">
                <a:solidFill>
                  <a:srgbClr val="FF0000"/>
                </a:solidFill>
              </a:rPr>
              <a:t>CPU</a:t>
            </a:r>
          </a:p>
          <a:p>
            <a:r>
              <a:rPr lang="en-US" altLang="zh-CN" sz="2400"/>
              <a:t>Medium-term scheduling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928688" y="277813"/>
            <a:ext cx="8229600" cy="576262"/>
          </a:xfrm>
          <a:ln/>
        </p:spPr>
        <p:txBody>
          <a:bodyPr vert="horz" wrap="square" lIns="91440" tIns="45720" rIns="91440" bIns="45720" anchor="b" anchorCtr="0"/>
          <a:lstStyle/>
          <a:p>
            <a:pPr eaLnBrk="1" hangingPunct="1"/>
            <a:r>
              <a:rPr lang="en-US" altLang="zh-CN"/>
              <a:t>Addition of Medium Term Scheduling</a:t>
            </a:r>
          </a:p>
        </p:txBody>
      </p:sp>
      <p:pic>
        <p:nvPicPr>
          <p:cNvPr id="61442" name="Picture 11"/>
          <p:cNvPicPr>
            <a:picLocks noChangeAspect="1"/>
          </p:cNvPicPr>
          <p:nvPr/>
        </p:nvPicPr>
        <p:blipFill>
          <a:blip r:embed="rId3"/>
          <a:stretch>
            <a:fillRect/>
          </a:stretch>
        </p:blipFill>
        <p:spPr>
          <a:xfrm>
            <a:off x="1031875" y="2173288"/>
            <a:ext cx="7327900" cy="2663825"/>
          </a:xfrm>
          <a:prstGeom prst="rect">
            <a:avLst/>
          </a:prstGeom>
          <a:noFill/>
          <a:ln w="9525">
            <a:noFill/>
          </a:ln>
        </p:spPr>
      </p:pic>
      <p:sp>
        <p:nvSpPr>
          <p:cNvPr id="43012" name="Oval 4"/>
          <p:cNvSpPr/>
          <p:nvPr/>
        </p:nvSpPr>
        <p:spPr>
          <a:xfrm>
            <a:off x="1528763" y="2005013"/>
            <a:ext cx="6619875" cy="1057275"/>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sz="180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a:ln/>
        </p:spPr>
        <p:txBody>
          <a:bodyPr vert="horz" wrap="square" lIns="91440" tIns="45720" rIns="91440" bIns="45720" anchor="b" anchorCtr="0"/>
          <a:lstStyle/>
          <a:p>
            <a:pPr eaLnBrk="1" hangingPunct="1"/>
            <a:r>
              <a:rPr lang="en-US" altLang="zh-CN"/>
              <a:t>Schedulers (Cont)</a:t>
            </a:r>
          </a:p>
        </p:txBody>
      </p:sp>
      <p:sp>
        <p:nvSpPr>
          <p:cNvPr id="63490" name="Rectangle 3"/>
          <p:cNvSpPr>
            <a:spLocks noGrp="1"/>
          </p:cNvSpPr>
          <p:nvPr>
            <p:ph idx="1"/>
          </p:nvPr>
        </p:nvSpPr>
        <p:spPr>
          <a:xfrm>
            <a:off x="806450" y="1233488"/>
            <a:ext cx="7385050" cy="4530725"/>
          </a:xfrm>
          <a:ln/>
        </p:spPr>
        <p:txBody>
          <a:bodyPr vert="horz" wrap="square" lIns="91440" tIns="45720" rIns="91440" bIns="45720" anchor="t" anchorCtr="0"/>
          <a:lstStyle/>
          <a:p>
            <a:r>
              <a:rPr lang="en-US" altLang="zh-CN" sz="2400"/>
              <a:t>Short-term scheduler is invoked very frequently (</a:t>
            </a:r>
            <a:r>
              <a:rPr lang="en-US" altLang="zh-CN" sz="2400">
                <a:solidFill>
                  <a:srgbClr val="FF0000"/>
                </a:solidFill>
              </a:rPr>
              <a:t>milliseconds</a:t>
            </a:r>
            <a:r>
              <a:rPr lang="en-US" altLang="zh-CN" sz="2400"/>
              <a:t>) </a:t>
            </a:r>
            <a:r>
              <a:rPr lang="en-US" altLang="zh-CN" sz="2400">
                <a:sym typeface="Symbol" panose="05050102010706020507" pitchFamily="18" charset="2"/>
              </a:rPr>
              <a:t> (must be fast)</a:t>
            </a:r>
          </a:p>
          <a:p>
            <a:r>
              <a:rPr lang="en-US" altLang="zh-CN" sz="2400">
                <a:sym typeface="Symbol" panose="05050102010706020507" pitchFamily="18" charset="2"/>
              </a:rPr>
              <a:t>Long-term scheduler is invoked very infrequently (</a:t>
            </a:r>
            <a:r>
              <a:rPr lang="en-US" altLang="zh-CN" sz="2400">
                <a:solidFill>
                  <a:srgbClr val="FF0000"/>
                </a:solidFill>
                <a:sym typeface="Symbol" panose="05050102010706020507" pitchFamily="18" charset="2"/>
              </a:rPr>
              <a:t>seconds</a:t>
            </a:r>
            <a:r>
              <a:rPr lang="en-US" altLang="zh-CN" sz="2400">
                <a:sym typeface="Symbol" panose="05050102010706020507" pitchFamily="18" charset="2"/>
              </a:rPr>
              <a:t>, </a:t>
            </a:r>
            <a:r>
              <a:rPr lang="en-US" altLang="zh-CN" sz="2400">
                <a:solidFill>
                  <a:srgbClr val="FF0000"/>
                </a:solidFill>
                <a:sym typeface="Symbol" panose="05050102010706020507" pitchFamily="18" charset="2"/>
              </a:rPr>
              <a:t>minutes</a:t>
            </a:r>
            <a:r>
              <a:rPr lang="en-US" altLang="zh-CN" sz="2400">
                <a:sym typeface="Symbol" panose="05050102010706020507" pitchFamily="18" charset="2"/>
              </a:rPr>
              <a:t>)  (may be slow)</a:t>
            </a:r>
          </a:p>
          <a:p>
            <a:r>
              <a:rPr lang="en-US" altLang="zh-CN" sz="2400">
                <a:sym typeface="Symbol" panose="05050102010706020507" pitchFamily="18" charset="2"/>
              </a:rPr>
              <a:t>The long-term scheduler controls the </a:t>
            </a:r>
            <a:r>
              <a:rPr lang="en-US" altLang="zh-CN" sz="2400" i="1">
                <a:solidFill>
                  <a:srgbClr val="FF0000"/>
                </a:solidFill>
                <a:sym typeface="Symbol" panose="05050102010706020507" pitchFamily="18" charset="2"/>
              </a:rPr>
              <a:t>degree</a:t>
            </a:r>
            <a:r>
              <a:rPr lang="en-US" altLang="zh-CN" sz="2400" i="1">
                <a:sym typeface="Symbol" panose="05050102010706020507" pitchFamily="18" charset="2"/>
              </a:rPr>
              <a:t> of multiprogramming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a:ln/>
        </p:spPr>
        <p:txBody>
          <a:bodyPr vert="horz" wrap="square" lIns="91440" tIns="45720" rIns="91440" bIns="45720" anchor="b" anchorCtr="0"/>
          <a:lstStyle/>
          <a:p>
            <a:r>
              <a:rPr lang="en-US" altLang="zh-CN" sz="2800"/>
              <a:t>Schedulers (Cont)</a:t>
            </a:r>
            <a:endParaRPr lang="zh-CN" altLang="en-US" sz="2800"/>
          </a:p>
        </p:txBody>
      </p:sp>
      <p:sp>
        <p:nvSpPr>
          <p:cNvPr id="65538" name="Rectangle 3"/>
          <p:cNvSpPr>
            <a:spLocks noGrp="1"/>
          </p:cNvSpPr>
          <p:nvPr>
            <p:ph idx="1"/>
          </p:nvPr>
        </p:nvSpPr>
        <p:spPr>
          <a:ln/>
        </p:spPr>
        <p:txBody>
          <a:bodyPr vert="horz" wrap="square" lIns="91440" tIns="45720" rIns="91440" bIns="45720" anchor="t" anchorCtr="0"/>
          <a:lstStyle/>
          <a:p>
            <a:r>
              <a:rPr lang="en-US" altLang="zh-CN" sz="2400">
                <a:sym typeface="Symbol" panose="05050102010706020507" pitchFamily="18" charset="2"/>
              </a:rPr>
              <a:t>Processes can be described as either:</a:t>
            </a:r>
          </a:p>
          <a:p>
            <a:pPr lvl="1"/>
            <a:r>
              <a:rPr lang="en-US" altLang="zh-CN" sz="2400" b="1">
                <a:solidFill>
                  <a:srgbClr val="000000"/>
                </a:solidFill>
                <a:sym typeface="Symbol" panose="05050102010706020507" pitchFamily="18" charset="2"/>
              </a:rPr>
              <a:t>I/O-bound process</a:t>
            </a:r>
            <a:r>
              <a:rPr lang="en-US" altLang="zh-CN" sz="2400">
                <a:solidFill>
                  <a:srgbClr val="000000"/>
                </a:solidFill>
                <a:sym typeface="Symbol" panose="05050102010706020507" pitchFamily="18" charset="2"/>
              </a:rPr>
              <a:t> </a:t>
            </a:r>
            <a:r>
              <a:rPr lang="en-US" altLang="zh-CN" sz="2400">
                <a:sym typeface="Symbol" panose="05050102010706020507" pitchFamily="18" charset="2"/>
              </a:rPr>
              <a:t>– spends more time doing I/O than computations, many short CPU bursts</a:t>
            </a:r>
          </a:p>
          <a:p>
            <a:pPr lvl="1"/>
            <a:r>
              <a:rPr lang="en-US" altLang="zh-CN" sz="2400" b="1">
                <a:solidFill>
                  <a:srgbClr val="000000"/>
                </a:solidFill>
                <a:sym typeface="Symbol" panose="05050102010706020507" pitchFamily="18" charset="2"/>
              </a:rPr>
              <a:t>CPU-bound process</a:t>
            </a:r>
            <a:r>
              <a:rPr lang="en-US" altLang="zh-CN" sz="2400">
                <a:solidFill>
                  <a:srgbClr val="000000"/>
                </a:solidFill>
                <a:sym typeface="Symbol" panose="05050102010706020507" pitchFamily="18" charset="2"/>
              </a:rPr>
              <a:t> </a:t>
            </a:r>
            <a:r>
              <a:rPr lang="en-US" altLang="zh-CN" sz="2400">
                <a:sym typeface="Symbol" panose="05050102010706020507" pitchFamily="18" charset="2"/>
              </a:rPr>
              <a:t>– spends more time doing computations; few very long CPU bursts</a:t>
            </a:r>
          </a:p>
          <a:p>
            <a:pPr eaLnBrk="1" hangingPunct="1"/>
            <a:r>
              <a:rPr lang="en-US" altLang="zh-CN" sz="2400">
                <a:sym typeface="Symbol" panose="05050102010706020507" pitchFamily="18" charset="2"/>
              </a:rPr>
              <a:t>Long-term scheduler controls the process </a:t>
            </a:r>
            <a:r>
              <a:rPr lang="en-US" altLang="zh-CN" sz="2400">
                <a:solidFill>
                  <a:srgbClr val="FF0000"/>
                </a:solidFill>
                <a:sym typeface="Symbol" panose="05050102010706020507" pitchFamily="18" charset="2"/>
              </a:rPr>
              <a:t>mix</a:t>
            </a:r>
            <a:r>
              <a:rPr lang="en-US" altLang="zh-CN" sz="2400">
                <a:sym typeface="Symbol" panose="05050102010706020507" pitchFamily="18" charset="2"/>
              </a:rPr>
              <a:t> of I/O-bound process and CPU-bound process</a:t>
            </a:r>
            <a:endParaRPr lang="zh-CN" altLang="zh-CN" sz="2400">
              <a:sym typeface="Symbol" panose="05050102010706020507" pitchFamily="18" charset="2"/>
            </a:endParaRPr>
          </a:p>
          <a:p>
            <a:endParaRPr lang="zh-CN"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p:nvPr>
        </p:nvSpPr>
        <p:spPr>
          <a:ln/>
        </p:spPr>
        <p:txBody>
          <a:bodyPr vert="horz" wrap="square" lIns="91440" tIns="45720" rIns="91440" bIns="45720" anchor="b" anchorCtr="0"/>
          <a:lstStyle/>
          <a:p>
            <a:r>
              <a:rPr lang="en-US" altLang="zh-CN" sz="2800"/>
              <a:t>Context Switch</a:t>
            </a:r>
            <a:endParaRPr lang="zh-CN" altLang="en-US" sz="2800"/>
          </a:p>
        </p:txBody>
      </p:sp>
      <p:sp>
        <p:nvSpPr>
          <p:cNvPr id="66562" name="Rectangle 3"/>
          <p:cNvSpPr>
            <a:spLocks noGrp="1"/>
          </p:cNvSpPr>
          <p:nvPr>
            <p:ph idx="1"/>
          </p:nvPr>
        </p:nvSpPr>
        <p:spPr>
          <a:xfrm>
            <a:off x="806450" y="1233488"/>
            <a:ext cx="7983538" cy="4530725"/>
          </a:xfrm>
          <a:ln/>
        </p:spPr>
        <p:txBody>
          <a:bodyPr vert="horz" wrap="square" lIns="91440" tIns="45720" rIns="91440" bIns="45720" anchor="t" anchorCtr="0"/>
          <a:lstStyle/>
          <a:p>
            <a:r>
              <a:rPr lang="en-US" altLang="zh-CN" sz="2400"/>
              <a:t>When CPU switches to another process, the system must save the state of the old process and load the saved state for the new process via a </a:t>
            </a:r>
            <a:r>
              <a:rPr lang="en-US" altLang="zh-CN" sz="2400">
                <a:solidFill>
                  <a:srgbClr val="3366FF"/>
                </a:solidFill>
              </a:rPr>
              <a:t>context switch</a:t>
            </a:r>
          </a:p>
          <a:p>
            <a:r>
              <a:rPr lang="en-US" altLang="zh-CN" sz="2400">
                <a:solidFill>
                  <a:srgbClr val="3366FF"/>
                </a:solidFill>
              </a:rPr>
              <a:t>Context </a:t>
            </a:r>
            <a:r>
              <a:rPr lang="en-US" altLang="zh-CN" sz="2400"/>
              <a:t>of a process represented in the PCB, it includes:</a:t>
            </a:r>
          </a:p>
          <a:p>
            <a:pPr lvl="1"/>
            <a:r>
              <a:rPr lang="en-US" altLang="zh-CN" sz="2400"/>
              <a:t>The values of CPU </a:t>
            </a:r>
            <a:r>
              <a:rPr lang="en-US" altLang="zh-CN" sz="2400">
                <a:solidFill>
                  <a:srgbClr val="FF0000"/>
                </a:solidFill>
              </a:rPr>
              <a:t>registers</a:t>
            </a:r>
          </a:p>
          <a:p>
            <a:pPr lvl="1"/>
            <a:r>
              <a:rPr lang="en-US" altLang="zh-CN" sz="2400"/>
              <a:t>The </a:t>
            </a:r>
            <a:r>
              <a:rPr lang="en-US" altLang="zh-CN" sz="2400">
                <a:solidFill>
                  <a:srgbClr val="FF0000"/>
                </a:solidFill>
              </a:rPr>
              <a:t>process</a:t>
            </a:r>
            <a:r>
              <a:rPr lang="en-US" altLang="zh-CN" sz="2400"/>
              <a:t> </a:t>
            </a:r>
            <a:r>
              <a:rPr lang="en-US" altLang="zh-CN" sz="2400">
                <a:solidFill>
                  <a:srgbClr val="FF0000"/>
                </a:solidFill>
              </a:rPr>
              <a:t>state</a:t>
            </a:r>
          </a:p>
          <a:p>
            <a:pPr lvl="1"/>
            <a:r>
              <a:rPr lang="en-US" altLang="zh-CN" sz="2400">
                <a:solidFill>
                  <a:srgbClr val="FF0000"/>
                </a:solidFill>
              </a:rPr>
              <a:t>Memory-management</a:t>
            </a:r>
            <a:r>
              <a:rPr lang="en-US" altLang="zh-CN" sz="2400"/>
              <a:t> information</a:t>
            </a:r>
          </a:p>
          <a:p>
            <a:endParaRPr lang="zh-CN" altLang="en-US" sz="1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p:nvPr>
        </p:nvSpPr>
        <p:spPr>
          <a:ln/>
        </p:spPr>
        <p:txBody>
          <a:bodyPr vert="horz" wrap="square" lIns="91440" tIns="45720" rIns="91440" bIns="45720" anchor="b" anchorCtr="0"/>
          <a:lstStyle/>
          <a:p>
            <a:r>
              <a:rPr lang="en-US" altLang="zh-CN" sz="2800"/>
              <a:t>Context Switch</a:t>
            </a:r>
            <a:endParaRPr lang="zh-CN" altLang="en-US" sz="2800"/>
          </a:p>
        </p:txBody>
      </p:sp>
      <p:sp>
        <p:nvSpPr>
          <p:cNvPr id="68610" name="Rectangle 3"/>
          <p:cNvSpPr>
            <a:spLocks noGrp="1"/>
          </p:cNvSpPr>
          <p:nvPr>
            <p:ph idx="1"/>
          </p:nvPr>
        </p:nvSpPr>
        <p:spPr>
          <a:xfrm>
            <a:off x="457200" y="979488"/>
            <a:ext cx="7983538" cy="4530725"/>
          </a:xfrm>
          <a:ln/>
        </p:spPr>
        <p:txBody>
          <a:bodyPr vert="horz" wrap="square" lIns="91440" tIns="45720" rIns="91440" bIns="45720" anchor="t" anchorCtr="0"/>
          <a:lstStyle/>
          <a:p>
            <a:pPr eaLnBrk="1" hangingPunct="1">
              <a:lnSpc>
                <a:spcPct val="130000"/>
              </a:lnSpc>
            </a:pPr>
            <a:r>
              <a:rPr lang="en-US" altLang="zh-CN" sz="2800">
                <a:latin typeface="等线" panose="02010600030101010101" pitchFamily="2" charset="-122"/>
                <a:ea typeface="等线" panose="02010600030101010101" pitchFamily="2" charset="-122"/>
              </a:rPr>
              <a:t>context</a:t>
            </a:r>
            <a:r>
              <a:rPr lang="zh-CN" altLang="en-US" sz="2800">
                <a:latin typeface="等线" panose="02010600030101010101" pitchFamily="2" charset="-122"/>
                <a:ea typeface="等线" panose="02010600030101010101" pitchFamily="2" charset="-122"/>
              </a:rPr>
              <a:t>由进程的用户</a:t>
            </a:r>
            <a:r>
              <a:rPr lang="zh-CN" altLang="en-US" sz="2800">
                <a:solidFill>
                  <a:srgbClr val="FF0000"/>
                </a:solidFill>
                <a:latin typeface="等线" panose="02010600030101010101" pitchFamily="2" charset="-122"/>
                <a:ea typeface="等线" panose="02010600030101010101" pitchFamily="2" charset="-122"/>
              </a:rPr>
              <a:t>地址空间内容</a:t>
            </a:r>
            <a:r>
              <a:rPr lang="zh-CN" altLang="en-US" sz="2800">
                <a:latin typeface="等线" panose="02010600030101010101" pitchFamily="2" charset="-122"/>
                <a:ea typeface="等线" panose="02010600030101010101" pitchFamily="2" charset="-122"/>
              </a:rPr>
              <a:t>、硬件</a:t>
            </a:r>
            <a:r>
              <a:rPr lang="zh-CN" altLang="en-US" sz="2800">
                <a:solidFill>
                  <a:srgbClr val="FF0000"/>
                </a:solidFill>
                <a:latin typeface="等线" panose="02010600030101010101" pitchFamily="2" charset="-122"/>
                <a:ea typeface="等线" panose="02010600030101010101" pitchFamily="2" charset="-122"/>
              </a:rPr>
              <a:t>寄存器内容</a:t>
            </a:r>
            <a:r>
              <a:rPr lang="zh-CN" altLang="en-US" sz="2800">
                <a:latin typeface="等线" panose="02010600030101010101" pitchFamily="2" charset="-122"/>
                <a:ea typeface="等线" panose="02010600030101010101" pitchFamily="2" charset="-122"/>
              </a:rPr>
              <a:t>及与该进程相关的</a:t>
            </a:r>
            <a:r>
              <a:rPr lang="zh-CN" altLang="en-US" sz="2800">
                <a:solidFill>
                  <a:srgbClr val="FF0000"/>
                </a:solidFill>
                <a:latin typeface="等线" panose="02010600030101010101" pitchFamily="2" charset="-122"/>
                <a:ea typeface="等线" panose="02010600030101010101" pitchFamily="2" charset="-122"/>
              </a:rPr>
              <a:t>核心数据结构</a:t>
            </a:r>
            <a:r>
              <a:rPr lang="zh-CN" altLang="en-US" sz="2800">
                <a:latin typeface="等线" panose="02010600030101010101" pitchFamily="2" charset="-122"/>
                <a:ea typeface="等线" panose="02010600030101010101" pitchFamily="2" charset="-122"/>
              </a:rPr>
              <a:t>组成</a:t>
            </a:r>
          </a:p>
          <a:p>
            <a:pPr lvl="1" eaLnBrk="1" hangingPunct="1">
              <a:lnSpc>
                <a:spcPct val="130000"/>
              </a:lnSpc>
            </a:pPr>
            <a:r>
              <a:rPr lang="zh-CN" altLang="en-US" sz="2400">
                <a:latin typeface="等线" panose="02010600030101010101" pitchFamily="2" charset="-122"/>
                <a:ea typeface="等线" panose="02010600030101010101" pitchFamily="2" charset="-122"/>
              </a:rPr>
              <a:t>用户级上下文：进程的用户地址空间（包括用户栈各层次），包括用户正文段、用户数据段和用户栈</a:t>
            </a:r>
          </a:p>
          <a:p>
            <a:pPr lvl="1" eaLnBrk="1" hangingPunct="1">
              <a:lnSpc>
                <a:spcPct val="130000"/>
              </a:lnSpc>
            </a:pPr>
            <a:r>
              <a:rPr lang="zh-CN" altLang="en-US" sz="2400">
                <a:latin typeface="等线" panose="02010600030101010101" pitchFamily="2" charset="-122"/>
                <a:ea typeface="等线" panose="02010600030101010101" pitchFamily="2" charset="-122"/>
              </a:rPr>
              <a:t>寄存器级上下文：程序计数器、程序状态寄存器、栈指针、通用寄存器的值</a:t>
            </a:r>
          </a:p>
          <a:p>
            <a:pPr lvl="1" eaLnBrk="1" hangingPunct="1">
              <a:lnSpc>
                <a:spcPct val="130000"/>
              </a:lnSpc>
            </a:pPr>
            <a:r>
              <a:rPr lang="zh-CN" altLang="en-US" sz="2400">
                <a:latin typeface="等线" panose="02010600030101010101" pitchFamily="2" charset="-122"/>
                <a:ea typeface="等线" panose="02010600030101010101" pitchFamily="2" charset="-122"/>
              </a:rPr>
              <a:t>系统级上下文：</a:t>
            </a:r>
          </a:p>
          <a:p>
            <a:pPr lvl="2" eaLnBrk="1" hangingPunct="1">
              <a:lnSpc>
                <a:spcPct val="130000"/>
              </a:lnSpc>
            </a:pPr>
            <a:r>
              <a:rPr lang="zh-CN" altLang="en-US" sz="2000">
                <a:latin typeface="等线" panose="02010600030101010101" pitchFamily="2" charset="-122"/>
                <a:ea typeface="等线" panose="02010600030101010101" pitchFamily="2" charset="-122"/>
              </a:rPr>
              <a:t>静态部分（</a:t>
            </a:r>
            <a:r>
              <a:rPr lang="en-US" altLang="zh-CN" sz="2000">
                <a:latin typeface="等线" panose="02010600030101010101" pitchFamily="2" charset="-122"/>
                <a:ea typeface="等线" panose="02010600030101010101" pitchFamily="2" charset="-122"/>
              </a:rPr>
              <a:t>PCB</a:t>
            </a:r>
            <a:r>
              <a:rPr lang="zh-CN" altLang="en-US" sz="2000">
                <a:latin typeface="等线" panose="02010600030101010101" pitchFamily="2" charset="-122"/>
                <a:ea typeface="等线" panose="02010600030101010101" pitchFamily="2" charset="-122"/>
              </a:rPr>
              <a:t>和资源表格）</a:t>
            </a:r>
          </a:p>
          <a:p>
            <a:pPr lvl="2" eaLnBrk="1" hangingPunct="1">
              <a:lnSpc>
                <a:spcPct val="130000"/>
              </a:lnSpc>
            </a:pPr>
            <a:r>
              <a:rPr lang="zh-CN" altLang="en-US" sz="2000">
                <a:latin typeface="等线" panose="02010600030101010101" pitchFamily="2" charset="-122"/>
                <a:ea typeface="等线" panose="02010600030101010101" pitchFamily="2" charset="-122"/>
              </a:rPr>
              <a:t>动态部分：核心栈（核心过程的栈结构，</a:t>
            </a:r>
            <a:r>
              <a:rPr lang="zh-CN" altLang="en-US" sz="2000">
                <a:solidFill>
                  <a:srgbClr val="FF0000"/>
                </a:solidFill>
                <a:latin typeface="等线" panose="02010600030101010101" pitchFamily="2" charset="-122"/>
                <a:ea typeface="等线" panose="02010600030101010101" pitchFamily="2" charset="-122"/>
              </a:rPr>
              <a:t>不同进程在调用相同核心过程时有不同核心栈</a:t>
            </a:r>
            <a:r>
              <a:rPr lang="zh-CN" altLang="en-US" sz="2000">
                <a:latin typeface="等线" panose="02010600030101010101" pitchFamily="2" charset="-122"/>
                <a:ea typeface="等线" panose="02010600030101010101" pitchFamily="2" charset="-122"/>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p:nvPr>
        </p:nvSpPr>
        <p:spPr>
          <a:xfrm>
            <a:off x="900113" y="277813"/>
            <a:ext cx="8229600" cy="576262"/>
          </a:xfrm>
          <a:ln/>
        </p:spPr>
        <p:txBody>
          <a:bodyPr vert="horz" wrap="square" lIns="91440" tIns="45720" rIns="91440" bIns="45720" anchor="b" anchorCtr="0"/>
          <a:lstStyle/>
          <a:p>
            <a:pPr eaLnBrk="1" hangingPunct="1"/>
            <a:r>
              <a:rPr lang="en-US" altLang="zh-CN"/>
              <a:t>CPU Switch From Process to Process</a:t>
            </a:r>
          </a:p>
        </p:txBody>
      </p:sp>
      <p:pic>
        <p:nvPicPr>
          <p:cNvPr id="70658" name="Picture 9"/>
          <p:cNvPicPr>
            <a:picLocks noChangeAspect="1"/>
          </p:cNvPicPr>
          <p:nvPr/>
        </p:nvPicPr>
        <p:blipFill>
          <a:blip r:embed="rId3"/>
          <a:stretch>
            <a:fillRect/>
          </a:stretch>
        </p:blipFill>
        <p:spPr>
          <a:xfrm>
            <a:off x="1384300" y="1373188"/>
            <a:ext cx="6969125" cy="467995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p:nvPr>
        </p:nvSpPr>
        <p:spPr>
          <a:ln/>
        </p:spPr>
        <p:txBody>
          <a:bodyPr vert="horz" wrap="square" lIns="91440" tIns="45720" rIns="91440" bIns="45720" anchor="b" anchorCtr="0"/>
          <a:lstStyle/>
          <a:p>
            <a:r>
              <a:rPr lang="en-US" altLang="zh-CN"/>
              <a:t>Context Switch</a:t>
            </a:r>
            <a:endParaRPr lang="zh-CN" altLang="en-US"/>
          </a:p>
        </p:txBody>
      </p:sp>
      <p:sp>
        <p:nvSpPr>
          <p:cNvPr id="72706" name="Rectangle 3"/>
          <p:cNvSpPr>
            <a:spLocks noGrp="1"/>
          </p:cNvSpPr>
          <p:nvPr>
            <p:ph idx="1"/>
          </p:nvPr>
        </p:nvSpPr>
        <p:spPr>
          <a:ln/>
        </p:spPr>
        <p:txBody>
          <a:bodyPr vert="horz" wrap="square" lIns="91440" tIns="45720" rIns="91440" bIns="45720" anchor="t" anchorCtr="0"/>
          <a:lstStyle/>
          <a:p>
            <a:r>
              <a:rPr lang="en-US" altLang="zh-CN" sz="2400"/>
              <a:t>Context-switch time is </a:t>
            </a:r>
            <a:r>
              <a:rPr lang="en-US" altLang="zh-CN" sz="2400">
                <a:solidFill>
                  <a:srgbClr val="FF0000"/>
                </a:solidFill>
              </a:rPr>
              <a:t>overhead</a:t>
            </a:r>
            <a:r>
              <a:rPr lang="en-US" altLang="zh-CN" sz="2400"/>
              <a:t>; the system does no useful work while switching</a:t>
            </a:r>
          </a:p>
          <a:p>
            <a:r>
              <a:rPr lang="en-US" altLang="zh-CN" sz="2400"/>
              <a:t>Time dependent on hardware support</a:t>
            </a:r>
          </a:p>
          <a:p>
            <a:pPr lvl="1"/>
            <a:r>
              <a:rPr lang="en-US" altLang="zh-CN" sz="2400"/>
              <a:t>Memory speed</a:t>
            </a:r>
          </a:p>
          <a:p>
            <a:pPr lvl="1"/>
            <a:r>
              <a:rPr lang="en-US" altLang="zh-CN" sz="2400"/>
              <a:t>The number of registers that must be copied</a:t>
            </a:r>
          </a:p>
          <a:p>
            <a:pPr lvl="2"/>
            <a:r>
              <a:rPr lang="en-US" altLang="zh-CN"/>
              <a:t>E.g. Some processors ( such as the Sun UltraSPARC)  provides multiple sets of registers, a context switch simply includes changing the pointer to the current register sets   </a:t>
            </a:r>
          </a:p>
          <a:p>
            <a:pPr lvl="1"/>
            <a:r>
              <a:rPr lang="en-US" altLang="zh-CN" sz="2400"/>
              <a:t>Typical speed: 1-1000ms</a:t>
            </a:r>
          </a:p>
          <a:p>
            <a:endParaRPr lang="zh-CN"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ln/>
        </p:spPr>
        <p:txBody>
          <a:bodyPr vert="horz" wrap="square" lIns="91440" tIns="45720" rIns="91440" bIns="45720" anchor="b" anchorCtr="0"/>
          <a:lstStyle/>
          <a:p>
            <a:r>
              <a:rPr lang="en-US" altLang="zh-CN"/>
              <a:t>Context Switch</a:t>
            </a:r>
            <a:endParaRPr lang="zh-CN" altLang="en-US"/>
          </a:p>
        </p:txBody>
      </p:sp>
      <p:sp>
        <p:nvSpPr>
          <p:cNvPr id="73730" name="Rectangle 3"/>
          <p:cNvSpPr>
            <a:spLocks noGrp="1"/>
          </p:cNvSpPr>
          <p:nvPr>
            <p:ph idx="1"/>
          </p:nvPr>
        </p:nvSpPr>
        <p:spPr>
          <a:xfrm>
            <a:off x="655638" y="1233488"/>
            <a:ext cx="8067675" cy="4530725"/>
          </a:xfrm>
          <a:ln/>
        </p:spPr>
        <p:txBody>
          <a:bodyPr vert="horz" wrap="square" lIns="91440" tIns="45720" rIns="91440" bIns="45720" anchor="t" anchorCtr="0"/>
          <a:lstStyle/>
          <a:p>
            <a:r>
              <a:rPr lang="en-US" altLang="zh-CN" sz="2400"/>
              <a:t>Process context switch in Linux: </a:t>
            </a:r>
          </a:p>
          <a:p>
            <a:pPr lvl="1"/>
            <a:r>
              <a:rPr lang="en-US" altLang="zh-CN" sz="2400"/>
              <a:t>Saving user data</a:t>
            </a:r>
          </a:p>
          <a:p>
            <a:pPr lvl="2"/>
            <a:r>
              <a:rPr lang="en-US" altLang="zh-CN"/>
              <a:t>Code, data, stack, shared memory</a:t>
            </a:r>
          </a:p>
          <a:p>
            <a:pPr lvl="1"/>
            <a:r>
              <a:rPr lang="en-US" altLang="zh-CN" sz="2400"/>
              <a:t>Saving Register data</a:t>
            </a:r>
          </a:p>
          <a:p>
            <a:pPr lvl="2"/>
            <a:r>
              <a:rPr lang="en-US" altLang="zh-CN"/>
              <a:t>PC\PSW\SP(Stack Pointer)\PCBP(PCB</a:t>
            </a:r>
            <a:r>
              <a:rPr lang="zh-CN" altLang="en-US"/>
              <a:t>指针</a:t>
            </a:r>
            <a:r>
              <a:rPr lang="en-US" altLang="zh-CN"/>
              <a:t>)\ISP(</a:t>
            </a:r>
            <a:r>
              <a:rPr lang="zh-CN" altLang="en-US"/>
              <a:t>中断栈指针</a:t>
            </a:r>
            <a:r>
              <a:rPr lang="en-US" altLang="zh-CN"/>
              <a:t>)</a:t>
            </a:r>
          </a:p>
          <a:p>
            <a:pPr lvl="1"/>
            <a:r>
              <a:rPr lang="en-US" altLang="zh-CN" sz="2400"/>
              <a:t>Saving memory management information</a:t>
            </a:r>
          </a:p>
          <a:p>
            <a:pPr lvl="2"/>
            <a:r>
              <a:rPr lang="en-US" altLang="zh-CN"/>
              <a:t>Virtual memory management data, e.g. Page table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1</a:t>
            </a:r>
          </a:p>
        </p:txBody>
      </p:sp>
      <p:sp>
        <p:nvSpPr>
          <p:cNvPr id="74754" name="Rectangle 3"/>
          <p:cNvSpPr txBox="1"/>
          <p:nvPr/>
        </p:nvSpPr>
        <p:spPr>
          <a:xfrm>
            <a:off x="457200" y="1233488"/>
            <a:ext cx="8229600"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t>下列各项步骤中，哪一个不是创建进程所必须的步骤？</a:t>
            </a:r>
            <a:endParaRPr lang="en-US" altLang="zh-CN" sz="2400"/>
          </a:p>
        </p:txBody>
      </p:sp>
      <p:sp>
        <p:nvSpPr>
          <p:cNvPr id="74755" name="Rectangle 3"/>
          <p:cNvSpPr txBox="1"/>
          <p:nvPr/>
        </p:nvSpPr>
        <p:spPr>
          <a:xfrm>
            <a:off x="914400" y="2105025"/>
            <a:ext cx="5627688" cy="833438"/>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t>A.</a:t>
            </a:r>
            <a:r>
              <a:rPr lang="zh-CN" altLang="en-US" sz="2400"/>
              <a:t> 建立一个进程控制块</a:t>
            </a:r>
            <a:r>
              <a:rPr lang="en-US" altLang="zh-CN" sz="2400"/>
              <a:t>PCB</a:t>
            </a:r>
          </a:p>
        </p:txBody>
      </p:sp>
      <p:sp>
        <p:nvSpPr>
          <p:cNvPr id="5" name="Rectangle 3"/>
          <p:cNvSpPr txBox="1"/>
          <p:nvPr/>
        </p:nvSpPr>
        <p:spPr>
          <a:xfrm>
            <a:off x="914400" y="2713038"/>
            <a:ext cx="5627688" cy="833437"/>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t>B.</a:t>
            </a:r>
            <a:r>
              <a:rPr lang="zh-CN" altLang="en-US" sz="2400"/>
              <a:t> 由</a:t>
            </a:r>
            <a:r>
              <a:rPr lang="en-US" altLang="zh-CN" sz="2400"/>
              <a:t>CPU</a:t>
            </a:r>
            <a:r>
              <a:rPr lang="zh-CN" altLang="en-US" sz="2400"/>
              <a:t>调度程序为进程调度</a:t>
            </a:r>
            <a:r>
              <a:rPr lang="en-US" altLang="zh-CN" sz="2400"/>
              <a:t>CPU</a:t>
            </a:r>
          </a:p>
        </p:txBody>
      </p:sp>
      <p:sp>
        <p:nvSpPr>
          <p:cNvPr id="74757" name="Rectangle 3"/>
          <p:cNvSpPr txBox="1"/>
          <p:nvPr/>
        </p:nvSpPr>
        <p:spPr>
          <a:xfrm>
            <a:off x="914400" y="3319463"/>
            <a:ext cx="5627688"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t>C.</a:t>
            </a:r>
            <a:r>
              <a:rPr lang="zh-CN" altLang="en-US" sz="2400"/>
              <a:t> 为进程分配内存等必要的资源</a:t>
            </a:r>
            <a:endParaRPr lang="en-US" altLang="zh-CN" sz="2400"/>
          </a:p>
        </p:txBody>
      </p:sp>
      <p:sp>
        <p:nvSpPr>
          <p:cNvPr id="74758" name="Rectangle 3"/>
          <p:cNvSpPr txBox="1"/>
          <p:nvPr/>
        </p:nvSpPr>
        <p:spPr>
          <a:xfrm>
            <a:off x="914400" y="3984625"/>
            <a:ext cx="5627688"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t>D.</a:t>
            </a:r>
            <a:r>
              <a:rPr lang="zh-CN" altLang="en-US" sz="2400"/>
              <a:t> 将</a:t>
            </a:r>
            <a:r>
              <a:rPr lang="en-US" altLang="zh-CN" sz="2400"/>
              <a:t>PCB</a:t>
            </a:r>
            <a:r>
              <a:rPr lang="zh-CN" altLang="en-US" sz="2400"/>
              <a:t>链入进程就绪队列</a:t>
            </a:r>
            <a:endParaRPr lang="en-US" altLang="zh-CN" sz="2400"/>
          </a:p>
        </p:txBody>
      </p:sp>
      <p:sp>
        <p:nvSpPr>
          <p:cNvPr id="9" name="Rectangle 3"/>
          <p:cNvSpPr txBox="1"/>
          <p:nvPr/>
        </p:nvSpPr>
        <p:spPr>
          <a:xfrm>
            <a:off x="457200" y="4789488"/>
            <a:ext cx="8229600" cy="1790700"/>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ü"/>
            </a:pPr>
            <a:r>
              <a:rPr lang="zh-CN" altLang="en-US" sz="2000">
                <a:solidFill>
                  <a:srgbClr val="FF0000"/>
                </a:solidFill>
              </a:rPr>
              <a:t>解析：</a:t>
            </a:r>
            <a:r>
              <a:rPr lang="zh-CN" altLang="en-US" sz="2000"/>
              <a:t>进程创建的过程包括：①申请空白</a:t>
            </a:r>
            <a:r>
              <a:rPr lang="en-US" altLang="zh-CN" sz="2000"/>
              <a:t>PCB</a:t>
            </a:r>
            <a:r>
              <a:rPr lang="zh-CN" altLang="en-US" sz="2000"/>
              <a:t>；②为新进程分配资源；③初始化进程控制块；④如果进程就绪队列能够接纳新进程，便将新进程插入就绪队列。</a:t>
            </a:r>
            <a:endParaRPr lang="en-US" altLang="zh-CN"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rgbClr val="FF3300"/>
                                        </p:clrVal>
                                      </p:to>
                                    </p:set>
                                    <p:set>
                                      <p:cBhvr>
                                        <p:cTn id="7" dur="500" fill="hold"/>
                                        <p:tgtEl>
                                          <p:spTgt spid="5">
                                            <p:txEl>
                                              <p:pRg st="0" end="0"/>
                                            </p:txEl>
                                          </p:spTgt>
                                        </p:tgtEl>
                                        <p:attrNameLst>
                                          <p:attrName>fillcolor</p:attrName>
                                        </p:attrNameLst>
                                      </p:cBhvr>
                                      <p:to>
                                        <p:clrVal>
                                          <a:srgbClr val="FF3300"/>
                                        </p:clrVal>
                                      </p:to>
                                    </p:set>
                                    <p:set>
                                      <p:cBhvr>
                                        <p:cTn id="8" dur="500" fill="hold"/>
                                        <p:tgtEl>
                                          <p:spTgt spid="5">
                                            <p:txEl>
                                              <p:pRg st="0" end="0"/>
                                            </p:txEl>
                                          </p:spTgt>
                                        </p:tgtEl>
                                        <p:attrNameLst>
                                          <p:attrName>fill.type</p:attrName>
                                        </p:attrNameLst>
                                      </p:cBhvr>
                                      <p:to>
                                        <p:strVal val="solid"/>
                                      </p:to>
                                    </p:set>
                                  </p:childTnLst>
                                </p:cTn>
                              </p:par>
                            </p:childTnLst>
                          </p:cTn>
                        </p:par>
                        <p:par>
                          <p:cTn id="9" fill="hold">
                            <p:stCondLst>
                              <p:cond delay="86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2</a:t>
            </a:r>
          </a:p>
        </p:txBody>
      </p:sp>
      <p:sp>
        <p:nvSpPr>
          <p:cNvPr id="76802" name="Rectangle 3"/>
          <p:cNvSpPr txBox="1"/>
          <p:nvPr/>
        </p:nvSpPr>
        <p:spPr>
          <a:xfrm>
            <a:off x="457200" y="1233488"/>
            <a:ext cx="8229600"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cs typeface="等线" panose="02010600030101010101" pitchFamily="2" charset="-122"/>
              </a:rPr>
              <a:t>一个进程被唤醒意味着</a:t>
            </a:r>
            <a:r>
              <a:rPr lang="zh-CN" altLang="en-US" sz="2400" u="sng">
                <a:latin typeface="等线" panose="02010600030101010101" pitchFamily="2" charset="-122"/>
                <a:ea typeface="等线" panose="02010600030101010101" pitchFamily="2" charset="-122"/>
                <a:cs typeface="等线" panose="02010600030101010101" pitchFamily="2" charset="-122"/>
              </a:rPr>
              <a:t>          </a:t>
            </a:r>
            <a:r>
              <a:rPr lang="zh-CN" altLang="en-US" sz="2400">
                <a:latin typeface="等线" panose="02010600030101010101" pitchFamily="2" charset="-122"/>
                <a:ea typeface="等线" panose="02010600030101010101" pitchFamily="2" charset="-122"/>
                <a:cs typeface="等线" panose="02010600030101010101" pitchFamily="2" charset="-122"/>
              </a:rPr>
              <a:t>？</a:t>
            </a:r>
            <a:endParaRPr lang="en-US" altLang="zh-CN" sz="2400">
              <a:latin typeface="等线" panose="02010600030101010101" pitchFamily="2" charset="-122"/>
              <a:ea typeface="等线" panose="02010600030101010101" pitchFamily="2" charset="-122"/>
              <a:cs typeface="等线" panose="02010600030101010101" pitchFamily="2" charset="-122"/>
            </a:endParaRPr>
          </a:p>
        </p:txBody>
      </p:sp>
      <p:sp>
        <p:nvSpPr>
          <p:cNvPr id="76803" name="Rectangle 3"/>
          <p:cNvSpPr txBox="1"/>
          <p:nvPr/>
        </p:nvSpPr>
        <p:spPr>
          <a:xfrm>
            <a:off x="914400" y="2105025"/>
            <a:ext cx="5627688" cy="833438"/>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latin typeface="等线" panose="02010600030101010101" pitchFamily="2" charset="-122"/>
                <a:ea typeface="等线" panose="02010600030101010101" pitchFamily="2" charset="-122"/>
                <a:cs typeface="等线" panose="02010600030101010101" pitchFamily="2" charset="-122"/>
              </a:rPr>
              <a:t>A.</a:t>
            </a:r>
            <a:r>
              <a:rPr lang="zh-CN" altLang="en-US" sz="2400">
                <a:latin typeface="等线" panose="02010600030101010101" pitchFamily="2" charset="-122"/>
                <a:ea typeface="等线" panose="02010600030101010101" pitchFamily="2" charset="-122"/>
                <a:cs typeface="等线" panose="02010600030101010101" pitchFamily="2" charset="-122"/>
              </a:rPr>
              <a:t> 该进程重新占有了</a:t>
            </a:r>
            <a:r>
              <a:rPr lang="en-US" altLang="zh-CN" sz="2400">
                <a:latin typeface="等线" panose="02010600030101010101" pitchFamily="2" charset="-122"/>
                <a:ea typeface="等线" panose="02010600030101010101" pitchFamily="2" charset="-122"/>
                <a:cs typeface="等线" panose="02010600030101010101" pitchFamily="2" charset="-122"/>
              </a:rPr>
              <a:t>CPU</a:t>
            </a:r>
          </a:p>
        </p:txBody>
      </p:sp>
      <p:sp>
        <p:nvSpPr>
          <p:cNvPr id="76804" name="Rectangle 3"/>
          <p:cNvSpPr txBox="1"/>
          <p:nvPr/>
        </p:nvSpPr>
        <p:spPr>
          <a:xfrm>
            <a:off x="914400" y="2713038"/>
            <a:ext cx="5627688" cy="833437"/>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latin typeface="等线" panose="02010600030101010101" pitchFamily="2" charset="-122"/>
                <a:ea typeface="等线" panose="02010600030101010101" pitchFamily="2" charset="-122"/>
                <a:cs typeface="等线" panose="02010600030101010101" pitchFamily="2" charset="-122"/>
              </a:rPr>
              <a:t>B.</a:t>
            </a:r>
            <a:r>
              <a:rPr lang="zh-CN" altLang="en-US" sz="2400">
                <a:latin typeface="等线" panose="02010600030101010101" pitchFamily="2" charset="-122"/>
                <a:ea typeface="等线" panose="02010600030101010101" pitchFamily="2" charset="-122"/>
                <a:cs typeface="等线" panose="02010600030101010101" pitchFamily="2" charset="-122"/>
              </a:rPr>
              <a:t> 它的优先权变为最大</a:t>
            </a:r>
            <a:endParaRPr lang="en-US" altLang="zh-CN" sz="2400">
              <a:latin typeface="等线" panose="02010600030101010101" pitchFamily="2" charset="-122"/>
              <a:ea typeface="等线" panose="02010600030101010101" pitchFamily="2" charset="-122"/>
              <a:cs typeface="等线" panose="02010600030101010101" pitchFamily="2" charset="-122"/>
            </a:endParaRPr>
          </a:p>
        </p:txBody>
      </p:sp>
      <p:sp>
        <p:nvSpPr>
          <p:cNvPr id="76805" name="Rectangle 3"/>
          <p:cNvSpPr txBox="1"/>
          <p:nvPr/>
        </p:nvSpPr>
        <p:spPr>
          <a:xfrm>
            <a:off x="914400" y="3319463"/>
            <a:ext cx="5627688"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latin typeface="等线" panose="02010600030101010101" pitchFamily="2" charset="-122"/>
                <a:ea typeface="等线" panose="02010600030101010101" pitchFamily="2" charset="-122"/>
                <a:cs typeface="等线" panose="02010600030101010101" pitchFamily="2" charset="-122"/>
              </a:rPr>
              <a:t>C.</a:t>
            </a:r>
            <a:r>
              <a:rPr lang="zh-CN" altLang="en-US" sz="2400">
                <a:latin typeface="等线" panose="02010600030101010101" pitchFamily="2" charset="-122"/>
                <a:ea typeface="等线" panose="02010600030101010101" pitchFamily="2" charset="-122"/>
                <a:cs typeface="等线" panose="02010600030101010101" pitchFamily="2" charset="-122"/>
              </a:rPr>
              <a:t> 其</a:t>
            </a:r>
            <a:r>
              <a:rPr lang="en-US" altLang="zh-CN" sz="2400">
                <a:latin typeface="等线" panose="02010600030101010101" pitchFamily="2" charset="-122"/>
                <a:ea typeface="等线" panose="02010600030101010101" pitchFamily="2" charset="-122"/>
                <a:cs typeface="等线" panose="02010600030101010101" pitchFamily="2" charset="-122"/>
              </a:rPr>
              <a:t>PCB</a:t>
            </a:r>
            <a:r>
              <a:rPr lang="zh-CN" altLang="en-US" sz="2400">
                <a:latin typeface="等线" panose="02010600030101010101" pitchFamily="2" charset="-122"/>
                <a:ea typeface="等线" panose="02010600030101010101" pitchFamily="2" charset="-122"/>
                <a:cs typeface="等线" panose="02010600030101010101" pitchFamily="2" charset="-122"/>
              </a:rPr>
              <a:t>移至等待队列队首</a:t>
            </a:r>
            <a:endParaRPr lang="en-US" altLang="zh-CN" sz="2400">
              <a:latin typeface="等线" panose="02010600030101010101" pitchFamily="2" charset="-122"/>
              <a:ea typeface="等线" panose="02010600030101010101" pitchFamily="2" charset="-122"/>
              <a:cs typeface="等线" panose="02010600030101010101" pitchFamily="2" charset="-122"/>
            </a:endParaRPr>
          </a:p>
        </p:txBody>
      </p:sp>
      <p:sp>
        <p:nvSpPr>
          <p:cNvPr id="8" name="Rectangle 3"/>
          <p:cNvSpPr txBox="1"/>
          <p:nvPr/>
        </p:nvSpPr>
        <p:spPr>
          <a:xfrm>
            <a:off x="914400" y="3984625"/>
            <a:ext cx="5627688" cy="8350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Ø"/>
            </a:pPr>
            <a:r>
              <a:rPr lang="en-US" altLang="zh-CN" sz="2400">
                <a:latin typeface="等线" panose="02010600030101010101" pitchFamily="2" charset="-122"/>
                <a:ea typeface="等线" panose="02010600030101010101" pitchFamily="2" charset="-122"/>
                <a:cs typeface="等线" panose="02010600030101010101" pitchFamily="2" charset="-122"/>
              </a:rPr>
              <a:t>D.</a:t>
            </a:r>
            <a:r>
              <a:rPr lang="zh-CN" altLang="en-US" sz="2400">
                <a:latin typeface="等线" panose="02010600030101010101" pitchFamily="2" charset="-122"/>
                <a:ea typeface="等线" panose="02010600030101010101" pitchFamily="2" charset="-122"/>
                <a:cs typeface="等线" panose="02010600030101010101" pitchFamily="2" charset="-122"/>
              </a:rPr>
              <a:t> 进程变为就绪状态</a:t>
            </a:r>
            <a:endParaRPr lang="en-US" altLang="zh-CN" sz="2400">
              <a:latin typeface="等线" panose="02010600030101010101" pitchFamily="2" charset="-122"/>
              <a:ea typeface="等线" panose="02010600030101010101" pitchFamily="2" charset="-122"/>
              <a:cs typeface="等线" panose="02010600030101010101" pitchFamily="2" charset="-122"/>
            </a:endParaRPr>
          </a:p>
        </p:txBody>
      </p:sp>
      <p:sp>
        <p:nvSpPr>
          <p:cNvPr id="9" name="Rectangle 3"/>
          <p:cNvSpPr txBox="1"/>
          <p:nvPr/>
        </p:nvSpPr>
        <p:spPr>
          <a:xfrm>
            <a:off x="457200" y="4789488"/>
            <a:ext cx="8229600" cy="1790700"/>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ü"/>
            </a:pPr>
            <a:r>
              <a:rPr lang="zh-CN" altLang="en-US" sz="2000">
                <a:solidFill>
                  <a:srgbClr val="FF0000"/>
                </a:solidFill>
                <a:latin typeface="等线" panose="02010600030101010101" pitchFamily="2" charset="-122"/>
                <a:ea typeface="等线" panose="02010600030101010101" pitchFamily="2" charset="-122"/>
                <a:cs typeface="等线" panose="02010600030101010101" pitchFamily="2" charset="-122"/>
              </a:rPr>
              <a:t>解析：</a:t>
            </a:r>
            <a:r>
              <a:rPr lang="zh-CN" altLang="en-US" sz="2000">
                <a:latin typeface="等线" panose="02010600030101010101" pitchFamily="2" charset="-122"/>
                <a:ea typeface="等线" panose="02010600030101010101" pitchFamily="2" charset="-122"/>
                <a:cs typeface="等线" panose="02010600030101010101" pitchFamily="2" charset="-122"/>
              </a:rPr>
              <a:t>一个进程被唤醒意味着进程由阻塞态转换为就绪态，所以</a:t>
            </a:r>
            <a:r>
              <a:rPr lang="en-US" altLang="zh-CN" sz="2000">
                <a:latin typeface="等线" panose="02010600030101010101" pitchFamily="2" charset="-122"/>
                <a:ea typeface="等线" panose="02010600030101010101" pitchFamily="2" charset="-122"/>
                <a:cs typeface="等线" panose="02010600030101010101" pitchFamily="2" charset="-122"/>
              </a:rPr>
              <a:t>D</a:t>
            </a:r>
            <a:r>
              <a:rPr lang="zh-CN" altLang="en-US" sz="2000">
                <a:latin typeface="等线" panose="02010600030101010101" pitchFamily="2" charset="-122"/>
                <a:ea typeface="等线" panose="02010600030101010101" pitchFamily="2" charset="-122"/>
                <a:cs typeface="等线" panose="02010600030101010101" pitchFamily="2" charset="-122"/>
              </a:rPr>
              <a:t>选项正确。进程重新占有了</a:t>
            </a:r>
            <a:r>
              <a:rPr lang="en-US" altLang="zh-CN" sz="2000">
                <a:latin typeface="等线" panose="02010600030101010101" pitchFamily="2" charset="-122"/>
                <a:ea typeface="等线" panose="02010600030101010101" pitchFamily="2" charset="-122"/>
                <a:cs typeface="等线" panose="02010600030101010101" pitchFamily="2" charset="-122"/>
              </a:rPr>
              <a:t>CPU</a:t>
            </a:r>
            <a:r>
              <a:rPr lang="zh-CN" altLang="en-US" sz="2000">
                <a:latin typeface="等线" panose="02010600030101010101" pitchFamily="2" charset="-122"/>
                <a:ea typeface="等线" panose="02010600030101010101" pitchFamily="2" charset="-122"/>
                <a:cs typeface="等线" panose="02010600030101010101" pitchFamily="2" charset="-122"/>
              </a:rPr>
              <a:t>是从就绪态转换为执行态，所以</a:t>
            </a:r>
            <a:r>
              <a:rPr lang="en-US" altLang="zh-CN" sz="2000">
                <a:latin typeface="等线" panose="02010600030101010101" pitchFamily="2" charset="-122"/>
                <a:ea typeface="等线" panose="02010600030101010101" pitchFamily="2" charset="-122"/>
                <a:cs typeface="等线" panose="02010600030101010101" pitchFamily="2" charset="-122"/>
              </a:rPr>
              <a:t>A</a:t>
            </a:r>
            <a:r>
              <a:rPr lang="zh-CN" altLang="en-US" sz="2000">
                <a:latin typeface="等线" panose="02010600030101010101" pitchFamily="2" charset="-122"/>
                <a:ea typeface="等线" panose="02010600030101010101" pitchFamily="2" charset="-122"/>
                <a:cs typeface="等线" panose="02010600030101010101" pitchFamily="2" charset="-122"/>
              </a:rPr>
              <a:t>选项是错误的。进程被唤醒并不意味着优先权一定变为最大，所以</a:t>
            </a:r>
            <a:r>
              <a:rPr lang="en-US" altLang="zh-CN" sz="2000">
                <a:latin typeface="等线" panose="02010600030101010101" pitchFamily="2" charset="-122"/>
                <a:ea typeface="等线" panose="02010600030101010101" pitchFamily="2" charset="-122"/>
                <a:cs typeface="等线" panose="02010600030101010101" pitchFamily="2" charset="-122"/>
              </a:rPr>
              <a:t>B</a:t>
            </a:r>
            <a:r>
              <a:rPr lang="zh-CN" altLang="en-US" sz="2000">
                <a:latin typeface="等线" panose="02010600030101010101" pitchFamily="2" charset="-122"/>
                <a:ea typeface="等线" panose="02010600030101010101" pitchFamily="2" charset="-122"/>
                <a:cs typeface="等线" panose="02010600030101010101" pitchFamily="2" charset="-122"/>
              </a:rPr>
              <a:t>选项不正确。</a:t>
            </a:r>
            <a:endParaRPr lang="en-US" altLang="zh-CN"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8"/>
                                        </p:tgtEl>
                                        <p:attrNameLst>
                                          <p:attrName>style.color</p:attrName>
                                        </p:attrNameLst>
                                      </p:cBhvr>
                                      <p:to>
                                        <p:clrVal>
                                          <a:srgbClr val="FF3300"/>
                                        </p:clrVal>
                                      </p:to>
                                    </p:set>
                                    <p:set>
                                      <p:cBhvr>
                                        <p:cTn id="7" dur="500" fill="hold"/>
                                        <p:tgtEl>
                                          <p:spTgt spid="8"/>
                                        </p:tgtEl>
                                        <p:attrNameLst>
                                          <p:attrName>fillcolor</p:attrName>
                                        </p:attrNameLst>
                                      </p:cBhvr>
                                      <p:to>
                                        <p:clrVal>
                                          <a:srgbClr val="FF3300"/>
                                        </p:clrVal>
                                      </p:to>
                                    </p:set>
                                    <p:set>
                                      <p:cBhvr>
                                        <p:cTn id="8" dur="500" fill="hold"/>
                                        <p:tgtEl>
                                          <p:spTgt spid="8"/>
                                        </p:tgtEl>
                                        <p:attrNameLst>
                                          <p:attrName>fill.type</p:attrName>
                                        </p:attrNameLst>
                                      </p:cBhvr>
                                      <p:to>
                                        <p:strVal val="solid"/>
                                      </p:to>
                                    </p:set>
                                  </p:childTnLst>
                                </p:cTn>
                              </p:par>
                            </p:childTnLst>
                          </p:cTn>
                        </p:par>
                        <p:par>
                          <p:cTn id="9" fill="hold">
                            <p:stCondLst>
                              <p:cond delay="699"/>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78850"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78851"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等线" panose="02010600030101010101" pitchFamily="2" charset="-122"/>
                <a:ea typeface="等线" panose="02010600030101010101" pitchFamily="2" charset="-122"/>
              </a:rPr>
              <a:t>执行态</a:t>
            </a:r>
          </a:p>
        </p:txBody>
      </p:sp>
      <p:sp>
        <p:nvSpPr>
          <p:cNvPr id="78852"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等线" panose="02010600030101010101" pitchFamily="2" charset="-122"/>
                <a:ea typeface="等线" panose="02010600030101010101" pitchFamily="2" charset="-122"/>
              </a:rPr>
              <a:t>就绪态</a:t>
            </a:r>
          </a:p>
        </p:txBody>
      </p:sp>
      <p:sp>
        <p:nvSpPr>
          <p:cNvPr id="78853"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等线" panose="02010600030101010101" pitchFamily="2" charset="-122"/>
                <a:ea typeface="等线" panose="02010600030101010101" pitchFamily="2" charset="-122"/>
              </a:rPr>
              <a:t>等待态</a:t>
            </a:r>
          </a:p>
        </p:txBody>
      </p:sp>
      <p:cxnSp>
        <p:nvCxnSpPr>
          <p:cNvPr id="78854" name="直接箭头连接符 3"/>
          <p:cNvCxnSpPr>
            <a:stCxn id="78851" idx="5"/>
            <a:endCxn id="78853"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78855" name="直接箭头连接符 9"/>
          <p:cNvCxnSpPr>
            <a:stCxn id="78853" idx="2"/>
            <a:endCxn id="78852"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78856" name="直接箭头连接符 14"/>
          <p:cNvCxnSpPr>
            <a:stCxn id="78852" idx="0"/>
            <a:endCxn id="78851"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78857" name="直接箭头连接符 16"/>
          <p:cNvCxnSpPr>
            <a:stCxn id="78851"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78858"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78859"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78860"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78861"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78862" name="Rectangle 3"/>
          <p:cNvSpPr txBox="1"/>
          <p:nvPr/>
        </p:nvSpPr>
        <p:spPr>
          <a:xfrm>
            <a:off x="457200" y="3651250"/>
            <a:ext cx="8229600" cy="2509838"/>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2000">
                <a:latin typeface="等线" panose="02010600030101010101" pitchFamily="2" charset="-122"/>
                <a:ea typeface="等线" panose="02010600030101010101" pitchFamily="2" charset="-122"/>
                <a:cs typeface="等线" panose="02010600030101010101" pitchFamily="2" charset="-122"/>
              </a:rPr>
              <a:t>引起各种状态转换的典型事件有哪些？</a:t>
            </a:r>
            <a:endParaRPr lang="en-US" altLang="zh-CN" sz="20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p"/>
            </a:pPr>
            <a:r>
              <a:rPr lang="zh-CN" altLang="en-US" sz="2000">
                <a:latin typeface="等线" panose="02010600030101010101" pitchFamily="2" charset="-122"/>
                <a:ea typeface="等线" panose="02010600030101010101" pitchFamily="2" charset="-122"/>
                <a:cs typeface="等线" panose="02010600030101010101" pitchFamily="2" charset="-122"/>
              </a:rPr>
              <a:t>当我们观察系统中某系进程时，能够看到某一进程产生的一次状态转换能引起另一个进程做一次状态转换。在什么情况下，当一个进程发生转换</a:t>
            </a:r>
            <a:r>
              <a:rPr lang="en-US" altLang="zh-CN" sz="2000">
                <a:latin typeface="等线" panose="02010600030101010101" pitchFamily="2" charset="-122"/>
                <a:ea typeface="等线" panose="02010600030101010101" pitchFamily="2" charset="-122"/>
                <a:cs typeface="等线" panose="02010600030101010101" pitchFamily="2" charset="-122"/>
              </a:rPr>
              <a:t>3</a:t>
            </a:r>
            <a:r>
              <a:rPr lang="zh-CN" altLang="en-US" sz="2000">
                <a:latin typeface="等线" panose="02010600030101010101" pitchFamily="2" charset="-122"/>
                <a:ea typeface="等线" panose="02010600030101010101" pitchFamily="2" charset="-122"/>
                <a:cs typeface="等线" panose="02010600030101010101" pitchFamily="2" charset="-122"/>
              </a:rPr>
              <a:t>时，能立即引起另一进程发生转换</a:t>
            </a:r>
            <a:r>
              <a:rPr lang="en-US" altLang="zh-CN" sz="2000">
                <a:latin typeface="等线" panose="02010600030101010101" pitchFamily="2" charset="-122"/>
                <a:ea typeface="等线" panose="02010600030101010101" pitchFamily="2" charset="-122"/>
                <a:cs typeface="等线" panose="02010600030101010101" pitchFamily="2" charset="-122"/>
              </a:rPr>
              <a:t>1</a:t>
            </a:r>
            <a:r>
              <a:rPr lang="zh-CN" altLang="en-US" sz="2000">
                <a:latin typeface="等线" panose="02010600030101010101" pitchFamily="2" charset="-122"/>
                <a:ea typeface="等线" panose="02010600030101010101" pitchFamily="2" charset="-122"/>
                <a:cs typeface="等线" panose="02010600030101010101" pitchFamily="2" charset="-122"/>
              </a:rPr>
              <a:t>？</a:t>
            </a:r>
            <a:endParaRPr lang="en-US" altLang="zh-CN" sz="20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p"/>
            </a:pPr>
            <a:r>
              <a:rPr lang="zh-CN" altLang="en-US" sz="2000">
                <a:latin typeface="等线" panose="02010600030101010101" pitchFamily="2" charset="-122"/>
                <a:ea typeface="等线" panose="02010600030101010101" pitchFamily="2" charset="-122"/>
                <a:cs typeface="等线" panose="02010600030101010101" pitchFamily="2" charset="-122"/>
              </a:rPr>
              <a:t>试说明是否会发生这些因果转换： </a:t>
            </a:r>
            <a:r>
              <a:rPr lang="en-US" altLang="zh-CN" sz="2000">
                <a:latin typeface="等线" panose="02010600030101010101" pitchFamily="2" charset="-122"/>
                <a:ea typeface="等线" panose="02010600030101010101" pitchFamily="2" charset="-122"/>
                <a:cs typeface="等线" panose="02010600030101010101" pitchFamily="2" charset="-122"/>
              </a:rPr>
              <a:t>2-&gt;1; 3-&gt;2; 4-&gt;1</a:t>
            </a:r>
            <a:r>
              <a:rPr lang="zh-CN" altLang="en-US" sz="2000">
                <a:latin typeface="等线" panose="02010600030101010101" pitchFamily="2" charset="-122"/>
                <a:ea typeface="等线" panose="02010600030101010101" pitchFamily="2" charset="-122"/>
                <a:cs typeface="等线" panose="02010600030101010101" pitchFamily="2" charset="-122"/>
              </a:rPr>
              <a:t>。</a:t>
            </a:r>
            <a:endParaRPr lang="en-US" altLang="zh-CN"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80898"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80899"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执行态</a:t>
            </a:r>
          </a:p>
        </p:txBody>
      </p:sp>
      <p:sp>
        <p:nvSpPr>
          <p:cNvPr id="80900"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就绪态</a:t>
            </a:r>
          </a:p>
        </p:txBody>
      </p:sp>
      <p:sp>
        <p:nvSpPr>
          <p:cNvPr id="80901"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等待态</a:t>
            </a:r>
          </a:p>
        </p:txBody>
      </p:sp>
      <p:cxnSp>
        <p:nvCxnSpPr>
          <p:cNvPr id="80902" name="直接箭头连接符 3"/>
          <p:cNvCxnSpPr>
            <a:stCxn id="80899" idx="5"/>
            <a:endCxn id="80901"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80903" name="直接箭头连接符 9"/>
          <p:cNvCxnSpPr>
            <a:stCxn id="80901" idx="2"/>
            <a:endCxn id="80900"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80904" name="直接箭头连接符 14"/>
          <p:cNvCxnSpPr>
            <a:stCxn id="80900" idx="0"/>
            <a:endCxn id="80899"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80905" name="直接箭头连接符 16"/>
          <p:cNvCxnSpPr>
            <a:stCxn id="80899"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80906"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80907"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80908"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80909"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80910" name="Rectangle 3"/>
          <p:cNvSpPr txBox="1"/>
          <p:nvPr/>
        </p:nvSpPr>
        <p:spPr>
          <a:xfrm>
            <a:off x="457200" y="3651250"/>
            <a:ext cx="8229600" cy="30321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2000">
                <a:latin typeface="等线" panose="02010600030101010101" pitchFamily="2" charset="-122"/>
                <a:ea typeface="等线" panose="02010600030101010101" pitchFamily="2" charset="-122"/>
                <a:cs typeface="等线" panose="02010600030101010101" pitchFamily="2" charset="-122"/>
              </a:rPr>
              <a:t>引起各种状态转换的典型事件有哪些？</a:t>
            </a:r>
            <a:endParaRPr lang="en-US" altLang="zh-CN" sz="20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ü"/>
            </a:pPr>
            <a:r>
              <a:rPr lang="zh-CN" altLang="en-US" sz="1800">
                <a:latin typeface="等线" panose="02010600030101010101" pitchFamily="2" charset="-122"/>
                <a:ea typeface="等线" panose="02010600030101010101" pitchFamily="2" charset="-122"/>
                <a:cs typeface="等线" panose="02010600030101010101" pitchFamily="2" charset="-122"/>
              </a:rPr>
              <a:t>在本题所给的进程状态转换图中，存在</a:t>
            </a:r>
            <a:r>
              <a:rPr lang="en-US" altLang="zh-CN" sz="1800">
                <a:latin typeface="等线" panose="02010600030101010101" pitchFamily="2" charset="-122"/>
                <a:ea typeface="等线" panose="02010600030101010101" pitchFamily="2" charset="-122"/>
                <a:cs typeface="等线" panose="02010600030101010101" pitchFamily="2" charset="-122"/>
              </a:rPr>
              <a:t>4</a:t>
            </a:r>
            <a:r>
              <a:rPr lang="zh-CN" altLang="en-US" sz="1800">
                <a:latin typeface="等线" panose="02010600030101010101" pitchFamily="2" charset="-122"/>
                <a:ea typeface="等线" panose="02010600030101010101" pitchFamily="2" charset="-122"/>
                <a:cs typeface="等线" panose="02010600030101010101" pitchFamily="2" charset="-122"/>
              </a:rPr>
              <a:t>种状态转换。当进程调度程序从</a:t>
            </a:r>
            <a:r>
              <a:rPr lang="zh-CN" altLang="en-US" sz="1800">
                <a:solidFill>
                  <a:srgbClr val="FF0000"/>
                </a:solidFill>
                <a:latin typeface="等线" panose="02010600030101010101" pitchFamily="2" charset="-122"/>
                <a:ea typeface="等线" panose="02010600030101010101" pitchFamily="2" charset="-122"/>
                <a:cs typeface="等线" panose="02010600030101010101" pitchFamily="2" charset="-122"/>
              </a:rPr>
              <a:t>就绪队列</a:t>
            </a:r>
            <a:r>
              <a:rPr lang="zh-CN" altLang="en-US" sz="1800">
                <a:latin typeface="等线" panose="02010600030101010101" pitchFamily="2" charset="-122"/>
                <a:ea typeface="等线" panose="02010600030101010101" pitchFamily="2" charset="-122"/>
                <a:cs typeface="等线" panose="02010600030101010101" pitchFamily="2" charset="-122"/>
              </a:rPr>
              <a:t>中选取一个进程投入运行时引起转换</a:t>
            </a:r>
            <a:r>
              <a:rPr lang="en-US" altLang="zh-CN" sz="1800">
                <a:latin typeface="等线" panose="02010600030101010101" pitchFamily="2" charset="-122"/>
                <a:ea typeface="等线" panose="02010600030101010101" pitchFamily="2" charset="-122"/>
                <a:cs typeface="等线" panose="02010600030101010101" pitchFamily="2" charset="-122"/>
              </a:rPr>
              <a:t>1</a:t>
            </a:r>
            <a:r>
              <a:rPr lang="zh-CN" altLang="en-US" sz="1800">
                <a:latin typeface="等线" panose="02010600030101010101" pitchFamily="2" charset="-122"/>
                <a:ea typeface="等线" panose="02010600030101010101" pitchFamily="2" charset="-122"/>
                <a:cs typeface="等线" panose="02010600030101010101" pitchFamily="2" charset="-122"/>
              </a:rPr>
              <a:t>；正在执行的进程如因</a:t>
            </a:r>
            <a:r>
              <a:rPr lang="zh-CN" altLang="en-US" sz="1800">
                <a:solidFill>
                  <a:srgbClr val="FF0000"/>
                </a:solidFill>
                <a:latin typeface="等线" panose="02010600030101010101" pitchFamily="2" charset="-122"/>
                <a:ea typeface="等线" panose="02010600030101010101" pitchFamily="2" charset="-122"/>
                <a:cs typeface="等线" panose="02010600030101010101" pitchFamily="2" charset="-122"/>
              </a:rPr>
              <a:t>时间片用完</a:t>
            </a:r>
            <a:r>
              <a:rPr lang="zh-CN" altLang="en-US" sz="1800">
                <a:latin typeface="等线" panose="02010600030101010101" pitchFamily="2" charset="-122"/>
                <a:ea typeface="等线" panose="02010600030101010101" pitchFamily="2" charset="-122"/>
                <a:cs typeface="等线" panose="02010600030101010101" pitchFamily="2" charset="-122"/>
              </a:rPr>
              <a:t>而被暂停执行就会引起转换</a:t>
            </a:r>
            <a:r>
              <a:rPr lang="en-US" altLang="zh-CN" sz="1800">
                <a:latin typeface="等线" panose="02010600030101010101" pitchFamily="2" charset="-122"/>
                <a:ea typeface="等线" panose="02010600030101010101" pitchFamily="2" charset="-122"/>
                <a:cs typeface="等线" panose="02010600030101010101" pitchFamily="2" charset="-122"/>
              </a:rPr>
              <a:t>2</a:t>
            </a:r>
            <a:r>
              <a:rPr lang="zh-CN" altLang="en-US" sz="1800">
                <a:latin typeface="等线" panose="02010600030101010101" pitchFamily="2" charset="-122"/>
                <a:ea typeface="等线" panose="02010600030101010101" pitchFamily="2" charset="-122"/>
                <a:cs typeface="等线" panose="02010600030101010101" pitchFamily="2" charset="-122"/>
              </a:rPr>
              <a:t>；正在执行的进程因</a:t>
            </a:r>
            <a:r>
              <a:rPr lang="zh-CN" altLang="en-US" sz="1800">
                <a:solidFill>
                  <a:srgbClr val="FF0000"/>
                </a:solidFill>
                <a:latin typeface="等线" panose="02010600030101010101" pitchFamily="2" charset="-122"/>
                <a:ea typeface="等线" panose="02010600030101010101" pitchFamily="2" charset="-122"/>
                <a:cs typeface="等线" panose="02010600030101010101" pitchFamily="2" charset="-122"/>
              </a:rPr>
              <a:t>等待的事件尚未发生</a:t>
            </a:r>
            <a:r>
              <a:rPr lang="zh-CN" altLang="en-US" sz="1800">
                <a:latin typeface="等线" panose="02010600030101010101" pitchFamily="2" charset="-122"/>
                <a:ea typeface="等线" panose="02010600030101010101" pitchFamily="2" charset="-122"/>
                <a:cs typeface="等线" panose="02010600030101010101" pitchFamily="2" charset="-122"/>
              </a:rPr>
              <a:t>而无法执行（如进程请求执行</a:t>
            </a:r>
            <a:r>
              <a:rPr lang="en-US" altLang="zh-CN" sz="1800">
                <a:latin typeface="等线" panose="02010600030101010101" pitchFamily="2" charset="-122"/>
                <a:ea typeface="等线" panose="02010600030101010101" pitchFamily="2" charset="-122"/>
                <a:cs typeface="等线" panose="02010600030101010101" pitchFamily="2" charset="-122"/>
              </a:rPr>
              <a:t>I/O</a:t>
            </a:r>
            <a:r>
              <a:rPr lang="zh-CN" altLang="en-US" sz="1800">
                <a:latin typeface="等线" panose="02010600030101010101" pitchFamily="2" charset="-122"/>
                <a:ea typeface="等线" panose="02010600030101010101" pitchFamily="2" charset="-122"/>
                <a:cs typeface="等线" panose="02010600030101010101" pitchFamily="2" charset="-122"/>
              </a:rPr>
              <a:t>）则会引起转换</a:t>
            </a:r>
            <a:r>
              <a:rPr lang="en-US" altLang="zh-CN" sz="1800">
                <a:latin typeface="等线" panose="02010600030101010101" pitchFamily="2" charset="-122"/>
                <a:ea typeface="等线" panose="02010600030101010101" pitchFamily="2" charset="-122"/>
                <a:cs typeface="等线" panose="02010600030101010101" pitchFamily="2" charset="-122"/>
              </a:rPr>
              <a:t>3</a:t>
            </a:r>
            <a:r>
              <a:rPr lang="zh-CN" altLang="en-US" sz="1800">
                <a:latin typeface="等线" panose="02010600030101010101" pitchFamily="2" charset="-122"/>
                <a:ea typeface="等线" panose="02010600030101010101" pitchFamily="2" charset="-122"/>
                <a:cs typeface="等线" panose="02010600030101010101" pitchFamily="2" charset="-122"/>
              </a:rPr>
              <a:t>；当进程</a:t>
            </a:r>
            <a:r>
              <a:rPr lang="zh-CN" altLang="en-US" sz="1800">
                <a:solidFill>
                  <a:srgbClr val="FF0000"/>
                </a:solidFill>
                <a:latin typeface="等线" panose="02010600030101010101" pitchFamily="2" charset="-122"/>
                <a:ea typeface="等线" panose="02010600030101010101" pitchFamily="2" charset="-122"/>
                <a:cs typeface="等线" panose="02010600030101010101" pitchFamily="2" charset="-122"/>
              </a:rPr>
              <a:t>等待的事件发生</a:t>
            </a:r>
            <a:r>
              <a:rPr lang="zh-CN" altLang="en-US" sz="1800">
                <a:latin typeface="等线" panose="02010600030101010101" pitchFamily="2" charset="-122"/>
                <a:ea typeface="等线" panose="02010600030101010101" pitchFamily="2" charset="-122"/>
                <a:cs typeface="等线" panose="02010600030101010101" pitchFamily="2" charset="-122"/>
              </a:rPr>
              <a:t>时（</a:t>
            </a:r>
            <a:r>
              <a:rPr lang="en-US" altLang="zh-CN" sz="1800">
                <a:latin typeface="等线" panose="02010600030101010101" pitchFamily="2" charset="-122"/>
                <a:ea typeface="等线" panose="02010600030101010101" pitchFamily="2" charset="-122"/>
                <a:cs typeface="等线" panose="02010600030101010101" pitchFamily="2" charset="-122"/>
              </a:rPr>
              <a:t>I/O</a:t>
            </a:r>
            <a:r>
              <a:rPr lang="zh-CN" altLang="en-US" sz="1800">
                <a:latin typeface="等线" panose="02010600030101010101" pitchFamily="2" charset="-122"/>
                <a:ea typeface="等线" panose="02010600030101010101" pitchFamily="2" charset="-122"/>
                <a:cs typeface="等线" panose="02010600030101010101" pitchFamily="2" charset="-122"/>
              </a:rPr>
              <a:t>）则会引起转换</a:t>
            </a:r>
            <a:r>
              <a:rPr lang="en-US" altLang="zh-CN" sz="1800">
                <a:latin typeface="等线" panose="02010600030101010101" pitchFamily="2" charset="-122"/>
                <a:ea typeface="等线" panose="02010600030101010101" pitchFamily="2" charset="-122"/>
                <a:cs typeface="等线" panose="02010600030101010101" pitchFamily="2" charset="-122"/>
              </a:rPr>
              <a:t>4</a:t>
            </a:r>
            <a:r>
              <a:rPr lang="zh-CN" altLang="en-US" sz="1800">
                <a:latin typeface="等线" panose="02010600030101010101" pitchFamily="2" charset="-122"/>
                <a:ea typeface="等线" panose="02010600030101010101" pitchFamily="2" charset="-122"/>
                <a:cs typeface="等线" panose="02010600030101010101" pitchFamily="2" charset="-122"/>
              </a:rPr>
              <a:t>。</a:t>
            </a:r>
            <a:endParaRPr lang="en-US" altLang="zh-CN" sz="18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82946"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82947"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执行态</a:t>
            </a:r>
          </a:p>
        </p:txBody>
      </p:sp>
      <p:sp>
        <p:nvSpPr>
          <p:cNvPr id="82948"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就绪态</a:t>
            </a:r>
          </a:p>
        </p:txBody>
      </p:sp>
      <p:sp>
        <p:nvSpPr>
          <p:cNvPr id="82949"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等待态</a:t>
            </a:r>
          </a:p>
        </p:txBody>
      </p:sp>
      <p:cxnSp>
        <p:nvCxnSpPr>
          <p:cNvPr id="82950" name="直接箭头连接符 3"/>
          <p:cNvCxnSpPr>
            <a:stCxn id="82947" idx="5"/>
            <a:endCxn id="82949"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82951" name="直接箭头连接符 9"/>
          <p:cNvCxnSpPr>
            <a:stCxn id="82949" idx="2"/>
            <a:endCxn id="82948"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82952" name="直接箭头连接符 14"/>
          <p:cNvCxnSpPr>
            <a:stCxn id="82948" idx="0"/>
            <a:endCxn id="82947"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82953" name="直接箭头连接符 16"/>
          <p:cNvCxnSpPr>
            <a:stCxn id="82947"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82954"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82955"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82956"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82957"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82958" name="Rectangle 3"/>
          <p:cNvSpPr txBox="1"/>
          <p:nvPr/>
        </p:nvSpPr>
        <p:spPr>
          <a:xfrm>
            <a:off x="457200" y="3651250"/>
            <a:ext cx="8229600" cy="30321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1800">
                <a:latin typeface="等线" panose="02010600030101010101" pitchFamily="2" charset="-122"/>
                <a:ea typeface="等线" panose="02010600030101010101" pitchFamily="2" charset="-122"/>
                <a:cs typeface="等线" panose="02010600030101010101" pitchFamily="2" charset="-122"/>
              </a:rPr>
              <a:t>当我们观察系统中某系进程时，能够看到某一进程产生的一次状态转换能引起另一个进程做一次状态转换。在什么情况下，当一个进程发生转换</a:t>
            </a:r>
            <a:r>
              <a:rPr lang="en-US" altLang="zh-CN" sz="1800">
                <a:latin typeface="等线" panose="02010600030101010101" pitchFamily="2" charset="-122"/>
                <a:ea typeface="等线" panose="02010600030101010101" pitchFamily="2" charset="-122"/>
                <a:cs typeface="等线" panose="02010600030101010101" pitchFamily="2" charset="-122"/>
              </a:rPr>
              <a:t>3</a:t>
            </a:r>
            <a:r>
              <a:rPr lang="zh-CN" altLang="en-US" sz="1800">
                <a:latin typeface="等线" panose="02010600030101010101" pitchFamily="2" charset="-122"/>
                <a:ea typeface="等线" panose="02010600030101010101" pitchFamily="2" charset="-122"/>
                <a:cs typeface="等线" panose="02010600030101010101" pitchFamily="2" charset="-122"/>
              </a:rPr>
              <a:t>时，能立即引起另一进程发生转换</a:t>
            </a:r>
            <a:r>
              <a:rPr lang="en-US" altLang="zh-CN" sz="1800">
                <a:latin typeface="等线" panose="02010600030101010101" pitchFamily="2" charset="-122"/>
                <a:ea typeface="等线" panose="02010600030101010101" pitchFamily="2" charset="-122"/>
                <a:cs typeface="等线" panose="02010600030101010101" pitchFamily="2" charset="-122"/>
              </a:rPr>
              <a:t>1</a:t>
            </a:r>
            <a:r>
              <a:rPr lang="zh-CN" altLang="en-US" sz="1800">
                <a:latin typeface="等线" panose="02010600030101010101" pitchFamily="2" charset="-122"/>
                <a:ea typeface="等线" panose="02010600030101010101" pitchFamily="2" charset="-122"/>
                <a:cs typeface="等线" panose="02010600030101010101" pitchFamily="2" charset="-122"/>
              </a:rPr>
              <a:t>？</a:t>
            </a:r>
          </a:p>
          <a:p>
            <a:pPr marL="685800" lvl="0" indent="-342900" eaLnBrk="1">
              <a:lnSpc>
                <a:spcPct val="150000"/>
              </a:lnSpc>
              <a:buFont typeface="Wingdings" panose="05000000000000000000" pitchFamily="2" charset="2"/>
              <a:buChar char="ü"/>
            </a:pPr>
            <a:r>
              <a:rPr lang="zh-CN" altLang="en-US" sz="1600">
                <a:solidFill>
                  <a:srgbClr val="FF0000"/>
                </a:solidFill>
                <a:latin typeface="等线" panose="02010600030101010101" pitchFamily="2" charset="-122"/>
                <a:ea typeface="等线" panose="02010600030101010101" pitchFamily="2" charset="-122"/>
                <a:cs typeface="等线" panose="02010600030101010101" pitchFamily="2" charset="-122"/>
              </a:rPr>
              <a:t>如果就绪队列非空</a:t>
            </a:r>
            <a:r>
              <a:rPr lang="zh-CN" altLang="en-US" sz="1600">
                <a:latin typeface="等线" panose="02010600030101010101" pitchFamily="2" charset="-122"/>
                <a:ea typeface="等线" panose="02010600030101010101" pitchFamily="2" charset="-122"/>
                <a:cs typeface="等线" panose="02010600030101010101" pitchFamily="2" charset="-122"/>
              </a:rPr>
              <a:t>，则一个进程的转换</a:t>
            </a:r>
            <a:r>
              <a:rPr lang="en-US" altLang="zh-CN" sz="1600">
                <a:latin typeface="等线" panose="02010600030101010101" pitchFamily="2" charset="-122"/>
                <a:ea typeface="等线" panose="02010600030101010101" pitchFamily="2" charset="-122"/>
                <a:cs typeface="等线" panose="02010600030101010101" pitchFamily="2" charset="-122"/>
              </a:rPr>
              <a:t>3</a:t>
            </a:r>
            <a:r>
              <a:rPr lang="zh-CN" altLang="en-US" sz="1600">
                <a:latin typeface="等线" panose="02010600030101010101" pitchFamily="2" charset="-122"/>
                <a:ea typeface="等线" panose="02010600030101010101" pitchFamily="2" charset="-122"/>
                <a:cs typeface="等线" panose="02010600030101010101" pitchFamily="2" charset="-122"/>
              </a:rPr>
              <a:t>会立即引起另一个进程的转换</a:t>
            </a:r>
            <a:r>
              <a:rPr lang="en-US" altLang="zh-CN" sz="1600">
                <a:latin typeface="等线" panose="02010600030101010101" pitchFamily="2" charset="-122"/>
                <a:ea typeface="等线" panose="02010600030101010101" pitchFamily="2" charset="-122"/>
                <a:cs typeface="等线" panose="02010600030101010101" pitchFamily="2" charset="-122"/>
              </a:rPr>
              <a:t>1</a:t>
            </a:r>
            <a:r>
              <a:rPr lang="zh-CN" altLang="en-US" sz="1600">
                <a:latin typeface="等线" panose="02010600030101010101" pitchFamily="2" charset="-122"/>
                <a:ea typeface="等线" panose="02010600030101010101" pitchFamily="2" charset="-122"/>
                <a:cs typeface="等线" panose="02010600030101010101" pitchFamily="2" charset="-122"/>
              </a:rPr>
              <a:t>。这是因为一个进程发生转换</a:t>
            </a:r>
            <a:r>
              <a:rPr lang="en-US" altLang="zh-CN" sz="1600">
                <a:latin typeface="等线" panose="02010600030101010101" pitchFamily="2" charset="-122"/>
                <a:ea typeface="等线" panose="02010600030101010101" pitchFamily="2" charset="-122"/>
                <a:cs typeface="等线" panose="02010600030101010101" pitchFamily="2" charset="-122"/>
              </a:rPr>
              <a:t>3</a:t>
            </a:r>
            <a:r>
              <a:rPr lang="zh-CN" altLang="en-US" sz="1600">
                <a:latin typeface="等线" panose="02010600030101010101" pitchFamily="2" charset="-122"/>
                <a:ea typeface="等线" panose="02010600030101010101" pitchFamily="2" charset="-122"/>
                <a:cs typeface="等线" panose="02010600030101010101" pitchFamily="2" charset="-122"/>
              </a:rPr>
              <a:t>意味着正在执行的进程由执行状态变为阻塞状态，这时处理机空闲，进程调度程序必然会从就绪队列中选取一个进程并将它投入运行，因此只要就绪队列非空，一个进程的转换</a:t>
            </a:r>
            <a:r>
              <a:rPr lang="en-US" altLang="zh-CN" sz="1600">
                <a:latin typeface="等线" panose="02010600030101010101" pitchFamily="2" charset="-122"/>
                <a:ea typeface="等线" panose="02010600030101010101" pitchFamily="2" charset="-122"/>
                <a:cs typeface="等线" panose="02010600030101010101" pitchFamily="2" charset="-122"/>
              </a:rPr>
              <a:t>3</a:t>
            </a:r>
            <a:r>
              <a:rPr lang="zh-CN" altLang="en-US" sz="1600">
                <a:latin typeface="等线" panose="02010600030101010101" pitchFamily="2" charset="-122"/>
                <a:ea typeface="等线" panose="02010600030101010101" pitchFamily="2" charset="-122"/>
                <a:cs typeface="等线" panose="02010600030101010101" pitchFamily="2" charset="-122"/>
              </a:rPr>
              <a:t>能立即引起另一个进程的转换</a:t>
            </a:r>
            <a:r>
              <a:rPr lang="en-US" altLang="zh-CN" sz="1600">
                <a:latin typeface="等线" panose="02010600030101010101" pitchFamily="2" charset="-122"/>
                <a:ea typeface="等线" panose="02010600030101010101" pitchFamily="2" charset="-122"/>
                <a:cs typeface="等线" panose="02010600030101010101" pitchFamily="2" charset="-122"/>
              </a:rPr>
              <a:t>1</a:t>
            </a:r>
            <a:r>
              <a:rPr lang="zh-CN" altLang="en-US" sz="1600">
                <a:latin typeface="等线" panose="02010600030101010101" pitchFamily="2" charset="-122"/>
                <a:ea typeface="等线" panose="02010600030101010101" pitchFamily="2" charset="-122"/>
                <a:cs typeface="等线" panose="02010600030101010101" pitchFamily="2" charset="-122"/>
              </a:rPr>
              <a:t>。</a:t>
            </a:r>
            <a:endParaRPr lang="en-US" altLang="zh-CN" sz="16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84994"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84995"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执行态</a:t>
            </a:r>
          </a:p>
        </p:txBody>
      </p:sp>
      <p:sp>
        <p:nvSpPr>
          <p:cNvPr id="84996"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就绪态</a:t>
            </a:r>
          </a:p>
        </p:txBody>
      </p:sp>
      <p:sp>
        <p:nvSpPr>
          <p:cNvPr id="84997"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等待态</a:t>
            </a:r>
          </a:p>
        </p:txBody>
      </p:sp>
      <p:cxnSp>
        <p:nvCxnSpPr>
          <p:cNvPr id="84998" name="直接箭头连接符 3"/>
          <p:cNvCxnSpPr>
            <a:stCxn id="84995" idx="5"/>
            <a:endCxn id="84997"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84999" name="直接箭头连接符 9"/>
          <p:cNvCxnSpPr>
            <a:stCxn id="84997" idx="2"/>
            <a:endCxn id="84996"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85000" name="直接箭头连接符 14"/>
          <p:cNvCxnSpPr>
            <a:stCxn id="84996" idx="0"/>
            <a:endCxn id="84995"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85001" name="直接箭头连接符 16"/>
          <p:cNvCxnSpPr>
            <a:stCxn id="84995"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85002"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85003"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85004"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85005"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23" name="Rectangle 3"/>
          <p:cNvSpPr txBox="1"/>
          <p:nvPr/>
        </p:nvSpPr>
        <p:spPr>
          <a:xfrm>
            <a:off x="457200" y="3651250"/>
            <a:ext cx="8229600" cy="30321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1800">
                <a:latin typeface="等线" panose="02010600030101010101" pitchFamily="2" charset="-122"/>
                <a:ea typeface="等线" panose="02010600030101010101" pitchFamily="2" charset="-122"/>
                <a:cs typeface="等线" panose="02010600030101010101" pitchFamily="2" charset="-122"/>
              </a:rPr>
              <a:t>试说明是否会发生这些因果转换： </a:t>
            </a:r>
            <a:r>
              <a:rPr lang="en-US" altLang="zh-CN" sz="1800">
                <a:latin typeface="等线" panose="02010600030101010101" pitchFamily="2" charset="-122"/>
                <a:ea typeface="等线" panose="02010600030101010101" pitchFamily="2" charset="-122"/>
                <a:cs typeface="等线" panose="02010600030101010101" pitchFamily="2" charset="-122"/>
              </a:rPr>
              <a:t>2-&gt;1; 3-&gt;2; 4-&gt;1</a:t>
            </a:r>
            <a:r>
              <a:rPr lang="zh-CN" altLang="en-US" sz="1800">
                <a:latin typeface="等线" panose="02010600030101010101" pitchFamily="2" charset="-122"/>
                <a:ea typeface="等线" panose="02010600030101010101" pitchFamily="2" charset="-122"/>
                <a:cs typeface="等线" panose="02010600030101010101" pitchFamily="2" charset="-122"/>
              </a:rPr>
              <a:t>。</a:t>
            </a:r>
          </a:p>
          <a:p>
            <a:pPr marL="685800" lvl="0" indent="-342900" eaLnBrk="1">
              <a:lnSpc>
                <a:spcPct val="150000"/>
              </a:lnSpc>
              <a:buFont typeface="Wingdings" panose="05000000000000000000" pitchFamily="2" charset="2"/>
              <a:buChar char="ü"/>
            </a:pPr>
            <a:r>
              <a:rPr lang="zh-CN" altLang="en-US" sz="1600">
                <a:latin typeface="等线" panose="02010600030101010101" pitchFamily="2" charset="-122"/>
                <a:ea typeface="等线" panose="02010600030101010101" pitchFamily="2" charset="-122"/>
                <a:cs typeface="等线" panose="02010600030101010101" pitchFamily="2" charset="-122"/>
              </a:rPr>
              <a:t>所谓因果转换指的是有两个转换，</a:t>
            </a:r>
            <a:r>
              <a:rPr lang="zh-CN" altLang="en-US" sz="1600">
                <a:solidFill>
                  <a:srgbClr val="FF0000"/>
                </a:solidFill>
                <a:latin typeface="等线" panose="02010600030101010101" pitchFamily="2" charset="-122"/>
                <a:ea typeface="等线" panose="02010600030101010101" pitchFamily="2" charset="-122"/>
                <a:cs typeface="等线" panose="02010600030101010101" pitchFamily="2" charset="-122"/>
              </a:rPr>
              <a:t>一个转换的发生会引起另一个转换的发生</a:t>
            </a:r>
            <a:r>
              <a:rPr lang="zh-CN" altLang="en-US" sz="1600">
                <a:latin typeface="等线" panose="02010600030101010101" pitchFamily="2" charset="-122"/>
                <a:ea typeface="等线" panose="02010600030101010101" pitchFamily="2" charset="-122"/>
                <a:cs typeface="等线" panose="02010600030101010101" pitchFamily="2" charset="-122"/>
              </a:rPr>
              <a:t>，前一个转换成为因，后一个转换称为果，这两个转换称为因果转换。当然，这种因果关系并不是什么时候都能发生，而是在一定条件下才会发生。</a:t>
            </a:r>
            <a:endParaRPr lang="en-US" altLang="zh-CN" sz="16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ü"/>
            </a:pPr>
            <a:r>
              <a:rPr lang="en-US" altLang="zh-CN" sz="1600">
                <a:latin typeface="等线" panose="02010600030101010101" pitchFamily="2" charset="-122"/>
                <a:ea typeface="等线" panose="02010600030101010101" pitchFamily="2" charset="-122"/>
                <a:cs typeface="等线" panose="02010600030101010101" pitchFamily="2" charset="-122"/>
              </a:rPr>
              <a:t>2-&gt;1:</a:t>
            </a:r>
            <a:r>
              <a:rPr lang="zh-CN" altLang="en-US" sz="1600">
                <a:latin typeface="等线" panose="02010600030101010101" pitchFamily="2" charset="-122"/>
                <a:ea typeface="等线" panose="02010600030101010101" pitchFamily="2" charset="-122"/>
                <a:cs typeface="等线" panose="02010600030101010101" pitchFamily="2" charset="-122"/>
              </a:rPr>
              <a:t>当某进程发生转换</a:t>
            </a:r>
            <a:r>
              <a:rPr lang="en-US" altLang="zh-CN" sz="1600">
                <a:latin typeface="等线" panose="02010600030101010101" pitchFamily="2" charset="-122"/>
                <a:ea typeface="等线" panose="02010600030101010101" pitchFamily="2" charset="-122"/>
                <a:cs typeface="等线" panose="02010600030101010101" pitchFamily="2" charset="-122"/>
              </a:rPr>
              <a:t>2</a:t>
            </a:r>
            <a:r>
              <a:rPr lang="zh-CN" altLang="en-US" sz="1600">
                <a:latin typeface="等线" panose="02010600030101010101" pitchFamily="2" charset="-122"/>
                <a:ea typeface="等线" panose="02010600030101010101" pitchFamily="2" charset="-122"/>
                <a:cs typeface="等线" panose="02010600030101010101" pitchFamily="2" charset="-122"/>
              </a:rPr>
              <a:t>时，就必然引起另一进程的转换</a:t>
            </a:r>
            <a:r>
              <a:rPr lang="en-US" altLang="zh-CN" sz="1600">
                <a:latin typeface="等线" panose="02010600030101010101" pitchFamily="2" charset="-122"/>
                <a:ea typeface="等线" panose="02010600030101010101" pitchFamily="2" charset="-122"/>
                <a:cs typeface="等线" panose="02010600030101010101" pitchFamily="2" charset="-122"/>
              </a:rPr>
              <a:t>1</a:t>
            </a:r>
            <a:r>
              <a:rPr lang="zh-CN" altLang="en-US" sz="1600">
                <a:latin typeface="等线" panose="02010600030101010101" pitchFamily="2" charset="-122"/>
                <a:ea typeface="等线" panose="02010600030101010101" pitchFamily="2" charset="-122"/>
                <a:cs typeface="等线" panose="02010600030101010101" pitchFamily="2" charset="-122"/>
              </a:rPr>
              <a:t>。因为当发生转换</a:t>
            </a:r>
            <a:r>
              <a:rPr lang="en-US" altLang="zh-CN" sz="1600">
                <a:latin typeface="等线" panose="02010600030101010101" pitchFamily="2" charset="-122"/>
                <a:ea typeface="等线" panose="02010600030101010101" pitchFamily="2" charset="-122"/>
                <a:cs typeface="等线" panose="02010600030101010101" pitchFamily="2" charset="-122"/>
              </a:rPr>
              <a:t>2</a:t>
            </a:r>
            <a:r>
              <a:rPr lang="zh-CN" altLang="en-US" sz="1600">
                <a:latin typeface="等线" panose="02010600030101010101" pitchFamily="2" charset="-122"/>
                <a:ea typeface="等线" panose="02010600030101010101" pitchFamily="2" charset="-122"/>
                <a:cs typeface="等线" panose="02010600030101010101" pitchFamily="2" charset="-122"/>
              </a:rPr>
              <a:t>时，正在执行的进程从执行状态变为就绪状态，进程调度程序必然会从就绪队列中选择一个进程投入运行，即发生转换</a:t>
            </a:r>
            <a:r>
              <a:rPr lang="en-US" altLang="zh-CN" sz="1600">
                <a:latin typeface="等线" panose="02010600030101010101" pitchFamily="2" charset="-122"/>
                <a:ea typeface="等线" panose="02010600030101010101" pitchFamily="2" charset="-122"/>
                <a:cs typeface="等线" panose="02010600030101010101" pitchFamily="2" charset="-122"/>
              </a:rPr>
              <a:t>1</a:t>
            </a:r>
            <a:r>
              <a:rPr lang="zh-CN" altLang="en-US" sz="1600">
                <a:latin typeface="等线" panose="02010600030101010101" pitchFamily="2" charset="-122"/>
                <a:ea typeface="等线" panose="02010600030101010101" pitchFamily="2" charset="-122"/>
                <a:cs typeface="等线" panose="02010600030101010101" pitchFamily="2" charset="-122"/>
              </a:rPr>
              <a:t>。</a:t>
            </a:r>
            <a:endParaRPr lang="en-US" altLang="zh-CN" sz="16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87042"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87043"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执行态</a:t>
            </a:r>
          </a:p>
        </p:txBody>
      </p:sp>
      <p:sp>
        <p:nvSpPr>
          <p:cNvPr id="87044"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就绪态</a:t>
            </a:r>
          </a:p>
        </p:txBody>
      </p:sp>
      <p:sp>
        <p:nvSpPr>
          <p:cNvPr id="87045"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等待态</a:t>
            </a:r>
          </a:p>
        </p:txBody>
      </p:sp>
      <p:cxnSp>
        <p:nvCxnSpPr>
          <p:cNvPr id="87046" name="直接箭头连接符 3"/>
          <p:cNvCxnSpPr>
            <a:stCxn id="87043" idx="5"/>
            <a:endCxn id="87045"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87047" name="直接箭头连接符 9"/>
          <p:cNvCxnSpPr>
            <a:stCxn id="87045" idx="2"/>
            <a:endCxn id="87044"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87048" name="直接箭头连接符 14"/>
          <p:cNvCxnSpPr>
            <a:stCxn id="87044" idx="0"/>
            <a:endCxn id="87043"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87049" name="直接箭头连接符 16"/>
          <p:cNvCxnSpPr>
            <a:stCxn id="87043"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87050"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87051"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87052"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87053"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87054" name="Rectangle 3"/>
          <p:cNvSpPr txBox="1"/>
          <p:nvPr/>
        </p:nvSpPr>
        <p:spPr>
          <a:xfrm>
            <a:off x="457200" y="3651250"/>
            <a:ext cx="8229600" cy="30321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1800">
                <a:latin typeface="等线" panose="02010600030101010101" pitchFamily="2" charset="-122"/>
                <a:ea typeface="等线" panose="02010600030101010101" pitchFamily="2" charset="-122"/>
                <a:cs typeface="等线" panose="02010600030101010101" pitchFamily="2" charset="-122"/>
              </a:rPr>
              <a:t>试说明是否会发生这些因果转换： </a:t>
            </a:r>
            <a:r>
              <a:rPr lang="en-US" altLang="zh-CN" sz="1800">
                <a:latin typeface="等线" panose="02010600030101010101" pitchFamily="2" charset="-122"/>
                <a:ea typeface="等线" panose="02010600030101010101" pitchFamily="2" charset="-122"/>
                <a:cs typeface="等线" panose="02010600030101010101" pitchFamily="2" charset="-122"/>
              </a:rPr>
              <a:t>2-&gt;1; 3-&gt;2; 4-&gt;1</a:t>
            </a:r>
            <a:r>
              <a:rPr lang="zh-CN" altLang="en-US" sz="1800">
                <a:latin typeface="等线" panose="02010600030101010101" pitchFamily="2" charset="-122"/>
                <a:ea typeface="等线" panose="02010600030101010101" pitchFamily="2" charset="-122"/>
                <a:cs typeface="等线" panose="02010600030101010101" pitchFamily="2" charset="-122"/>
              </a:rPr>
              <a:t>。</a:t>
            </a:r>
          </a:p>
          <a:p>
            <a:pPr marL="685800" lvl="0" indent="-342900" eaLnBrk="1">
              <a:lnSpc>
                <a:spcPct val="150000"/>
              </a:lnSpc>
              <a:buFont typeface="Wingdings" panose="05000000000000000000" pitchFamily="2" charset="2"/>
              <a:buChar char="ü"/>
            </a:pPr>
            <a:r>
              <a:rPr lang="zh-CN" altLang="en-US" sz="1600">
                <a:latin typeface="等线" panose="02010600030101010101" pitchFamily="2" charset="-122"/>
                <a:ea typeface="等线" panose="02010600030101010101" pitchFamily="2" charset="-122"/>
                <a:cs typeface="等线" panose="02010600030101010101" pitchFamily="2" charset="-122"/>
              </a:rPr>
              <a:t>所谓因果转换指的是有两个转换，一个转换的发生会引起另一个转换的发生，前一个转换成为因，后一个转换称为果，这两个转换称为因果转换。当然，这种因果关系并不是什么时候都能发生，而是在一定条件下才会发生。</a:t>
            </a:r>
            <a:endParaRPr lang="en-US" altLang="zh-CN" sz="16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ü"/>
            </a:pPr>
            <a:r>
              <a:rPr lang="en-US" altLang="zh-CN" sz="1600">
                <a:latin typeface="等线" panose="02010600030101010101" pitchFamily="2" charset="-122"/>
                <a:ea typeface="等线" panose="02010600030101010101" pitchFamily="2" charset="-122"/>
                <a:cs typeface="等线" panose="02010600030101010101" pitchFamily="2" charset="-122"/>
              </a:rPr>
              <a:t>3-&gt;2:</a:t>
            </a:r>
            <a:r>
              <a:rPr lang="zh-CN" altLang="en-US" sz="1600">
                <a:latin typeface="等线" panose="02010600030101010101" pitchFamily="2" charset="-122"/>
                <a:ea typeface="等线" panose="02010600030101010101" pitchFamily="2" charset="-122"/>
                <a:cs typeface="等线" panose="02010600030101010101" pitchFamily="2" charset="-122"/>
              </a:rPr>
              <a:t>某个进程的转换</a:t>
            </a:r>
            <a:r>
              <a:rPr lang="en-US" altLang="zh-CN" sz="1600">
                <a:latin typeface="等线" panose="02010600030101010101" pitchFamily="2" charset="-122"/>
                <a:ea typeface="等线" panose="02010600030101010101" pitchFamily="2" charset="-122"/>
                <a:cs typeface="等线" panose="02010600030101010101" pitchFamily="2" charset="-122"/>
              </a:rPr>
              <a:t>3</a:t>
            </a:r>
            <a:r>
              <a:rPr lang="zh-CN" altLang="en-US" sz="1600">
                <a:latin typeface="等线" panose="02010600030101010101" pitchFamily="2" charset="-122"/>
                <a:ea typeface="等线" panose="02010600030101010101" pitchFamily="2" charset="-122"/>
                <a:cs typeface="等线" panose="02010600030101010101" pitchFamily="2" charset="-122"/>
              </a:rPr>
              <a:t>绝</a:t>
            </a:r>
            <a:r>
              <a:rPr lang="zh-CN" altLang="en-US" sz="1600">
                <a:solidFill>
                  <a:srgbClr val="FF0000"/>
                </a:solidFill>
                <a:latin typeface="等线" panose="02010600030101010101" pitchFamily="2" charset="-122"/>
                <a:ea typeface="等线" panose="02010600030101010101" pitchFamily="2" charset="-122"/>
                <a:cs typeface="等线" panose="02010600030101010101" pitchFamily="2" charset="-122"/>
              </a:rPr>
              <a:t>不可能</a:t>
            </a:r>
            <a:r>
              <a:rPr lang="zh-CN" altLang="en-US" sz="1600">
                <a:latin typeface="等线" panose="02010600030101010101" pitchFamily="2" charset="-122"/>
                <a:ea typeface="等线" panose="02010600030101010101" pitchFamily="2" charset="-122"/>
                <a:cs typeface="等线" panose="02010600030101010101" pitchFamily="2" charset="-122"/>
              </a:rPr>
              <a:t>引起另一个进程发生转换</a:t>
            </a:r>
            <a:r>
              <a:rPr lang="en-US" altLang="zh-CN" sz="1600">
                <a:latin typeface="等线" panose="02010600030101010101" pitchFamily="2" charset="-122"/>
                <a:ea typeface="等线" panose="02010600030101010101" pitchFamily="2" charset="-122"/>
                <a:cs typeface="等线" panose="02010600030101010101" pitchFamily="2" charset="-122"/>
              </a:rPr>
              <a:t>2</a:t>
            </a:r>
            <a:r>
              <a:rPr lang="zh-CN" altLang="en-US" sz="1600">
                <a:latin typeface="等线" panose="02010600030101010101" pitchFamily="2" charset="-122"/>
                <a:ea typeface="等线" panose="02010600030101010101" pitchFamily="2" charset="-122"/>
                <a:cs typeface="等线" panose="02010600030101010101" pitchFamily="2" charset="-122"/>
              </a:rPr>
              <a:t>。这是因为当前执行进程从执行状态变为阻塞状态，不可能又从执行状态变为就绪状态。</a:t>
            </a:r>
            <a:endParaRPr lang="en-US" altLang="zh-CN" sz="16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p:nvPr>
        </p:nvSpPr>
        <p:spPr>
          <a:ln/>
        </p:spPr>
        <p:txBody>
          <a:bodyPr vert="horz" wrap="square" lIns="91440" tIns="45720" rIns="91440" bIns="45720" anchor="b" anchorCtr="0"/>
          <a:lstStyle/>
          <a:p>
            <a:br>
              <a:rPr lang="zh-CN" altLang="en-US"/>
            </a:br>
            <a:r>
              <a:rPr lang="en-US" altLang="zh-CN"/>
              <a:t>Question 3</a:t>
            </a:r>
          </a:p>
        </p:txBody>
      </p:sp>
      <p:sp>
        <p:nvSpPr>
          <p:cNvPr id="89090" name="Rectangle 3"/>
          <p:cNvSpPr txBox="1"/>
          <p:nvPr/>
        </p:nvSpPr>
        <p:spPr>
          <a:xfrm>
            <a:off x="457200" y="1233488"/>
            <a:ext cx="8229600" cy="71437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l"/>
            </a:pPr>
            <a:r>
              <a:rPr lang="zh-CN" altLang="en-US" sz="2400">
                <a:latin typeface="等线" panose="02010600030101010101" pitchFamily="2" charset="-122"/>
                <a:ea typeface="等线" panose="02010600030101010101" pitchFamily="2" charset="-122"/>
              </a:rPr>
              <a:t>某系统的进程状态转换图如图所示，请回答：</a:t>
            </a:r>
          </a:p>
        </p:txBody>
      </p:sp>
      <p:sp>
        <p:nvSpPr>
          <p:cNvPr id="89091" name="椭圆 1"/>
          <p:cNvSpPr/>
          <p:nvPr/>
        </p:nvSpPr>
        <p:spPr>
          <a:xfrm>
            <a:off x="3603625" y="1947863"/>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执行态</a:t>
            </a:r>
          </a:p>
        </p:txBody>
      </p:sp>
      <p:sp>
        <p:nvSpPr>
          <p:cNvPr id="89092" name="椭圆 6"/>
          <p:cNvSpPr/>
          <p:nvPr/>
        </p:nvSpPr>
        <p:spPr>
          <a:xfrm>
            <a:off x="1947863" y="2933700"/>
            <a:ext cx="1655762"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就绪态</a:t>
            </a:r>
          </a:p>
        </p:txBody>
      </p:sp>
      <p:sp>
        <p:nvSpPr>
          <p:cNvPr id="89093" name="椭圆 7"/>
          <p:cNvSpPr/>
          <p:nvPr/>
        </p:nvSpPr>
        <p:spPr>
          <a:xfrm>
            <a:off x="5257800" y="2933700"/>
            <a:ext cx="1654175" cy="533400"/>
          </a:xfrm>
          <a:prstGeom prst="ellipse">
            <a:avLst/>
          </a:prstGeom>
          <a:noFill/>
          <a:ln w="9525"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a:spcBef>
                <a:spcPct val="0"/>
              </a:spcBef>
              <a:buClrTx/>
              <a:buSzTx/>
              <a:buFontTx/>
              <a:buNone/>
            </a:pPr>
            <a:r>
              <a:rPr lang="zh-CN" altLang="en-US" sz="1800">
                <a:latin typeface="Verdana" panose="020B0604030504040204" pitchFamily="34" charset="0"/>
              </a:rPr>
              <a:t>等待态</a:t>
            </a:r>
          </a:p>
        </p:txBody>
      </p:sp>
      <p:cxnSp>
        <p:nvCxnSpPr>
          <p:cNvPr id="89094" name="直接箭头连接符 3"/>
          <p:cNvCxnSpPr>
            <a:stCxn id="89091" idx="5"/>
            <a:endCxn id="89093" idx="0"/>
          </p:cNvCxnSpPr>
          <p:nvPr/>
        </p:nvCxnSpPr>
        <p:spPr>
          <a:xfrm>
            <a:off x="5014913" y="2403475"/>
            <a:ext cx="1069975" cy="530225"/>
          </a:xfrm>
          <a:prstGeom prst="straightConnector1">
            <a:avLst/>
          </a:prstGeom>
          <a:ln w="9525" cap="flat" cmpd="sng">
            <a:solidFill>
              <a:schemeClr val="tx1"/>
            </a:solidFill>
            <a:prstDash val="solid"/>
            <a:headEnd type="none" w="med" len="med"/>
            <a:tailEnd type="triangle" w="med" len="med"/>
          </a:ln>
        </p:spPr>
      </p:cxnSp>
      <p:cxnSp>
        <p:nvCxnSpPr>
          <p:cNvPr id="89095" name="直接箭头连接符 9"/>
          <p:cNvCxnSpPr>
            <a:stCxn id="89093" idx="2"/>
            <a:endCxn id="89092" idx="6"/>
          </p:cNvCxnSpPr>
          <p:nvPr/>
        </p:nvCxnSpPr>
        <p:spPr>
          <a:xfrm flipH="1">
            <a:off x="3603625" y="3200400"/>
            <a:ext cx="1654175" cy="0"/>
          </a:xfrm>
          <a:prstGeom prst="straightConnector1">
            <a:avLst/>
          </a:prstGeom>
          <a:ln w="9525" cap="flat" cmpd="sng">
            <a:solidFill>
              <a:schemeClr val="tx1"/>
            </a:solidFill>
            <a:prstDash val="solid"/>
            <a:headEnd type="none" w="med" len="med"/>
            <a:tailEnd type="triangle" w="med" len="med"/>
          </a:ln>
        </p:spPr>
      </p:cxnSp>
      <p:cxnSp>
        <p:nvCxnSpPr>
          <p:cNvPr id="89096" name="直接箭头连接符 14"/>
          <p:cNvCxnSpPr>
            <a:stCxn id="89092" idx="0"/>
            <a:endCxn id="89091" idx="2"/>
          </p:cNvCxnSpPr>
          <p:nvPr/>
        </p:nvCxnSpPr>
        <p:spPr>
          <a:xfrm flipV="1">
            <a:off x="2776538" y="2214563"/>
            <a:ext cx="827087" cy="719137"/>
          </a:xfrm>
          <a:prstGeom prst="straightConnector1">
            <a:avLst/>
          </a:prstGeom>
          <a:ln w="9525" cap="flat" cmpd="sng">
            <a:solidFill>
              <a:schemeClr val="tx1"/>
            </a:solidFill>
            <a:prstDash val="solid"/>
            <a:headEnd type="none" w="med" len="med"/>
            <a:tailEnd type="triangle" w="med" len="med"/>
          </a:ln>
        </p:spPr>
      </p:cxnSp>
      <p:cxnSp>
        <p:nvCxnSpPr>
          <p:cNvPr id="89097" name="直接箭头连接符 16"/>
          <p:cNvCxnSpPr>
            <a:stCxn id="89091" idx="3"/>
          </p:cNvCxnSpPr>
          <p:nvPr/>
        </p:nvCxnSpPr>
        <p:spPr>
          <a:xfrm flipH="1">
            <a:off x="3200400" y="2403475"/>
            <a:ext cx="644525" cy="571500"/>
          </a:xfrm>
          <a:prstGeom prst="straightConnector1">
            <a:avLst/>
          </a:prstGeom>
          <a:ln w="9525" cap="flat" cmpd="sng">
            <a:solidFill>
              <a:schemeClr val="tx1"/>
            </a:solidFill>
            <a:prstDash val="solid"/>
            <a:headEnd type="none" w="med" len="med"/>
            <a:tailEnd type="triangle" w="med" len="med"/>
          </a:ln>
        </p:spPr>
      </p:cxnSp>
      <p:sp>
        <p:nvSpPr>
          <p:cNvPr id="89098" name="文本框 17"/>
          <p:cNvSpPr txBox="1"/>
          <p:nvPr/>
        </p:nvSpPr>
        <p:spPr>
          <a:xfrm>
            <a:off x="2771775" y="2278063"/>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1</a:t>
            </a:r>
            <a:endParaRPr lang="zh-CN" altLang="en-US" sz="2000">
              <a:latin typeface="Verdana" panose="020B0604030504040204" pitchFamily="34" charset="0"/>
            </a:endParaRPr>
          </a:p>
        </p:txBody>
      </p:sp>
      <p:sp>
        <p:nvSpPr>
          <p:cNvPr id="89099" name="文本框 19"/>
          <p:cNvSpPr txBox="1"/>
          <p:nvPr/>
        </p:nvSpPr>
        <p:spPr>
          <a:xfrm>
            <a:off x="3557588" y="2605088"/>
            <a:ext cx="752475"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2</a:t>
            </a:r>
            <a:endParaRPr lang="zh-CN" altLang="en-US" sz="2000">
              <a:latin typeface="Verdana" panose="020B0604030504040204" pitchFamily="34" charset="0"/>
            </a:endParaRPr>
          </a:p>
        </p:txBody>
      </p:sp>
      <p:sp>
        <p:nvSpPr>
          <p:cNvPr id="89100" name="文本框 20"/>
          <p:cNvSpPr txBox="1"/>
          <p:nvPr/>
        </p:nvSpPr>
        <p:spPr>
          <a:xfrm>
            <a:off x="5537200" y="2327275"/>
            <a:ext cx="750888"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3</a:t>
            </a:r>
            <a:endParaRPr lang="zh-CN" altLang="en-US" sz="2000">
              <a:latin typeface="Verdana" panose="020B0604030504040204" pitchFamily="34" charset="0"/>
            </a:endParaRPr>
          </a:p>
        </p:txBody>
      </p:sp>
      <p:sp>
        <p:nvSpPr>
          <p:cNvPr id="89101" name="文本框 21"/>
          <p:cNvSpPr txBox="1"/>
          <p:nvPr/>
        </p:nvSpPr>
        <p:spPr>
          <a:xfrm>
            <a:off x="4310063" y="3189288"/>
            <a:ext cx="750887" cy="4000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a:latin typeface="Verdana" panose="020B0604030504040204" pitchFamily="34" charset="0"/>
              </a:rPr>
              <a:t>4</a:t>
            </a:r>
            <a:endParaRPr lang="zh-CN" altLang="en-US" sz="2000">
              <a:latin typeface="Verdana" panose="020B0604030504040204" pitchFamily="34" charset="0"/>
            </a:endParaRPr>
          </a:p>
        </p:txBody>
      </p:sp>
      <p:sp>
        <p:nvSpPr>
          <p:cNvPr id="89102" name="Rectangle 3"/>
          <p:cNvSpPr txBox="1"/>
          <p:nvPr/>
        </p:nvSpPr>
        <p:spPr>
          <a:xfrm>
            <a:off x="457200" y="3651250"/>
            <a:ext cx="8229600" cy="30321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685800" lvl="0" indent="-342900" eaLnBrk="1">
              <a:lnSpc>
                <a:spcPct val="150000"/>
              </a:lnSpc>
              <a:buFont typeface="Wingdings" panose="05000000000000000000" pitchFamily="2" charset="2"/>
              <a:buChar char="p"/>
            </a:pPr>
            <a:r>
              <a:rPr lang="zh-CN" altLang="en-US" sz="1800">
                <a:latin typeface="等线" panose="02010600030101010101" pitchFamily="2" charset="-122"/>
                <a:ea typeface="等线" panose="02010600030101010101" pitchFamily="2" charset="-122"/>
                <a:cs typeface="等线" panose="02010600030101010101" pitchFamily="2" charset="-122"/>
              </a:rPr>
              <a:t>试说明是否会发生这些因果转换： </a:t>
            </a:r>
            <a:r>
              <a:rPr lang="en-US" altLang="zh-CN" sz="1800">
                <a:latin typeface="等线" panose="02010600030101010101" pitchFamily="2" charset="-122"/>
                <a:ea typeface="等线" panose="02010600030101010101" pitchFamily="2" charset="-122"/>
                <a:cs typeface="等线" panose="02010600030101010101" pitchFamily="2" charset="-122"/>
              </a:rPr>
              <a:t>2-&gt;1; 3-&gt;2; 4-&gt;1</a:t>
            </a:r>
            <a:r>
              <a:rPr lang="zh-CN" altLang="en-US" sz="1800">
                <a:latin typeface="等线" panose="02010600030101010101" pitchFamily="2" charset="-122"/>
                <a:ea typeface="等线" panose="02010600030101010101" pitchFamily="2" charset="-122"/>
                <a:cs typeface="等线" panose="02010600030101010101" pitchFamily="2" charset="-122"/>
              </a:rPr>
              <a:t>。</a:t>
            </a:r>
          </a:p>
          <a:p>
            <a:pPr marL="685800" lvl="0" indent="-342900" eaLnBrk="1">
              <a:lnSpc>
                <a:spcPct val="150000"/>
              </a:lnSpc>
              <a:buFont typeface="Wingdings" panose="05000000000000000000" pitchFamily="2" charset="2"/>
              <a:buChar char="ü"/>
            </a:pPr>
            <a:r>
              <a:rPr lang="zh-CN" altLang="en-US" sz="1600">
                <a:latin typeface="等线" panose="02010600030101010101" pitchFamily="2" charset="-122"/>
                <a:ea typeface="等线" panose="02010600030101010101" pitchFamily="2" charset="-122"/>
                <a:cs typeface="等线" panose="02010600030101010101" pitchFamily="2" charset="-122"/>
              </a:rPr>
              <a:t>所谓因果转换指的是有两个转换，一个转换的发生会引起另一个转换的发生，前一个转换成为因，后一个转换称为果，这两个转换称为因果转换。当然，这种因果关系并不是什么时候都能发生，而是在一定条件下才会发生。</a:t>
            </a:r>
            <a:endParaRPr lang="en-US" altLang="zh-CN" sz="1600">
              <a:latin typeface="等线" panose="02010600030101010101" pitchFamily="2" charset="-122"/>
              <a:ea typeface="等线" panose="02010600030101010101" pitchFamily="2" charset="-122"/>
              <a:cs typeface="等线" panose="02010600030101010101" pitchFamily="2" charset="-122"/>
            </a:endParaRPr>
          </a:p>
          <a:p>
            <a:pPr marL="685800" lvl="0" indent="-342900" eaLnBrk="1">
              <a:lnSpc>
                <a:spcPct val="150000"/>
              </a:lnSpc>
              <a:buFont typeface="Wingdings" panose="05000000000000000000" pitchFamily="2" charset="2"/>
              <a:buChar char="ü"/>
            </a:pPr>
            <a:r>
              <a:rPr lang="en-US" altLang="zh-CN" sz="1600">
                <a:latin typeface="等线" panose="02010600030101010101" pitchFamily="2" charset="-122"/>
                <a:ea typeface="等线" panose="02010600030101010101" pitchFamily="2" charset="-122"/>
                <a:cs typeface="等线" panose="02010600030101010101" pitchFamily="2" charset="-122"/>
              </a:rPr>
              <a:t>4-&gt;1:</a:t>
            </a:r>
            <a:r>
              <a:rPr lang="zh-CN" altLang="en-US" sz="1600">
                <a:latin typeface="等线" panose="02010600030101010101" pitchFamily="2" charset="-122"/>
                <a:ea typeface="等线" panose="02010600030101010101" pitchFamily="2" charset="-122"/>
                <a:cs typeface="等线" panose="02010600030101010101" pitchFamily="2" charset="-122"/>
              </a:rPr>
              <a:t>当处理机空闲且就绪队列为空时，某一进程的转换</a:t>
            </a:r>
            <a:r>
              <a:rPr lang="en-US" altLang="zh-CN" sz="1600">
                <a:latin typeface="等线" panose="02010600030101010101" pitchFamily="2" charset="-122"/>
                <a:ea typeface="等线" panose="02010600030101010101" pitchFamily="2" charset="-122"/>
                <a:cs typeface="等线" panose="02010600030101010101" pitchFamily="2" charset="-122"/>
              </a:rPr>
              <a:t>4</a:t>
            </a:r>
            <a:r>
              <a:rPr lang="zh-CN" altLang="en-US" sz="1600">
                <a:latin typeface="等线" panose="02010600030101010101" pitchFamily="2" charset="-122"/>
                <a:ea typeface="等线" panose="02010600030101010101" pitchFamily="2" charset="-122"/>
                <a:cs typeface="等线" panose="02010600030101010101" pitchFamily="2" charset="-122"/>
              </a:rPr>
              <a:t>就会引起该进程的转换</a:t>
            </a:r>
            <a:r>
              <a:rPr lang="en-US" altLang="zh-CN" sz="1600">
                <a:latin typeface="等线" panose="02010600030101010101" pitchFamily="2" charset="-122"/>
                <a:ea typeface="等线" panose="02010600030101010101" pitchFamily="2" charset="-122"/>
                <a:cs typeface="等线" panose="02010600030101010101" pitchFamily="2" charset="-122"/>
              </a:rPr>
              <a:t>1</a:t>
            </a:r>
            <a:r>
              <a:rPr lang="zh-CN" altLang="en-US" sz="1600">
                <a:latin typeface="等线" panose="02010600030101010101" pitchFamily="2" charset="-122"/>
                <a:ea typeface="等线" panose="02010600030101010101" pitchFamily="2" charset="-122"/>
                <a:cs typeface="等线" panose="02010600030101010101" pitchFamily="2" charset="-122"/>
              </a:rPr>
              <a:t>。因为</a:t>
            </a:r>
            <a:r>
              <a:rPr lang="zh-CN" altLang="en-US" sz="1600">
                <a:solidFill>
                  <a:srgbClr val="FF0000"/>
                </a:solidFill>
                <a:latin typeface="等线" panose="02010600030101010101" pitchFamily="2" charset="-122"/>
                <a:ea typeface="等线" panose="02010600030101010101" pitchFamily="2" charset="-122"/>
                <a:cs typeface="等线" panose="02010600030101010101" pitchFamily="2" charset="-122"/>
              </a:rPr>
              <a:t>此时处理机空闲</a:t>
            </a:r>
            <a:r>
              <a:rPr lang="zh-CN" altLang="en-US" sz="1600">
                <a:latin typeface="等线" panose="02010600030101010101" pitchFamily="2" charset="-122"/>
                <a:ea typeface="等线" panose="02010600030101010101" pitchFamily="2" charset="-122"/>
                <a:cs typeface="等线" panose="02010600030101010101" pitchFamily="2" charset="-122"/>
              </a:rPr>
              <a:t>，一旦某个进程发生转换</a:t>
            </a:r>
            <a:r>
              <a:rPr lang="en-US" altLang="zh-CN" sz="1600">
                <a:latin typeface="等线" panose="02010600030101010101" pitchFamily="2" charset="-122"/>
                <a:ea typeface="等线" panose="02010600030101010101" pitchFamily="2" charset="-122"/>
                <a:cs typeface="等线" panose="02010600030101010101" pitchFamily="2" charset="-122"/>
              </a:rPr>
              <a:t>4</a:t>
            </a:r>
            <a:r>
              <a:rPr lang="zh-CN" altLang="en-US" sz="1600">
                <a:latin typeface="等线" panose="02010600030101010101" pitchFamily="2" charset="-122"/>
                <a:ea typeface="等线" panose="02010600030101010101" pitchFamily="2" charset="-122"/>
                <a:cs typeface="等线" panose="02010600030101010101" pitchFamily="2" charset="-122"/>
              </a:rPr>
              <a:t>，就意味着有一个进程从阻塞状态变为就绪状态，因而调度程序就会将就绪队列中的此进程投入运行。</a:t>
            </a:r>
            <a:endParaRPr lang="en-US" altLang="zh-CN" sz="16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p:cNvSpPr>
          <p:nvPr>
            <p:ph type="title"/>
          </p:nvPr>
        </p:nvSpPr>
        <p:spPr>
          <a:ln/>
        </p:spPr>
        <p:txBody>
          <a:bodyPr vert="horz" wrap="square" lIns="91440" tIns="45720" rIns="91440" bIns="45720" anchor="b" anchorCtr="0"/>
          <a:lstStyle/>
          <a:p>
            <a:r>
              <a:rPr lang="en-US" altLang="zh-CN" sz="2800"/>
              <a:t>Operations on processes</a:t>
            </a:r>
          </a:p>
        </p:txBody>
      </p:sp>
      <p:sp>
        <p:nvSpPr>
          <p:cNvPr id="91138" name="Rectangle 3"/>
          <p:cNvSpPr>
            <a:spLocks noGrp="1"/>
          </p:cNvSpPr>
          <p:nvPr>
            <p:ph idx="1"/>
          </p:nvPr>
        </p:nvSpPr>
        <p:spPr>
          <a:xfrm>
            <a:off x="806450" y="1233488"/>
            <a:ext cx="7683500" cy="4530725"/>
          </a:xfrm>
          <a:ln/>
        </p:spPr>
        <p:txBody>
          <a:bodyPr vert="horz" wrap="square" lIns="91440" tIns="45720" rIns="91440" bIns="45720" anchor="t" anchorCtr="0"/>
          <a:lstStyle/>
          <a:p>
            <a:r>
              <a:rPr lang="en-US" altLang="zh-CN" sz="2400"/>
              <a:t>The processes in the system can executes </a:t>
            </a:r>
            <a:r>
              <a:rPr lang="en-US" altLang="zh-CN" sz="2400">
                <a:solidFill>
                  <a:srgbClr val="FF0000"/>
                </a:solidFill>
              </a:rPr>
              <a:t>concurrently</a:t>
            </a:r>
            <a:r>
              <a:rPr lang="en-US" altLang="zh-CN" sz="2400"/>
              <a:t>, and they must be created and deleted </a:t>
            </a:r>
            <a:r>
              <a:rPr lang="en-US" altLang="zh-CN" sz="2400">
                <a:solidFill>
                  <a:srgbClr val="FF0000"/>
                </a:solidFill>
              </a:rPr>
              <a:t>dynamically</a:t>
            </a:r>
            <a:r>
              <a:rPr lang="en-US" altLang="zh-CN" sz="2400"/>
              <a:t>.</a:t>
            </a:r>
          </a:p>
          <a:p>
            <a:r>
              <a:rPr lang="en-US" altLang="zh-CN" sz="2400"/>
              <a:t>The operating system must provide a mechanism  for process creation and termination.</a:t>
            </a:r>
          </a:p>
          <a:p>
            <a:pPr lvl="1"/>
            <a:r>
              <a:rPr lang="en-US" altLang="zh-CN" sz="2400"/>
              <a:t>The mechanism is process control.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p:cNvSpPr>
          <p:nvPr>
            <p:ph type="title"/>
          </p:nvPr>
        </p:nvSpPr>
        <p:spPr>
          <a:ln/>
        </p:spPr>
        <p:txBody>
          <a:bodyPr vert="horz" wrap="square" lIns="91440" tIns="45720" rIns="91440" bIns="45720" anchor="b" anchorCtr="0"/>
          <a:lstStyle/>
          <a:p>
            <a:r>
              <a:rPr lang="en-US" altLang="zh-CN" sz="2800"/>
              <a:t>Operations on processes</a:t>
            </a:r>
            <a:endParaRPr lang="zh-CN" altLang="en-US" sz="2800"/>
          </a:p>
        </p:txBody>
      </p:sp>
      <p:sp>
        <p:nvSpPr>
          <p:cNvPr id="93186" name="Rectangle 3"/>
          <p:cNvSpPr>
            <a:spLocks noGrp="1"/>
          </p:cNvSpPr>
          <p:nvPr>
            <p:ph idx="1"/>
          </p:nvPr>
        </p:nvSpPr>
        <p:spPr>
          <a:ln/>
        </p:spPr>
        <p:txBody>
          <a:bodyPr vert="horz" wrap="square" lIns="91440" tIns="45720" rIns="91440" bIns="45720" anchor="t" anchorCtr="0"/>
          <a:lstStyle/>
          <a:p>
            <a:r>
              <a:rPr lang="en-US" altLang="zh-CN" sz="2400"/>
              <a:t>Process creation</a:t>
            </a:r>
          </a:p>
          <a:p>
            <a:r>
              <a:rPr lang="en-US" altLang="zh-CN" sz="2400"/>
              <a:t>Process Termination</a:t>
            </a:r>
          </a:p>
          <a:p>
            <a:r>
              <a:rPr lang="en-US" altLang="zh-CN" sz="2400"/>
              <a:t>Process  blocking</a:t>
            </a:r>
          </a:p>
          <a:p>
            <a:r>
              <a:rPr lang="en-US" altLang="zh-CN" sz="2400"/>
              <a:t>Process wakeup</a:t>
            </a:r>
          </a:p>
          <a:p>
            <a:r>
              <a:rPr lang="en-US" altLang="zh-CN" sz="2400"/>
              <a:t>Process  suspend</a:t>
            </a:r>
          </a:p>
          <a:p>
            <a:r>
              <a:rPr lang="en-US" altLang="zh-CN" sz="2400"/>
              <a:t>Process  activate</a:t>
            </a:r>
          </a:p>
          <a:p>
            <a:endParaRPr lang="en-US" altLang="zh-CN"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a:t>
            </a:r>
          </a:p>
        </p:txBody>
      </p:sp>
      <p:sp>
        <p:nvSpPr>
          <p:cNvPr id="79875" name="Rectangle 3"/>
          <p:cNvSpPr>
            <a:spLocks noGrp="1"/>
          </p:cNvSpPr>
          <p:nvPr>
            <p:ph idx="1"/>
          </p:nvPr>
        </p:nvSpPr>
        <p:spPr>
          <a:ln/>
        </p:spPr>
        <p:txBody>
          <a:bodyPr vert="horz" wrap="square" lIns="91440" tIns="45720" rIns="91440" bIns="45720" anchor="t" anchorCtr="0"/>
          <a:lstStyle/>
          <a:p>
            <a:r>
              <a:rPr lang="en-US" altLang="zh-CN" sz="2000" b="1"/>
              <a:t>Parent </a:t>
            </a:r>
            <a:r>
              <a:rPr lang="en-US" altLang="zh-CN" sz="2000"/>
              <a:t>process create </a:t>
            </a:r>
            <a:r>
              <a:rPr lang="en-US" altLang="zh-CN" sz="2000" b="1"/>
              <a:t>children </a:t>
            </a:r>
            <a:r>
              <a:rPr lang="en-US" altLang="zh-CN" sz="2000"/>
              <a:t>processes, which, in turn create other processes, forming a tree of processes</a:t>
            </a:r>
          </a:p>
          <a:p>
            <a:r>
              <a:rPr lang="en-US" altLang="zh-CN" sz="2000"/>
              <a:t>Generally, process identified and managed via </a:t>
            </a:r>
            <a:r>
              <a:rPr lang="en-US" altLang="zh-CN" sz="2000" b="1"/>
              <a:t>a process identifier </a:t>
            </a:r>
            <a:r>
              <a:rPr lang="en-US" altLang="zh-CN" sz="2000"/>
              <a:t>(</a:t>
            </a:r>
            <a:r>
              <a:rPr lang="en-US" altLang="zh-CN" sz="2000" b="1"/>
              <a:t>pid</a:t>
            </a:r>
            <a:r>
              <a:rPr lang="en-US" altLang="zh-CN" sz="2000"/>
              <a:t>)</a:t>
            </a:r>
          </a:p>
          <a:p>
            <a:r>
              <a:rPr lang="en-US" altLang="zh-CN" sz="2000"/>
              <a:t>Resource sharing</a:t>
            </a:r>
          </a:p>
          <a:p>
            <a:pPr lvl="1"/>
            <a:r>
              <a:rPr lang="en-US" altLang="zh-CN" sz="2000"/>
              <a:t>Parent and children </a:t>
            </a:r>
            <a:r>
              <a:rPr lang="en-US" altLang="zh-CN" sz="2000">
                <a:solidFill>
                  <a:srgbClr val="FF0000"/>
                </a:solidFill>
              </a:rPr>
              <a:t>share all </a:t>
            </a:r>
            <a:r>
              <a:rPr lang="en-US" altLang="zh-CN" sz="2000"/>
              <a:t>resources </a:t>
            </a:r>
            <a:r>
              <a:rPr lang="zh-CN" altLang="en-US" sz="2000"/>
              <a:t>（嵌入式系统）</a:t>
            </a:r>
            <a:endParaRPr lang="en-US" altLang="zh-CN" sz="2000"/>
          </a:p>
          <a:p>
            <a:pPr lvl="1"/>
            <a:r>
              <a:rPr lang="en-US" altLang="zh-CN" sz="2000"/>
              <a:t>Children </a:t>
            </a:r>
            <a:r>
              <a:rPr lang="en-US" altLang="zh-CN" sz="2000">
                <a:solidFill>
                  <a:srgbClr val="FF0000"/>
                </a:solidFill>
              </a:rPr>
              <a:t>share subset </a:t>
            </a:r>
            <a:r>
              <a:rPr lang="en-US" altLang="zh-CN" sz="2000"/>
              <a:t>of parent’s resources </a:t>
            </a:r>
            <a:r>
              <a:rPr lang="zh-CN" altLang="en-US" sz="2000"/>
              <a:t>（</a:t>
            </a:r>
            <a:r>
              <a:rPr lang="en-US" altLang="zh-CN" sz="2000"/>
              <a:t>Unix</a:t>
            </a:r>
            <a:r>
              <a:rPr lang="zh-CN" altLang="en-US" sz="2000"/>
              <a:t>系统）</a:t>
            </a:r>
            <a:endParaRPr lang="en-US" altLang="zh-CN" sz="2000"/>
          </a:p>
          <a:p>
            <a:pPr lvl="1"/>
            <a:r>
              <a:rPr lang="en-US" altLang="zh-CN" sz="2000"/>
              <a:t>Parent and child </a:t>
            </a:r>
            <a:r>
              <a:rPr lang="en-US" altLang="zh-CN" sz="2000">
                <a:solidFill>
                  <a:srgbClr val="FF0000"/>
                </a:solidFill>
              </a:rPr>
              <a:t>share no </a:t>
            </a:r>
            <a:r>
              <a:rPr lang="en-US" altLang="zh-CN" sz="2000"/>
              <a:t>resources</a:t>
            </a:r>
            <a:r>
              <a:rPr lang="zh-CN" altLang="en-US" sz="2000"/>
              <a:t>（</a:t>
            </a:r>
            <a:r>
              <a:rPr lang="en-US" altLang="zh-CN" sz="2000"/>
              <a:t>Windows</a:t>
            </a:r>
            <a:r>
              <a:rPr lang="zh-CN" altLang="en-US" sz="2000"/>
              <a:t>系统）</a:t>
            </a:r>
            <a:endParaRPr lang="en-US" altLang="zh-CN" sz="2000"/>
          </a:p>
          <a:p>
            <a:r>
              <a:rPr lang="en-US" altLang="zh-CN" sz="2000"/>
              <a:t>Execution</a:t>
            </a:r>
          </a:p>
          <a:p>
            <a:pPr lvl="1"/>
            <a:r>
              <a:rPr lang="en-US" altLang="zh-CN" sz="2000"/>
              <a:t>Parent and children execute </a:t>
            </a:r>
            <a:r>
              <a:rPr lang="en-US" altLang="zh-CN" sz="2000">
                <a:solidFill>
                  <a:srgbClr val="FF0000"/>
                </a:solidFill>
              </a:rPr>
              <a:t>concurrently</a:t>
            </a:r>
          </a:p>
          <a:p>
            <a:pPr lvl="1"/>
            <a:r>
              <a:rPr lang="en-US" altLang="zh-CN" sz="2000"/>
              <a:t>Parent </a:t>
            </a:r>
            <a:r>
              <a:rPr lang="en-US" altLang="zh-CN" sz="2000">
                <a:solidFill>
                  <a:srgbClr val="FF0000"/>
                </a:solidFill>
              </a:rPr>
              <a:t>waits</a:t>
            </a:r>
            <a:r>
              <a:rPr lang="en-US" altLang="zh-CN" sz="2000"/>
              <a:t> until children terminate</a:t>
            </a:r>
          </a:p>
          <a:p>
            <a:pPr>
              <a:buNone/>
            </a:pP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p:nvPr>
        </p:nvSpPr>
        <p:spPr>
          <a:xfrm>
            <a:off x="1042988" y="277813"/>
            <a:ext cx="8229600" cy="576262"/>
          </a:xfrm>
          <a:ln/>
        </p:spPr>
        <p:txBody>
          <a:bodyPr vert="horz" wrap="square" lIns="91440" tIns="45720" rIns="91440" bIns="45720" anchor="b" anchorCtr="0"/>
          <a:lstStyle/>
          <a:p>
            <a:pPr eaLnBrk="1" hangingPunct="1"/>
            <a:r>
              <a:rPr lang="en-US" altLang="zh-CN"/>
              <a:t>A tree of processes on a typical Solaris</a:t>
            </a:r>
          </a:p>
        </p:txBody>
      </p:sp>
      <p:pic>
        <p:nvPicPr>
          <p:cNvPr id="97282" name="Picture 4"/>
          <p:cNvPicPr>
            <a:picLocks noChangeAspect="1"/>
          </p:cNvPicPr>
          <p:nvPr/>
        </p:nvPicPr>
        <p:blipFill>
          <a:blip r:embed="rId3"/>
          <a:stretch>
            <a:fillRect/>
          </a:stretch>
        </p:blipFill>
        <p:spPr>
          <a:xfrm>
            <a:off x="1949450" y="1343025"/>
            <a:ext cx="5437188" cy="4795838"/>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 (Cont)</a:t>
            </a:r>
          </a:p>
        </p:txBody>
      </p:sp>
      <p:sp>
        <p:nvSpPr>
          <p:cNvPr id="99330" name="Rectangle 3"/>
          <p:cNvSpPr>
            <a:spLocks noGrp="1"/>
          </p:cNvSpPr>
          <p:nvPr>
            <p:ph idx="1"/>
          </p:nvPr>
        </p:nvSpPr>
        <p:spPr>
          <a:ln/>
        </p:spPr>
        <p:txBody>
          <a:bodyPr vert="horz" wrap="square" lIns="91440" tIns="45720" rIns="91440" bIns="45720" anchor="t" anchorCtr="0"/>
          <a:lstStyle/>
          <a:p>
            <a:r>
              <a:rPr lang="en-US" altLang="zh-CN" sz="2000" dirty="0"/>
              <a:t>Address space </a:t>
            </a:r>
            <a:r>
              <a:rPr lang="zh-CN" altLang="en-US" sz="2000" dirty="0"/>
              <a:t>（</a:t>
            </a:r>
            <a:r>
              <a:rPr lang="zh-CN" altLang="en-US" sz="2000" dirty="0">
                <a:latin typeface="等线" panose="02010600030101010101" pitchFamily="2" charset="-122"/>
                <a:ea typeface="等线" panose="02010600030101010101" pitchFamily="2" charset="-122"/>
              </a:rPr>
              <a:t>复制</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全新</a:t>
            </a:r>
            <a:r>
              <a:rPr lang="zh-CN" altLang="en-US" sz="2000" dirty="0"/>
              <a:t>）</a:t>
            </a:r>
            <a:endParaRPr lang="en-US" altLang="zh-CN" sz="2000" dirty="0"/>
          </a:p>
          <a:p>
            <a:pPr lvl="1"/>
            <a:r>
              <a:rPr lang="en-US" altLang="zh-CN" sz="2000" dirty="0"/>
              <a:t>Child </a:t>
            </a:r>
            <a:r>
              <a:rPr lang="en-US" altLang="zh-CN" sz="2000" dirty="0">
                <a:solidFill>
                  <a:srgbClr val="FF0000"/>
                </a:solidFill>
              </a:rPr>
              <a:t>duplicate</a:t>
            </a:r>
            <a:r>
              <a:rPr lang="en-US" altLang="zh-CN" sz="2000" dirty="0"/>
              <a:t> of parent (Unix)</a:t>
            </a:r>
          </a:p>
          <a:p>
            <a:pPr lvl="1"/>
            <a:r>
              <a:rPr lang="en-US" altLang="zh-CN" sz="2000" dirty="0"/>
              <a:t>Child has </a:t>
            </a:r>
            <a:r>
              <a:rPr lang="en-US" altLang="zh-CN" sz="2000" dirty="0">
                <a:solidFill>
                  <a:srgbClr val="FF0000"/>
                </a:solidFill>
              </a:rPr>
              <a:t>a program loaded </a:t>
            </a:r>
            <a:r>
              <a:rPr lang="en-US" altLang="zh-CN" sz="2000" dirty="0"/>
              <a:t>into it (Windows)</a:t>
            </a:r>
          </a:p>
          <a:p>
            <a:r>
              <a:rPr lang="en-US" altLang="zh-CN" sz="2000" dirty="0"/>
              <a:t>UNIX examples</a:t>
            </a:r>
          </a:p>
          <a:p>
            <a:pPr lvl="1"/>
            <a:r>
              <a:rPr lang="en-US" altLang="zh-CN" sz="2000" b="1" dirty="0"/>
              <a:t>fork</a:t>
            </a:r>
            <a:r>
              <a:rPr lang="en-US" altLang="zh-CN" sz="2000" dirty="0"/>
              <a:t> system call creates new process</a:t>
            </a:r>
          </a:p>
          <a:p>
            <a:pPr lvl="1"/>
            <a:r>
              <a:rPr lang="en-US" altLang="zh-CN" sz="2000" b="1" dirty="0"/>
              <a:t>exec</a:t>
            </a:r>
            <a:r>
              <a:rPr lang="en-US" altLang="zh-CN" sz="2000" dirty="0"/>
              <a:t> system call used after a </a:t>
            </a:r>
            <a:r>
              <a:rPr lang="en-US" altLang="zh-CN" sz="2000" b="1" dirty="0"/>
              <a:t>fork</a:t>
            </a:r>
            <a:r>
              <a:rPr lang="en-US" altLang="zh-CN" sz="2000" dirty="0"/>
              <a:t> to </a:t>
            </a:r>
            <a:r>
              <a:rPr lang="en-US" altLang="zh-CN" sz="2000" dirty="0">
                <a:solidFill>
                  <a:srgbClr val="FF0000"/>
                </a:solidFill>
              </a:rPr>
              <a:t>replace</a:t>
            </a:r>
            <a:r>
              <a:rPr lang="en-US" altLang="zh-CN" sz="2000" dirty="0"/>
              <a:t> the process’ </a:t>
            </a:r>
            <a:r>
              <a:rPr lang="en-US" altLang="zh-CN" sz="2000" dirty="0">
                <a:solidFill>
                  <a:srgbClr val="FF0000"/>
                </a:solidFill>
              </a:rPr>
              <a:t>memory space </a:t>
            </a:r>
            <a:r>
              <a:rPr lang="en-US" altLang="zh-CN" sz="2000" dirty="0"/>
              <a:t>with a new program</a:t>
            </a:r>
          </a:p>
          <a:p>
            <a:r>
              <a:rPr lang="en-US" altLang="zh-CN" sz="2000" dirty="0"/>
              <a:t>Windows NT </a:t>
            </a:r>
          </a:p>
          <a:p>
            <a:pPr lvl="1"/>
            <a:r>
              <a:rPr lang="en-US" altLang="zh-CN" sz="2000" dirty="0"/>
              <a:t>Supports both models: the parent’s address space may be duplicated, or the parent may specify the name of a program for the OS to load into the address of the new process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3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33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9330">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0">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93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p:nvPr>
        </p:nvSpPr>
        <p:spPr>
          <a:xfrm>
            <a:off x="885825" y="277813"/>
            <a:ext cx="8229600" cy="576262"/>
          </a:xfrm>
          <a:ln/>
        </p:spPr>
        <p:txBody>
          <a:bodyPr vert="horz" wrap="square" lIns="91440" tIns="45720" rIns="91440" bIns="45720" anchor="b" anchorCtr="0"/>
          <a:lstStyle/>
          <a:p>
            <a:pPr eaLnBrk="1" hangingPunct="1"/>
            <a:r>
              <a:rPr lang="en-US" altLang="zh-CN"/>
              <a:t>C Program Forking Separate Process</a:t>
            </a:r>
          </a:p>
        </p:txBody>
      </p:sp>
      <p:sp>
        <p:nvSpPr>
          <p:cNvPr id="101378" name="Rectangle 3"/>
          <p:cNvSpPr>
            <a:spLocks noGrp="1"/>
          </p:cNvSpPr>
          <p:nvPr>
            <p:ph idx="1"/>
          </p:nvPr>
        </p:nvSpPr>
        <p:spPr>
          <a:xfrm>
            <a:off x="568325" y="901700"/>
            <a:ext cx="8229600" cy="5649913"/>
          </a:xfrm>
          <a:ln/>
        </p:spPr>
        <p:txBody>
          <a:bodyPr vert="horz" wrap="square" lIns="91440" tIns="45720" rIns="91440" bIns="45720" anchor="t" anchorCtr="0"/>
          <a:lstStyle/>
          <a:p>
            <a:pPr>
              <a:lnSpc>
                <a:spcPct val="80000"/>
              </a:lnSpc>
              <a:buNone/>
            </a:pPr>
            <a:r>
              <a:rPr lang="en-US" altLang="zh-CN" sz="1600" b="1" dirty="0">
                <a:latin typeface="等线" panose="02010600030101010101" pitchFamily="2" charset="-122"/>
                <a:ea typeface="等线" panose="02010600030101010101" pitchFamily="2" charset="-122"/>
              </a:rPr>
              <a:t>int main()</a:t>
            </a:r>
          </a:p>
          <a:p>
            <a:pPr>
              <a:lnSpc>
                <a:spcPct val="80000"/>
              </a:lnSpc>
              <a:buNone/>
            </a:pPr>
            <a:r>
              <a:rPr lang="en-US" altLang="zh-CN" sz="1600" b="1" dirty="0">
                <a:latin typeface="等线" panose="02010600030101010101" pitchFamily="2" charset="-122"/>
                <a:ea typeface="等线" panose="02010600030101010101" pitchFamily="2" charset="-122"/>
              </a:rPr>
              <a:t>{</a:t>
            </a:r>
          </a:p>
          <a:p>
            <a:pPr>
              <a:lnSpc>
                <a:spcPct val="80000"/>
              </a:lnSpc>
              <a:buNone/>
            </a:pPr>
            <a:r>
              <a:rPr lang="en-US" altLang="zh-CN" sz="1600" b="1" dirty="0" err="1">
                <a:latin typeface="等线" panose="02010600030101010101" pitchFamily="2" charset="-122"/>
                <a:ea typeface="等线" panose="02010600030101010101" pitchFamily="2" charset="-122"/>
              </a:rPr>
              <a:t>pid_t</a:t>
            </a:r>
            <a:r>
              <a:rPr lang="en-US" altLang="zh-CN" sz="1600" b="1" dirty="0">
                <a:latin typeface="等线" panose="02010600030101010101" pitchFamily="2" charset="-122"/>
                <a:ea typeface="等线" panose="02010600030101010101" pitchFamily="2" charset="-122"/>
              </a:rPr>
              <a:t>  </a:t>
            </a:r>
            <a:r>
              <a:rPr lang="en-US" altLang="zh-CN" sz="1600" b="1" dirty="0" err="1">
                <a:latin typeface="等线" panose="02010600030101010101" pitchFamily="2" charset="-122"/>
                <a:ea typeface="等线" panose="02010600030101010101" pitchFamily="2" charset="-122"/>
              </a:rPr>
              <a:t>pid</a:t>
            </a:r>
            <a:r>
              <a:rPr lang="en-US" altLang="zh-CN" sz="1600" b="1" dirty="0">
                <a:latin typeface="等线" panose="02010600030101010101" pitchFamily="2" charset="-122"/>
                <a:ea typeface="等线" panose="02010600030101010101" pitchFamily="2" charset="-122"/>
              </a:rPr>
              <a:t>;</a:t>
            </a:r>
          </a:p>
          <a:p>
            <a:pPr>
              <a:lnSpc>
                <a:spcPct val="80000"/>
              </a:lnSpc>
              <a:buNone/>
            </a:pPr>
            <a:r>
              <a:rPr lang="en-US" altLang="zh-CN" sz="1600" b="1" dirty="0">
                <a:latin typeface="等线" panose="02010600030101010101" pitchFamily="2" charset="-122"/>
                <a:ea typeface="等线" panose="02010600030101010101" pitchFamily="2" charset="-122"/>
              </a:rPr>
              <a:t>	/* fork another process */</a:t>
            </a:r>
          </a:p>
          <a:p>
            <a:pPr>
              <a:lnSpc>
                <a:spcPct val="80000"/>
              </a:lnSpc>
              <a:buNone/>
            </a:pPr>
            <a:r>
              <a:rPr lang="en-US" altLang="zh-CN" sz="1600" b="1" dirty="0">
                <a:latin typeface="等线" panose="02010600030101010101" pitchFamily="2" charset="-122"/>
                <a:ea typeface="等线" panose="02010600030101010101" pitchFamily="2" charset="-122"/>
              </a:rPr>
              <a:t>	</a:t>
            </a:r>
            <a:r>
              <a:rPr lang="en-US" altLang="zh-CN" sz="1600" b="1" dirty="0" err="1">
                <a:latin typeface="等线" panose="02010600030101010101" pitchFamily="2" charset="-122"/>
                <a:ea typeface="等线" panose="02010600030101010101" pitchFamily="2" charset="-122"/>
              </a:rPr>
              <a:t>pid</a:t>
            </a:r>
            <a:r>
              <a:rPr lang="en-US" altLang="zh-CN" sz="1600" b="1" dirty="0">
                <a:latin typeface="等线" panose="02010600030101010101" pitchFamily="2" charset="-122"/>
                <a:ea typeface="等线" panose="02010600030101010101" pitchFamily="2" charset="-122"/>
              </a:rPr>
              <a:t> = fork();</a:t>
            </a:r>
          </a:p>
          <a:p>
            <a:pPr>
              <a:lnSpc>
                <a:spcPct val="80000"/>
              </a:lnSpc>
              <a:buNone/>
            </a:pPr>
            <a:r>
              <a:rPr lang="en-US" altLang="zh-CN" sz="1600" b="1" dirty="0">
                <a:latin typeface="等线" panose="02010600030101010101" pitchFamily="2" charset="-122"/>
                <a:ea typeface="等线" panose="02010600030101010101" pitchFamily="2" charset="-122"/>
              </a:rPr>
              <a:t>	if (</a:t>
            </a:r>
            <a:r>
              <a:rPr lang="en-US" altLang="zh-CN" sz="1600" b="1" dirty="0" err="1">
                <a:latin typeface="等线" panose="02010600030101010101" pitchFamily="2" charset="-122"/>
                <a:ea typeface="等线" panose="02010600030101010101" pitchFamily="2" charset="-122"/>
              </a:rPr>
              <a:t>pid</a:t>
            </a:r>
            <a:r>
              <a:rPr lang="en-US" altLang="zh-CN" sz="1600" b="1" dirty="0">
                <a:latin typeface="等线" panose="02010600030101010101" pitchFamily="2" charset="-122"/>
                <a:ea typeface="等线" panose="02010600030101010101" pitchFamily="2" charset="-122"/>
              </a:rPr>
              <a:t> &lt; 0) { /* </a:t>
            </a:r>
            <a:r>
              <a:rPr lang="en-US" altLang="zh-CN" sz="1600" b="1" dirty="0">
                <a:solidFill>
                  <a:srgbClr val="FF0000"/>
                </a:solidFill>
                <a:latin typeface="等线" panose="02010600030101010101" pitchFamily="2" charset="-122"/>
                <a:ea typeface="等线" panose="02010600030101010101" pitchFamily="2" charset="-122"/>
              </a:rPr>
              <a:t>error occurred </a:t>
            </a:r>
            <a:r>
              <a:rPr lang="en-US" altLang="zh-CN" sz="1600" b="1" dirty="0">
                <a:latin typeface="等线" panose="02010600030101010101" pitchFamily="2" charset="-122"/>
                <a:ea typeface="等线" panose="02010600030101010101" pitchFamily="2" charset="-122"/>
              </a:rPr>
              <a:t>*/</a:t>
            </a:r>
          </a:p>
          <a:p>
            <a:pPr>
              <a:lnSpc>
                <a:spcPct val="80000"/>
              </a:lnSpc>
              <a:buNone/>
            </a:pPr>
            <a:r>
              <a:rPr lang="en-US" altLang="zh-CN" sz="1600" b="1" dirty="0">
                <a:latin typeface="等线" panose="02010600030101010101" pitchFamily="2" charset="-122"/>
                <a:ea typeface="等线" panose="02010600030101010101" pitchFamily="2" charset="-122"/>
              </a:rPr>
              <a:t>		</a:t>
            </a:r>
            <a:r>
              <a:rPr lang="en-US" altLang="zh-CN" sz="1600" b="1" dirty="0" err="1">
                <a:latin typeface="等线" panose="02010600030101010101" pitchFamily="2" charset="-122"/>
                <a:ea typeface="等线" panose="02010600030101010101" pitchFamily="2" charset="-122"/>
              </a:rPr>
              <a:t>fprintf</a:t>
            </a:r>
            <a:r>
              <a:rPr lang="en-US" altLang="zh-CN" sz="1600" b="1" dirty="0">
                <a:latin typeface="等线" panose="02010600030101010101" pitchFamily="2" charset="-122"/>
                <a:ea typeface="等线" panose="02010600030101010101" pitchFamily="2" charset="-122"/>
              </a:rPr>
              <a:t>(stderr, "Fork Failed");</a:t>
            </a:r>
          </a:p>
          <a:p>
            <a:pPr>
              <a:lnSpc>
                <a:spcPct val="80000"/>
              </a:lnSpc>
              <a:buNone/>
            </a:pPr>
            <a:r>
              <a:rPr lang="en-US" altLang="zh-CN" sz="1600" b="1" dirty="0">
                <a:latin typeface="等线" panose="02010600030101010101" pitchFamily="2" charset="-122"/>
                <a:ea typeface="等线" panose="02010600030101010101" pitchFamily="2" charset="-122"/>
              </a:rPr>
              <a:t>		exit(-1);</a:t>
            </a:r>
          </a:p>
          <a:p>
            <a:pPr>
              <a:lnSpc>
                <a:spcPct val="80000"/>
              </a:lnSpc>
              <a:buNone/>
            </a:pPr>
            <a:r>
              <a:rPr lang="en-US" altLang="zh-CN" sz="1600" b="1" dirty="0">
                <a:latin typeface="等线" panose="02010600030101010101" pitchFamily="2" charset="-122"/>
                <a:ea typeface="等线" panose="02010600030101010101" pitchFamily="2" charset="-122"/>
              </a:rPr>
              <a:t>	}</a:t>
            </a:r>
          </a:p>
          <a:p>
            <a:pPr>
              <a:lnSpc>
                <a:spcPct val="80000"/>
              </a:lnSpc>
              <a:buNone/>
            </a:pPr>
            <a:r>
              <a:rPr lang="en-US" altLang="zh-CN" sz="1600" b="1" dirty="0">
                <a:latin typeface="等线" panose="02010600030101010101" pitchFamily="2" charset="-122"/>
                <a:ea typeface="等线" panose="02010600030101010101" pitchFamily="2" charset="-122"/>
              </a:rPr>
              <a:t>	else if (</a:t>
            </a:r>
            <a:r>
              <a:rPr lang="en-US" altLang="zh-CN" sz="1600" b="1" dirty="0" err="1">
                <a:latin typeface="等线" panose="02010600030101010101" pitchFamily="2" charset="-122"/>
                <a:ea typeface="等线" panose="02010600030101010101" pitchFamily="2" charset="-122"/>
              </a:rPr>
              <a:t>pid</a:t>
            </a:r>
            <a:r>
              <a:rPr lang="en-US" altLang="zh-CN" sz="1600" b="1" dirty="0">
                <a:latin typeface="等线" panose="02010600030101010101" pitchFamily="2" charset="-122"/>
                <a:ea typeface="等线" panose="02010600030101010101" pitchFamily="2" charset="-122"/>
              </a:rPr>
              <a:t> == 0) { /* </a:t>
            </a:r>
            <a:r>
              <a:rPr lang="en-US" altLang="zh-CN" sz="1600" b="1" dirty="0">
                <a:solidFill>
                  <a:srgbClr val="FF0000"/>
                </a:solidFill>
                <a:latin typeface="等线" panose="02010600030101010101" pitchFamily="2" charset="-122"/>
                <a:ea typeface="等线" panose="02010600030101010101" pitchFamily="2" charset="-122"/>
              </a:rPr>
              <a:t>child process </a:t>
            </a:r>
            <a:r>
              <a:rPr lang="en-US" altLang="zh-CN" sz="1600" b="1" dirty="0">
                <a:latin typeface="等线" panose="02010600030101010101" pitchFamily="2" charset="-122"/>
                <a:ea typeface="等线" panose="02010600030101010101" pitchFamily="2" charset="-122"/>
              </a:rPr>
              <a:t>*/</a:t>
            </a:r>
          </a:p>
          <a:p>
            <a:pPr>
              <a:lnSpc>
                <a:spcPct val="80000"/>
              </a:lnSpc>
              <a:buNone/>
            </a:pPr>
            <a:r>
              <a:rPr lang="en-US" altLang="zh-CN" sz="1600" b="1" dirty="0">
                <a:latin typeface="等线" panose="02010600030101010101" pitchFamily="2" charset="-122"/>
                <a:ea typeface="等线" panose="02010600030101010101" pitchFamily="2" charset="-122"/>
              </a:rPr>
              <a:t>		</a:t>
            </a:r>
            <a:r>
              <a:rPr lang="en-US" altLang="zh-CN" sz="1600" b="1" dirty="0" err="1">
                <a:latin typeface="等线" panose="02010600030101010101" pitchFamily="2" charset="-122"/>
                <a:ea typeface="等线" panose="02010600030101010101" pitchFamily="2" charset="-122"/>
              </a:rPr>
              <a:t>execlp</a:t>
            </a:r>
            <a:r>
              <a:rPr lang="en-US" altLang="zh-CN" sz="1600" b="1" dirty="0">
                <a:latin typeface="等线" panose="02010600030101010101" pitchFamily="2" charset="-122"/>
                <a:ea typeface="等线" panose="02010600030101010101" pitchFamily="2" charset="-122"/>
              </a:rPr>
              <a:t>("/bin/ls", "ls", NULL);</a:t>
            </a:r>
          </a:p>
          <a:p>
            <a:pPr>
              <a:lnSpc>
                <a:spcPct val="80000"/>
              </a:lnSpc>
              <a:buNone/>
            </a:pPr>
            <a:r>
              <a:rPr lang="en-US" altLang="zh-CN" sz="1600" b="1" dirty="0">
                <a:latin typeface="等线" panose="02010600030101010101" pitchFamily="2" charset="-122"/>
                <a:ea typeface="等线" panose="02010600030101010101" pitchFamily="2" charset="-122"/>
              </a:rPr>
              <a:t>	}</a:t>
            </a:r>
          </a:p>
          <a:p>
            <a:pPr>
              <a:lnSpc>
                <a:spcPct val="80000"/>
              </a:lnSpc>
              <a:buNone/>
            </a:pPr>
            <a:r>
              <a:rPr lang="en-US" altLang="zh-CN" sz="1600" b="1" dirty="0">
                <a:latin typeface="等线" panose="02010600030101010101" pitchFamily="2" charset="-122"/>
                <a:ea typeface="等线" panose="02010600030101010101" pitchFamily="2" charset="-122"/>
              </a:rPr>
              <a:t>	else { /* </a:t>
            </a:r>
            <a:r>
              <a:rPr lang="en-US" altLang="zh-CN" sz="1600" b="1" dirty="0">
                <a:solidFill>
                  <a:srgbClr val="FF0000"/>
                </a:solidFill>
                <a:latin typeface="等线" panose="02010600030101010101" pitchFamily="2" charset="-122"/>
                <a:ea typeface="等线" panose="02010600030101010101" pitchFamily="2" charset="-122"/>
              </a:rPr>
              <a:t>parent process </a:t>
            </a:r>
            <a:r>
              <a:rPr lang="en-US" altLang="zh-CN" sz="1600" b="1" dirty="0">
                <a:latin typeface="等线" panose="02010600030101010101" pitchFamily="2" charset="-122"/>
                <a:ea typeface="等线" panose="02010600030101010101" pitchFamily="2" charset="-122"/>
              </a:rPr>
              <a:t>*/</a:t>
            </a:r>
          </a:p>
          <a:p>
            <a:pPr>
              <a:lnSpc>
                <a:spcPct val="80000"/>
              </a:lnSpc>
              <a:buNone/>
            </a:pPr>
            <a:r>
              <a:rPr lang="en-US" altLang="zh-CN" sz="1600" b="1" dirty="0">
                <a:latin typeface="等线" panose="02010600030101010101" pitchFamily="2" charset="-122"/>
                <a:ea typeface="等线" panose="02010600030101010101" pitchFamily="2" charset="-122"/>
              </a:rPr>
              <a:t>		/* parent will wait for the child to complete */</a:t>
            </a:r>
          </a:p>
          <a:p>
            <a:pPr>
              <a:lnSpc>
                <a:spcPct val="80000"/>
              </a:lnSpc>
              <a:buNone/>
            </a:pPr>
            <a:r>
              <a:rPr lang="en-US" altLang="zh-CN" sz="1600" b="1" dirty="0">
                <a:latin typeface="等线" panose="02010600030101010101" pitchFamily="2" charset="-122"/>
                <a:ea typeface="等线" panose="02010600030101010101" pitchFamily="2" charset="-122"/>
              </a:rPr>
              <a:t>		wait (NULL);</a:t>
            </a:r>
          </a:p>
          <a:p>
            <a:pPr>
              <a:lnSpc>
                <a:spcPct val="80000"/>
              </a:lnSpc>
              <a:buNone/>
            </a:pPr>
            <a:r>
              <a:rPr lang="en-US" altLang="zh-CN" sz="1600" b="1" dirty="0">
                <a:latin typeface="等线" panose="02010600030101010101" pitchFamily="2" charset="-122"/>
                <a:ea typeface="等线" panose="02010600030101010101" pitchFamily="2" charset="-122"/>
              </a:rPr>
              <a:t>		</a:t>
            </a:r>
            <a:r>
              <a:rPr lang="en-US" altLang="zh-CN" sz="1600" b="1" dirty="0" err="1">
                <a:latin typeface="等线" panose="02010600030101010101" pitchFamily="2" charset="-122"/>
                <a:ea typeface="等线" panose="02010600030101010101" pitchFamily="2" charset="-122"/>
              </a:rPr>
              <a:t>printf</a:t>
            </a:r>
            <a:r>
              <a:rPr lang="en-US" altLang="zh-CN" sz="1600" b="1" dirty="0">
                <a:latin typeface="等线" panose="02010600030101010101" pitchFamily="2" charset="-122"/>
                <a:ea typeface="等线" panose="02010600030101010101" pitchFamily="2" charset="-122"/>
              </a:rPr>
              <a:t> ("Child Complete");</a:t>
            </a:r>
          </a:p>
          <a:p>
            <a:pPr>
              <a:lnSpc>
                <a:spcPct val="80000"/>
              </a:lnSpc>
              <a:buNone/>
            </a:pPr>
            <a:r>
              <a:rPr lang="en-US" altLang="zh-CN" sz="1600" b="1" dirty="0">
                <a:latin typeface="等线" panose="02010600030101010101" pitchFamily="2" charset="-122"/>
                <a:ea typeface="等线" panose="02010600030101010101" pitchFamily="2" charset="-122"/>
              </a:rPr>
              <a:t>		exit(0);</a:t>
            </a:r>
          </a:p>
          <a:p>
            <a:pPr>
              <a:lnSpc>
                <a:spcPct val="80000"/>
              </a:lnSpc>
              <a:buNone/>
            </a:pPr>
            <a:r>
              <a:rPr lang="en-US" altLang="zh-CN" sz="1600" b="1" dirty="0">
                <a:latin typeface="等线" panose="02010600030101010101" pitchFamily="2" charset="-122"/>
                <a:ea typeface="等线" panose="02010600030101010101" pitchFamily="2" charset="-122"/>
              </a:rPr>
              <a:t>	}</a:t>
            </a:r>
          </a:p>
          <a:p>
            <a:pPr>
              <a:lnSpc>
                <a:spcPct val="80000"/>
              </a:lnSpc>
              <a:buNone/>
            </a:pPr>
            <a:r>
              <a:rPr lang="en-US" altLang="zh-CN" sz="1600" b="1" dirty="0">
                <a:latin typeface="等线" panose="02010600030101010101" pitchFamily="2" charset="-122"/>
                <a:ea typeface="等线" panose="02010600030101010101" pitchFamily="2" charset="-122"/>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a:t>
            </a:r>
          </a:p>
        </p:txBody>
      </p:sp>
      <p:pic>
        <p:nvPicPr>
          <p:cNvPr id="103426" name="Picture 4"/>
          <p:cNvPicPr>
            <a:picLocks noChangeAspect="1"/>
          </p:cNvPicPr>
          <p:nvPr/>
        </p:nvPicPr>
        <p:blipFill>
          <a:blip r:embed="rId3"/>
          <a:stretch>
            <a:fillRect/>
          </a:stretch>
        </p:blipFill>
        <p:spPr>
          <a:xfrm>
            <a:off x="928688" y="2444750"/>
            <a:ext cx="7546975" cy="2012950"/>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p:cNvSpPr>
          <p:nvPr>
            <p:ph type="title"/>
          </p:nvPr>
        </p:nvSpPr>
        <p:spPr>
          <a:xfrm>
            <a:off x="762000" y="38100"/>
            <a:ext cx="7772400" cy="735013"/>
          </a:xfrm>
          <a:ln/>
        </p:spPr>
        <p:txBody>
          <a:bodyPr vert="horz" wrap="square" lIns="91440" tIns="45720" rIns="91440" bIns="45720" anchor="b" anchorCtr="0"/>
          <a:lstStyle/>
          <a:p>
            <a:pPr eaLnBrk="1" hangingPunct="1"/>
            <a:r>
              <a:rPr lang="en-US" altLang="zh-CN">
                <a:latin typeface="Arial Unicode MS" pitchFamily="34" charset="-128"/>
                <a:ea typeface="Arial Unicode MS" pitchFamily="34" charset="-128"/>
              </a:rPr>
              <a:t>Process creation</a:t>
            </a:r>
          </a:p>
        </p:txBody>
      </p:sp>
      <p:sp>
        <p:nvSpPr>
          <p:cNvPr id="409603" name="Rectangle 3"/>
          <p:cNvSpPr>
            <a:spLocks noGrp="1"/>
          </p:cNvSpPr>
          <p:nvPr>
            <p:ph type="body" sz="half"/>
          </p:nvPr>
        </p:nvSpPr>
        <p:spPr>
          <a:xfrm>
            <a:off x="715963" y="1168400"/>
            <a:ext cx="3556000" cy="50165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algn="just" eaLnBrk="1" hangingPunct="1"/>
            <a:r>
              <a:rPr lang="en-US" altLang="zh-CN" sz="2000"/>
              <a:t>UNIX</a:t>
            </a:r>
            <a:endParaRPr lang="zh-CN" altLang="en-US" sz="2000"/>
          </a:p>
          <a:p>
            <a:pPr lvl="0" algn="just" eaLnBrk="1" hangingPunct="1">
              <a:buNone/>
            </a:pPr>
            <a:r>
              <a:rPr lang="zh-CN" altLang="en-US" sz="2000"/>
              <a:t>  </a:t>
            </a:r>
            <a:r>
              <a:rPr lang="en-US" altLang="zh-CN" sz="2000"/>
              <a:t>pid=fork();</a:t>
            </a:r>
          </a:p>
          <a:p>
            <a:pPr lvl="0" algn="just" eaLnBrk="1" hangingPunct="1">
              <a:buNone/>
            </a:pPr>
            <a:r>
              <a:rPr lang="en-US" altLang="zh-CN" sz="2000"/>
              <a:t>	</a:t>
            </a:r>
            <a:r>
              <a:rPr lang="zh-CN" altLang="en-US" sz="2000">
                <a:latin typeface="等线" panose="02010600030101010101" pitchFamily="2" charset="-122"/>
                <a:ea typeface="等线" panose="02010600030101010101" pitchFamily="2" charset="-122"/>
              </a:rPr>
              <a:t>从系统调用</a:t>
            </a:r>
            <a:r>
              <a:rPr lang="en-US" altLang="zh-CN" sz="2000">
                <a:latin typeface="等线" panose="02010600030101010101" pitchFamily="2" charset="-122"/>
                <a:ea typeface="等线" panose="02010600030101010101" pitchFamily="2" charset="-122"/>
              </a:rPr>
              <a:t>fork</a:t>
            </a:r>
            <a:r>
              <a:rPr lang="zh-CN" altLang="en-US" sz="2000">
                <a:latin typeface="等线" panose="02010600030101010101" pitchFamily="2" charset="-122"/>
                <a:ea typeface="等线" panose="02010600030101010101" pitchFamily="2" charset="-122"/>
              </a:rPr>
              <a:t>返回时，</a:t>
            </a:r>
            <a:r>
              <a:rPr lang="en-US" altLang="zh-CN" sz="2000">
                <a:latin typeface="等线" panose="02010600030101010101" pitchFamily="2" charset="-122"/>
                <a:ea typeface="等线" panose="02010600030101010101" pitchFamily="2" charset="-122"/>
              </a:rPr>
              <a:t>CPU</a:t>
            </a:r>
            <a:r>
              <a:rPr lang="zh-CN" altLang="en-US" sz="2000">
                <a:latin typeface="等线" panose="02010600030101010101" pitchFamily="2" charset="-122"/>
                <a:ea typeface="等线" panose="02010600030101010101" pitchFamily="2" charset="-122"/>
              </a:rPr>
              <a:t>在父进程中时，</a:t>
            </a:r>
            <a:r>
              <a:rPr lang="en-US" altLang="zh-CN" sz="2000">
                <a:latin typeface="等线" panose="02010600030101010101" pitchFamily="2" charset="-122"/>
                <a:ea typeface="等线" panose="02010600030101010101" pitchFamily="2" charset="-122"/>
              </a:rPr>
              <a:t>pid</a:t>
            </a:r>
            <a:r>
              <a:rPr lang="zh-CN" altLang="en-US" sz="2000">
                <a:latin typeface="等线" panose="02010600030101010101" pitchFamily="2" charset="-122"/>
                <a:ea typeface="等线" panose="02010600030101010101" pitchFamily="2" charset="-122"/>
              </a:rPr>
              <a:t>值为所创建</a:t>
            </a:r>
            <a:r>
              <a:rPr lang="zh-CN" altLang="en-US" sz="2000">
                <a:solidFill>
                  <a:srgbClr val="FF0000"/>
                </a:solidFill>
                <a:latin typeface="等线" panose="02010600030101010101" pitchFamily="2" charset="-122"/>
                <a:ea typeface="等线" panose="02010600030101010101" pitchFamily="2" charset="-122"/>
              </a:rPr>
              <a:t>子进程的进程号</a:t>
            </a:r>
            <a:r>
              <a:rPr lang="zh-CN" altLang="en-US" sz="2000">
                <a:latin typeface="等线" panose="02010600030101010101" pitchFamily="2" charset="-122"/>
                <a:ea typeface="等线" panose="02010600030101010101" pitchFamily="2" charset="-122"/>
              </a:rPr>
              <a:t>（&gt;0），若在子进程中时，</a:t>
            </a:r>
            <a:r>
              <a:rPr lang="en-US" altLang="zh-CN" sz="2000">
                <a:latin typeface="等线" panose="02010600030101010101" pitchFamily="2" charset="-122"/>
                <a:ea typeface="等线" panose="02010600030101010101" pitchFamily="2" charset="-122"/>
              </a:rPr>
              <a:t>pid</a:t>
            </a:r>
            <a:r>
              <a:rPr lang="zh-CN" altLang="en-US" sz="2000">
                <a:latin typeface="等线" panose="02010600030101010101" pitchFamily="2" charset="-122"/>
                <a:ea typeface="等线" panose="02010600030101010101" pitchFamily="2" charset="-122"/>
              </a:rPr>
              <a:t>的值为</a:t>
            </a:r>
            <a:r>
              <a:rPr lang="zh-CN" altLang="en-US" sz="2000">
                <a:solidFill>
                  <a:srgbClr val="FF0000"/>
                </a:solidFill>
                <a:latin typeface="等线" panose="02010600030101010101" pitchFamily="2" charset="-122"/>
                <a:ea typeface="等线" panose="02010600030101010101" pitchFamily="2" charset="-122"/>
              </a:rPr>
              <a:t>零</a:t>
            </a:r>
            <a:r>
              <a:rPr lang="zh-CN" altLang="en-US" sz="2000">
                <a:latin typeface="等线" panose="02010600030101010101" pitchFamily="2" charset="-122"/>
                <a:ea typeface="等线" panose="02010600030101010101" pitchFamily="2" charset="-122"/>
              </a:rPr>
              <a:t>。</a:t>
            </a:r>
          </a:p>
        </p:txBody>
      </p:sp>
      <p:grpSp>
        <p:nvGrpSpPr>
          <p:cNvPr id="105475" name="Group 25"/>
          <p:cNvGrpSpPr/>
          <p:nvPr/>
        </p:nvGrpSpPr>
        <p:grpSpPr>
          <a:xfrm>
            <a:off x="4451350" y="1281113"/>
            <a:ext cx="4113213" cy="5364162"/>
            <a:chOff x="2804" y="807"/>
            <a:chExt cx="2591" cy="3379"/>
          </a:xfrm>
        </p:grpSpPr>
        <p:sp>
          <p:nvSpPr>
            <p:cNvPr id="105476" name="AutoShape 26"/>
            <p:cNvSpPr/>
            <p:nvPr/>
          </p:nvSpPr>
          <p:spPr>
            <a:xfrm>
              <a:off x="4547" y="2089"/>
              <a:ext cx="848" cy="26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创建失败</a:t>
              </a:r>
            </a:p>
          </p:txBody>
        </p:sp>
        <p:sp>
          <p:nvSpPr>
            <p:cNvPr id="105477" name="AutoShape 27"/>
            <p:cNvSpPr/>
            <p:nvPr/>
          </p:nvSpPr>
          <p:spPr>
            <a:xfrm>
              <a:off x="2986" y="807"/>
              <a:ext cx="1518" cy="221"/>
            </a:xfrm>
            <a:prstGeom prst="flowChartTerminator">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入口</a:t>
              </a:r>
            </a:p>
          </p:txBody>
        </p:sp>
        <p:sp>
          <p:nvSpPr>
            <p:cNvPr id="105478" name="AutoShape 28"/>
            <p:cNvSpPr/>
            <p:nvPr/>
          </p:nvSpPr>
          <p:spPr>
            <a:xfrm>
              <a:off x="2986" y="1205"/>
              <a:ext cx="1483" cy="221"/>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查</a:t>
              </a:r>
              <a:r>
                <a:rPr lang="en-US" altLang="zh-CN" sz="1400" b="1">
                  <a:latin typeface="Times New Roman" panose="02020603050405020304" pitchFamily="18" charset="0"/>
                  <a:ea typeface="宋体" panose="02010600030101010101" pitchFamily="2" charset="-122"/>
                </a:rPr>
                <a:t>PCB</a:t>
              </a:r>
              <a:r>
                <a:rPr lang="zh-CN" altLang="en-US" sz="1400" b="1">
                  <a:latin typeface="Times New Roman" panose="02020603050405020304" pitchFamily="18" charset="0"/>
                  <a:ea typeface="宋体" panose="02010600030101010101" pitchFamily="2" charset="-122"/>
                </a:rPr>
                <a:t>链表</a:t>
              </a:r>
            </a:p>
          </p:txBody>
        </p:sp>
        <p:sp>
          <p:nvSpPr>
            <p:cNvPr id="105479" name="AutoShape 29"/>
            <p:cNvSpPr/>
            <p:nvPr/>
          </p:nvSpPr>
          <p:spPr>
            <a:xfrm>
              <a:off x="2915" y="1603"/>
              <a:ext cx="1625" cy="255"/>
            </a:xfrm>
            <a:prstGeom prst="flowChartDecision">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有空</a:t>
              </a:r>
              <a:r>
                <a:rPr lang="en-US" altLang="zh-CN" sz="1400" b="1">
                  <a:latin typeface="Times New Roman" panose="02020603050405020304" pitchFamily="18" charset="0"/>
                  <a:ea typeface="宋体" panose="02010600030101010101" pitchFamily="2" charset="-122"/>
                </a:rPr>
                <a:t>PCB?</a:t>
              </a:r>
            </a:p>
          </p:txBody>
        </p:sp>
        <p:sp>
          <p:nvSpPr>
            <p:cNvPr id="105480" name="AutoShape 30"/>
            <p:cNvSpPr/>
            <p:nvPr/>
          </p:nvSpPr>
          <p:spPr>
            <a:xfrm>
              <a:off x="3022" y="2050"/>
              <a:ext cx="1324" cy="244"/>
            </a:xfrm>
            <a:prstGeom prst="flowChartProcess">
              <a:avLst/>
            </a:prstGeom>
            <a:solidFill>
              <a:srgbClr val="CCEC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342900" lvl="0" indent="-342900" algn="ctr" eaLnBrk="1" hangingPunct="1">
                <a:lnSpc>
                  <a:spcPct val="150000"/>
                </a:lnSpc>
                <a:spcBef>
                  <a:spcPct val="0"/>
                </a:spcBef>
                <a:buClr>
                  <a:srgbClr val="FF0000"/>
                </a:buClr>
                <a:buSzTx/>
                <a:buFontTx/>
                <a:buNone/>
              </a:pPr>
              <a:r>
                <a:rPr lang="zh-CN" altLang="en-US" sz="1600" b="1">
                  <a:latin typeface="Times New Roman" panose="02020603050405020304" pitchFamily="18" charset="0"/>
                  <a:ea typeface="宋体" panose="02010600030101010101" pitchFamily="2" charset="-122"/>
                </a:rPr>
                <a:t>取空</a:t>
              </a:r>
              <a:r>
                <a:rPr lang="en-US" altLang="zh-CN" sz="1600" b="1">
                  <a:latin typeface="Times New Roman" panose="02020603050405020304" pitchFamily="18" charset="0"/>
                  <a:ea typeface="宋体" panose="02010600030101010101" pitchFamily="2" charset="-122"/>
                </a:rPr>
                <a:t>PCB（i）</a:t>
              </a:r>
            </a:p>
          </p:txBody>
        </p:sp>
        <p:sp>
          <p:nvSpPr>
            <p:cNvPr id="105481" name="AutoShape 31"/>
            <p:cNvSpPr/>
            <p:nvPr/>
          </p:nvSpPr>
          <p:spPr>
            <a:xfrm>
              <a:off x="2804" y="2550"/>
              <a:ext cx="1801" cy="26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将有关参数填入</a:t>
              </a:r>
              <a:r>
                <a:rPr lang="en-US" altLang="zh-CN" sz="1400" b="1">
                  <a:latin typeface="Times New Roman" panose="02020603050405020304" pitchFamily="18" charset="0"/>
                  <a:ea typeface="宋体" panose="02010600030101010101" pitchFamily="2" charset="-122"/>
                </a:rPr>
                <a:t>PCB（i）</a:t>
              </a:r>
              <a:r>
                <a:rPr lang="zh-CN" altLang="en-US" sz="1400" b="1">
                  <a:latin typeface="Times New Roman" panose="02020603050405020304" pitchFamily="18" charset="0"/>
                  <a:ea typeface="宋体" panose="02010600030101010101" pitchFamily="2" charset="-122"/>
                </a:rPr>
                <a:t>相应表项</a:t>
              </a:r>
            </a:p>
          </p:txBody>
        </p:sp>
        <p:sp>
          <p:nvSpPr>
            <p:cNvPr id="105482" name="AutoShape 32"/>
            <p:cNvSpPr/>
            <p:nvPr/>
          </p:nvSpPr>
          <p:spPr>
            <a:xfrm>
              <a:off x="2923" y="3007"/>
              <a:ext cx="1554" cy="28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en-US" altLang="zh-CN" sz="1400" b="1">
                  <a:latin typeface="Times New Roman" panose="02020603050405020304" pitchFamily="18" charset="0"/>
                  <a:ea typeface="宋体" panose="02010600030101010101" pitchFamily="2" charset="-122"/>
                </a:rPr>
                <a:t>PCB（i）</a:t>
              </a:r>
              <a:r>
                <a:rPr lang="zh-CN" altLang="en-US" sz="1400" b="1">
                  <a:latin typeface="Times New Roman" panose="02020603050405020304" pitchFamily="18" charset="0"/>
                  <a:ea typeface="宋体" panose="02010600030101010101" pitchFamily="2" charset="-122"/>
                </a:rPr>
                <a:t>入就绪队列</a:t>
              </a:r>
            </a:p>
          </p:txBody>
        </p:sp>
        <p:sp>
          <p:nvSpPr>
            <p:cNvPr id="105483" name="AutoShape 33"/>
            <p:cNvSpPr/>
            <p:nvPr/>
          </p:nvSpPr>
          <p:spPr>
            <a:xfrm>
              <a:off x="2960" y="3503"/>
              <a:ext cx="1554" cy="235"/>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en-US" altLang="zh-CN" sz="1400" b="1">
                  <a:latin typeface="Times New Roman" panose="02020603050405020304" pitchFamily="18" charset="0"/>
                  <a:ea typeface="宋体" panose="02010600030101010101" pitchFamily="2" charset="-122"/>
                </a:rPr>
                <a:t>PCB（i）</a:t>
              </a:r>
              <a:r>
                <a:rPr lang="zh-CN" altLang="en-US" sz="1400" b="1">
                  <a:latin typeface="Times New Roman" panose="02020603050405020304" pitchFamily="18" charset="0"/>
                  <a:ea typeface="宋体" panose="02010600030101010101" pitchFamily="2" charset="-122"/>
                </a:rPr>
                <a:t>入进程家族或进程链</a:t>
              </a:r>
            </a:p>
          </p:txBody>
        </p:sp>
        <p:sp>
          <p:nvSpPr>
            <p:cNvPr id="105484" name="AutoShape 34"/>
            <p:cNvSpPr/>
            <p:nvPr/>
          </p:nvSpPr>
          <p:spPr>
            <a:xfrm>
              <a:off x="2960" y="3945"/>
              <a:ext cx="1590" cy="241"/>
            </a:xfrm>
            <a:prstGeom prst="flowChartTerminator">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返回</a:t>
              </a:r>
            </a:p>
          </p:txBody>
        </p:sp>
        <p:sp>
          <p:nvSpPr>
            <p:cNvPr id="105485" name="Line 35"/>
            <p:cNvSpPr/>
            <p:nvPr/>
          </p:nvSpPr>
          <p:spPr>
            <a:xfrm>
              <a:off x="3727" y="1031"/>
              <a:ext cx="0" cy="177"/>
            </a:xfrm>
            <a:prstGeom prst="line">
              <a:avLst/>
            </a:prstGeom>
            <a:ln w="28575" cap="flat" cmpd="sng">
              <a:solidFill>
                <a:srgbClr val="FF9900"/>
              </a:solidFill>
              <a:prstDash val="solid"/>
              <a:headEnd type="none" w="med" len="med"/>
              <a:tailEnd type="arrow" w="med" len="med"/>
            </a:ln>
          </p:spPr>
        </p:sp>
        <p:sp>
          <p:nvSpPr>
            <p:cNvPr id="105486" name="Line 36"/>
            <p:cNvSpPr/>
            <p:nvPr/>
          </p:nvSpPr>
          <p:spPr>
            <a:xfrm>
              <a:off x="3727" y="1426"/>
              <a:ext cx="0" cy="177"/>
            </a:xfrm>
            <a:prstGeom prst="line">
              <a:avLst/>
            </a:prstGeom>
            <a:ln w="28575" cap="flat" cmpd="sng">
              <a:solidFill>
                <a:srgbClr val="FF9900"/>
              </a:solidFill>
              <a:prstDash val="solid"/>
              <a:headEnd type="none" w="med" len="med"/>
              <a:tailEnd type="arrow" w="med" len="med"/>
            </a:ln>
          </p:spPr>
        </p:sp>
        <p:sp>
          <p:nvSpPr>
            <p:cNvPr id="105487" name="Line 37"/>
            <p:cNvSpPr/>
            <p:nvPr/>
          </p:nvSpPr>
          <p:spPr>
            <a:xfrm>
              <a:off x="3709" y="1885"/>
              <a:ext cx="0" cy="177"/>
            </a:xfrm>
            <a:prstGeom prst="line">
              <a:avLst/>
            </a:prstGeom>
            <a:ln w="28575" cap="flat" cmpd="sng">
              <a:solidFill>
                <a:srgbClr val="FF9900"/>
              </a:solidFill>
              <a:prstDash val="solid"/>
              <a:headEnd type="none" w="med" len="med"/>
              <a:tailEnd type="arrow" w="med" len="med"/>
            </a:ln>
          </p:spPr>
        </p:sp>
        <p:sp>
          <p:nvSpPr>
            <p:cNvPr id="105488" name="Line 38"/>
            <p:cNvSpPr/>
            <p:nvPr/>
          </p:nvSpPr>
          <p:spPr>
            <a:xfrm>
              <a:off x="3709" y="2337"/>
              <a:ext cx="0" cy="177"/>
            </a:xfrm>
            <a:prstGeom prst="line">
              <a:avLst/>
            </a:prstGeom>
            <a:ln w="28575" cap="flat" cmpd="sng">
              <a:solidFill>
                <a:srgbClr val="FF9900"/>
              </a:solidFill>
              <a:prstDash val="solid"/>
              <a:headEnd type="none" w="med" len="med"/>
              <a:tailEnd type="arrow" w="med" len="med"/>
            </a:ln>
          </p:spPr>
        </p:sp>
        <p:sp>
          <p:nvSpPr>
            <p:cNvPr id="105489" name="Line 39"/>
            <p:cNvSpPr/>
            <p:nvPr/>
          </p:nvSpPr>
          <p:spPr>
            <a:xfrm>
              <a:off x="3709" y="2808"/>
              <a:ext cx="0" cy="177"/>
            </a:xfrm>
            <a:prstGeom prst="line">
              <a:avLst/>
            </a:prstGeom>
            <a:ln w="28575" cap="flat" cmpd="sng">
              <a:solidFill>
                <a:srgbClr val="FF9900"/>
              </a:solidFill>
              <a:prstDash val="solid"/>
              <a:headEnd type="none" w="med" len="med"/>
              <a:tailEnd type="arrow" w="med" len="med"/>
            </a:ln>
          </p:spPr>
        </p:sp>
        <p:sp>
          <p:nvSpPr>
            <p:cNvPr id="105490" name="Line 40"/>
            <p:cNvSpPr/>
            <p:nvPr/>
          </p:nvSpPr>
          <p:spPr>
            <a:xfrm>
              <a:off x="3709" y="3313"/>
              <a:ext cx="0" cy="177"/>
            </a:xfrm>
            <a:prstGeom prst="line">
              <a:avLst/>
            </a:prstGeom>
            <a:ln w="28575" cap="flat" cmpd="sng">
              <a:solidFill>
                <a:srgbClr val="FF9900"/>
              </a:solidFill>
              <a:prstDash val="solid"/>
              <a:headEnd type="none" w="med" len="med"/>
              <a:tailEnd type="arrow" w="med" len="med"/>
            </a:ln>
          </p:spPr>
        </p:sp>
        <p:sp>
          <p:nvSpPr>
            <p:cNvPr id="105491" name="Line 41"/>
            <p:cNvSpPr/>
            <p:nvPr/>
          </p:nvSpPr>
          <p:spPr>
            <a:xfrm>
              <a:off x="3717" y="3766"/>
              <a:ext cx="0" cy="177"/>
            </a:xfrm>
            <a:prstGeom prst="line">
              <a:avLst/>
            </a:prstGeom>
            <a:ln w="28575" cap="flat" cmpd="sng">
              <a:solidFill>
                <a:srgbClr val="FF9900"/>
              </a:solidFill>
              <a:prstDash val="solid"/>
              <a:headEnd type="none" w="med" len="med"/>
              <a:tailEnd type="arrow" w="med" len="med"/>
            </a:ln>
          </p:spPr>
        </p:sp>
        <p:sp>
          <p:nvSpPr>
            <p:cNvPr id="105492" name="Line 42"/>
            <p:cNvSpPr/>
            <p:nvPr/>
          </p:nvSpPr>
          <p:spPr>
            <a:xfrm>
              <a:off x="4497" y="1736"/>
              <a:ext cx="495" cy="0"/>
            </a:xfrm>
            <a:prstGeom prst="line">
              <a:avLst/>
            </a:prstGeom>
            <a:ln w="9525" cap="flat" cmpd="sng">
              <a:solidFill>
                <a:srgbClr val="FF9900"/>
              </a:solidFill>
              <a:prstDash val="solid"/>
              <a:headEnd type="none" w="med" len="med"/>
              <a:tailEnd type="none" w="med" len="med"/>
            </a:ln>
          </p:spPr>
        </p:sp>
        <p:sp>
          <p:nvSpPr>
            <p:cNvPr id="105493" name="Line 43"/>
            <p:cNvSpPr/>
            <p:nvPr/>
          </p:nvSpPr>
          <p:spPr>
            <a:xfrm>
              <a:off x="4982" y="1735"/>
              <a:ext cx="0" cy="354"/>
            </a:xfrm>
            <a:prstGeom prst="line">
              <a:avLst/>
            </a:prstGeom>
            <a:ln w="28575" cap="flat" cmpd="sng">
              <a:solidFill>
                <a:srgbClr val="FF9900"/>
              </a:solidFill>
              <a:prstDash val="solid"/>
              <a:headEnd type="none" w="med" len="med"/>
              <a:tailEnd type="arrow" w="med" len="med"/>
            </a:ln>
          </p:spPr>
        </p:sp>
        <p:sp>
          <p:nvSpPr>
            <p:cNvPr id="105494" name="AutoShape 45"/>
            <p:cNvSpPr/>
            <p:nvPr/>
          </p:nvSpPr>
          <p:spPr>
            <a:xfrm>
              <a:off x="4765" y="1356"/>
              <a:ext cx="272" cy="266"/>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400" b="1">
                  <a:latin typeface="Times New Roman" panose="02020603050405020304" pitchFamily="18" charset="0"/>
                  <a:ea typeface="宋体" panose="02010600030101010101" pitchFamily="2" charset="-122"/>
                </a:rPr>
                <a:t>无</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 calcmode="lin" valueType="num">
                                      <p:cBhvr additive="base">
                                        <p:cTn id="7" dur="500" fill="hold"/>
                                        <p:tgtEl>
                                          <p:spTgt spid="409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09603">
                                            <p:txEl>
                                              <p:pRg st="1" end="1"/>
                                            </p:txEl>
                                          </p:spTgt>
                                        </p:tgtEl>
                                        <p:attrNameLst>
                                          <p:attrName>style.visibility</p:attrName>
                                        </p:attrNameLst>
                                      </p:cBhvr>
                                      <p:to>
                                        <p:strVal val="visible"/>
                                      </p:to>
                                    </p:set>
                                    <p:anim calcmode="lin" valueType="num">
                                      <p:cBhvr additive="base">
                                        <p:cTn id="11" dur="500" fill="hold"/>
                                        <p:tgtEl>
                                          <p:spTgt spid="4096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9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9603">
                                            <p:txEl>
                                              <p:pRg st="2" end="2"/>
                                            </p:txEl>
                                          </p:spTgt>
                                        </p:tgtEl>
                                        <p:attrNameLst>
                                          <p:attrName>style.visibility</p:attrName>
                                        </p:attrNameLst>
                                      </p:cBhvr>
                                      <p:to>
                                        <p:strVal val="visible"/>
                                      </p:to>
                                    </p:set>
                                    <p:anim calcmode="lin" valueType="num">
                                      <p:cBhvr additive="base">
                                        <p:cTn id="17" dur="500" fill="hold"/>
                                        <p:tgtEl>
                                          <p:spTgt spid="40960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09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a:t>
            </a:r>
          </a:p>
        </p:txBody>
      </p:sp>
      <p:sp>
        <p:nvSpPr>
          <p:cNvPr id="4" name="Rectangle 3"/>
          <p:cNvSpPr txBox="1">
            <a:spLocks noChangeArrowheads="1"/>
          </p:cNvSpPr>
          <p:nvPr/>
        </p:nvSpPr>
        <p:spPr>
          <a:xfrm>
            <a:off x="2036763" y="2192338"/>
            <a:ext cx="4964113" cy="1892300"/>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int main (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while (1)</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fork( )</a:t>
            </a:r>
            <a:r>
              <a:rPr kumimoji="0" lang="zh-CN" altLang="en-US"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endPar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p:txBody>
      </p:sp>
      <p:sp>
        <p:nvSpPr>
          <p:cNvPr id="2" name="文本框 1"/>
          <p:cNvSpPr txBox="1"/>
          <p:nvPr/>
        </p:nvSpPr>
        <p:spPr>
          <a:xfrm>
            <a:off x="2037080" y="5074920"/>
            <a:ext cx="3048000" cy="368300"/>
          </a:xfrm>
          <a:prstGeom prst="rect">
            <a:avLst/>
          </a:prstGeom>
          <a:noFill/>
        </p:spPr>
        <p:txBody>
          <a:bodyPr wrap="square" rtlCol="0">
            <a:spAutoFit/>
          </a:bodyPr>
          <a:lstStyle/>
          <a:p>
            <a:r>
              <a:rPr lang="zh-CN" altLang="en-US">
                <a:latin typeface="等线" panose="02010600030101010101" pitchFamily="2" charset="-122"/>
                <a:ea typeface="等线" panose="02010600030101010101" pitchFamily="2" charset="-122"/>
              </a:rPr>
              <a:t>子进程的产生速度？</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a:t>
            </a:r>
          </a:p>
        </p:txBody>
      </p:sp>
      <p:sp>
        <p:nvSpPr>
          <p:cNvPr id="5" name="Rectangle 3"/>
          <p:cNvSpPr txBox="1">
            <a:spLocks noChangeArrowheads="1"/>
          </p:cNvSpPr>
          <p:nvPr/>
        </p:nvSpPr>
        <p:spPr>
          <a:xfrm>
            <a:off x="1656080" y="1138555"/>
            <a:ext cx="4964430" cy="3448050"/>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#include &lt;stdio.h&gt;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#include&lt;unistd.h&gt;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endPar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int main (void)</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int </a:t>
            </a:r>
            <a:r>
              <a:rPr kumimoji="0" lang="en-US" altLang="zh-CN" sz="18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for (</a:t>
            </a:r>
            <a:r>
              <a:rPr kumimoji="0" lang="en-US" altLang="zh-CN" sz="18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=0; </a:t>
            </a:r>
            <a:r>
              <a:rPr kumimoji="0" lang="en-US" altLang="zh-CN" sz="18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&lt;3; </a:t>
            </a:r>
            <a:r>
              <a:rPr kumimoji="0" lang="en-US" altLang="zh-CN" sz="18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fork</a:t>
            </a:r>
            <a:r>
              <a:rPr kumimoji="0" lang="zh-CN" altLang="en-US"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r>
              <a:rPr kumimoji="0" lang="zh-CN" altLang="en-US"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endPar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sleep</a:t>
            </a:r>
            <a:r>
              <a:rPr kumimoji="0" lang="zh-CN" altLang="en-US"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(20);</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p>
        </p:txBody>
      </p:sp>
      <p:sp>
        <p:nvSpPr>
          <p:cNvPr id="2" name="文本框 1"/>
          <p:cNvSpPr txBox="1"/>
          <p:nvPr/>
        </p:nvSpPr>
        <p:spPr>
          <a:xfrm>
            <a:off x="1656080" y="5081270"/>
            <a:ext cx="5777865" cy="64516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ea typeface="宋体" panose="02010600030101010101" pitchFamily="2" charset="-122"/>
              </a:rPr>
              <a:t>一共生成多少个进程？</a:t>
            </a:r>
          </a:p>
          <a:p>
            <a:pPr marL="285750" indent="-285750">
              <a:buFont typeface="Arial" panose="020B0604020202020204" pitchFamily="34" charset="0"/>
              <a:buChar char="•"/>
            </a:pPr>
            <a:r>
              <a:rPr lang="zh-CN" altLang="en-US" dirty="0">
                <a:ea typeface="宋体" panose="02010600030101010101" pitchFamily="2" charset="-122"/>
              </a:rPr>
              <a:t>通过进程树展示各进程之间的父子关系</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p:cNvSpPr>
          <p:nvPr>
            <p:ph type="title"/>
          </p:nvPr>
        </p:nvSpPr>
        <p:spPr>
          <a:xfrm>
            <a:off x="885825" y="277813"/>
            <a:ext cx="8229600" cy="576262"/>
          </a:xfrm>
          <a:ln/>
        </p:spPr>
        <p:txBody>
          <a:bodyPr vert="horz" wrap="square" lIns="91440" tIns="45720" rIns="91440" bIns="45720" anchor="b" anchorCtr="0"/>
          <a:lstStyle/>
          <a:p>
            <a:pPr eaLnBrk="1" hangingPunct="1"/>
            <a:r>
              <a:rPr lang="en-US" altLang="zh-CN"/>
              <a:t>C Program Forking Separate Process</a:t>
            </a:r>
          </a:p>
        </p:txBody>
      </p:sp>
      <p:sp>
        <p:nvSpPr>
          <p:cNvPr id="110595" name="Rectangle 3"/>
          <p:cNvSpPr>
            <a:spLocks noGrp="1" noChangeArrowheads="1"/>
          </p:cNvSpPr>
          <p:nvPr>
            <p:ph idx="1"/>
          </p:nvPr>
        </p:nvSpPr>
        <p:spPr>
          <a:xfrm>
            <a:off x="720725" y="855663"/>
            <a:ext cx="8229600" cy="56499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int value</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endPar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int main</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pid_t</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fork</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if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&lt; 0) { /* error occurred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fprintf</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(stderr, "Fork Failed");</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exit</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(-1);</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else if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0) { /* child process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for</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printf</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 child, value is %d\n ", value++);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sleep</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(5) ;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else { /* parent process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for</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printf</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("In parent, value is %d\n ", value);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sleep</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(5);</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zh-CN" altLang="en-US"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100000"/>
              </a:lnSpc>
              <a:spcBef>
                <a:spcPts val="0"/>
              </a:spcBef>
              <a:spcAft>
                <a:spcPct val="0"/>
              </a:spcAft>
              <a:buClr>
                <a:srgbClr val="993300"/>
              </a:buClr>
              <a:buSzPct val="90000"/>
              <a:buFont typeface="Monotype Sorts" charset="2"/>
              <a:buNone/>
              <a:defRPr/>
            </a:pPr>
            <a:r>
              <a:rPr kumimoji="0" lang="en-US" altLang="zh-CN" sz="18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a:xfrm>
            <a:off x="885825" y="277813"/>
            <a:ext cx="8229600" cy="576262"/>
          </a:xfrm>
          <a:ln/>
        </p:spPr>
        <p:txBody>
          <a:bodyPr vert="horz" wrap="square" lIns="91440" tIns="45720" rIns="91440" bIns="45720" anchor="b" anchorCtr="0"/>
          <a:lstStyle/>
          <a:p>
            <a:pPr eaLnBrk="1" hangingPunct="1"/>
            <a:r>
              <a:rPr lang="en-US" altLang="zh-CN"/>
              <a:t>C Program Forking Separate Process</a:t>
            </a:r>
          </a:p>
        </p:txBody>
      </p:sp>
      <p:sp>
        <p:nvSpPr>
          <p:cNvPr id="112643" name="Rectangle 3"/>
          <p:cNvSpPr>
            <a:spLocks noGrp="1" noChangeArrowheads="1"/>
          </p:cNvSpPr>
          <p:nvPr>
            <p:ph idx="1"/>
          </p:nvPr>
        </p:nvSpPr>
        <p:spPr>
          <a:xfrm>
            <a:off x="1330325" y="846138"/>
            <a:ext cx="6334125" cy="5649913"/>
          </a:xfrm>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int value</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endPar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int main(</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pid_t</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fork</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if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&lt; 0) { /* error occurred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fprintf</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(stderr, "Fork Failed");</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exit</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(-1);</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else if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pid</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0) { /* child process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for</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 )</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printf</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("In child, value is %p\n ", &amp;value);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sleep(5) ;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else { /* parent process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for</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 ; )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err="1">
                <a:ln>
                  <a:noFill/>
                </a:ln>
                <a:solidFill>
                  <a:schemeClr val="tx1"/>
                </a:solidFill>
                <a:effectLst/>
                <a:uLnTx/>
                <a:uFillTx/>
                <a:latin typeface="+mj-lt"/>
                <a:ea typeface="MS PGothic" panose="020B0600070205080204" pitchFamily="34" charset="-128"/>
                <a:cs typeface="MS PGothic" panose="020B0600070205080204" pitchFamily="34" charset="-128"/>
              </a:rPr>
              <a:t>printf</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("In parent, value is %p\n ", &amp;value);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sleep</a:t>
            </a:r>
            <a:r>
              <a:rPr kumimoji="0" lang="zh-CN" altLang="en-US"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(5);</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	}</a:t>
            </a:r>
          </a:p>
          <a:p>
            <a:pPr marL="342900" marR="0" lvl="0" indent="-342900" algn="l" defTabSz="914400" rtl="0" eaLnBrk="0" fontAlgn="base" latinLnBrk="0" hangingPunct="0">
              <a:lnSpc>
                <a:spcPct val="80000"/>
              </a:lnSpc>
              <a:spcBef>
                <a:spcPct val="35000"/>
              </a:spcBef>
              <a:spcAft>
                <a:spcPct val="0"/>
              </a:spcAft>
              <a:buClr>
                <a:srgbClr val="993300"/>
              </a:buClr>
              <a:buSzPct val="90000"/>
              <a:buFont typeface="Monotype Sorts" charset="2"/>
              <a:buNone/>
              <a:defRPr/>
            </a:pPr>
            <a:r>
              <a:rPr kumimoji="0" lang="en-US" altLang="zh-CN" sz="1600" b="0" i="0" u="none" strike="noStrike" kern="0" cap="none" spc="0" normalizeH="0" baseline="0" noProof="0" dirty="0">
                <a:ln>
                  <a:noFill/>
                </a:ln>
                <a:solidFill>
                  <a:schemeClr val="tx1"/>
                </a:solidFill>
                <a:effectLst/>
                <a:uLnTx/>
                <a:uFillTx/>
                <a:latin typeface="+mj-lt"/>
                <a:ea typeface="MS PGothic" panose="020B0600070205080204" pitchFamily="34" charset="-128"/>
                <a:cs typeface="MS PGothic" panose="020B0600070205080204" pitchFamily="34" charset="-128"/>
              </a:rPr>
              <a:t>}</a:t>
            </a:r>
          </a:p>
        </p:txBody>
      </p:sp>
      <p:sp>
        <p:nvSpPr>
          <p:cNvPr id="2" name="矩形 1">
            <a:extLst>
              <a:ext uri="{FF2B5EF4-FFF2-40B4-BE49-F238E27FC236}">
                <a16:creationId xmlns:a16="http://schemas.microsoft.com/office/drawing/2014/main" id="{E51F6241-C866-4A75-BC04-BE115555134C}"/>
              </a:ext>
            </a:extLst>
          </p:cNvPr>
          <p:cNvSpPr/>
          <p:nvPr/>
        </p:nvSpPr>
        <p:spPr bwMode="auto">
          <a:xfrm>
            <a:off x="5167222" y="3571336"/>
            <a:ext cx="700177" cy="370936"/>
          </a:xfrm>
          <a:prstGeom prst="rect">
            <a:avLst/>
          </a:prstGeom>
          <a:noFill/>
          <a:ln w="38100"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矩形 4">
            <a:extLst>
              <a:ext uri="{FF2B5EF4-FFF2-40B4-BE49-F238E27FC236}">
                <a16:creationId xmlns:a16="http://schemas.microsoft.com/office/drawing/2014/main" id="{2EE86C01-3290-4551-BB35-B39D2A45C47A}"/>
              </a:ext>
            </a:extLst>
          </p:cNvPr>
          <p:cNvSpPr/>
          <p:nvPr/>
        </p:nvSpPr>
        <p:spPr bwMode="auto">
          <a:xfrm>
            <a:off x="5319622" y="5240116"/>
            <a:ext cx="700177" cy="370936"/>
          </a:xfrm>
          <a:prstGeom prst="rect">
            <a:avLst/>
          </a:prstGeom>
          <a:noFill/>
          <a:ln w="38100"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p:cNvSpPr>
          <p:nvPr>
            <p:ph type="title"/>
          </p:nvPr>
        </p:nvSpPr>
        <p:spPr>
          <a:ln/>
        </p:spPr>
        <p:txBody>
          <a:bodyPr vert="horz" wrap="square" lIns="91440" tIns="45720" rIns="91440" bIns="45720" anchor="b" anchorCtr="0"/>
          <a:lstStyle/>
          <a:p>
            <a:pPr eaLnBrk="1" hangingPunct="1"/>
            <a:r>
              <a:rPr lang="en-US" altLang="zh-CN"/>
              <a:t>Process Creation</a:t>
            </a:r>
          </a:p>
        </p:txBody>
      </p:sp>
      <p:sp>
        <p:nvSpPr>
          <p:cNvPr id="114690" name="文本框 1"/>
          <p:cNvSpPr txBox="1"/>
          <p:nvPr/>
        </p:nvSpPr>
        <p:spPr>
          <a:xfrm>
            <a:off x="904875" y="1811050"/>
            <a:ext cx="6740525" cy="224536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zh-CN" altLang="en-US" sz="2000" dirty="0">
                <a:latin typeface="等线" panose="02010600030101010101" pitchFamily="2" charset="-122"/>
                <a:ea typeface="等线" panose="02010600030101010101" pitchFamily="2" charset="-122"/>
              </a:rPr>
              <a:t>当父进程调用</a:t>
            </a:r>
            <a:r>
              <a:rPr lang="en-US" altLang="zh-CN" sz="2000" dirty="0">
                <a:latin typeface="等线" panose="02010600030101010101" pitchFamily="2" charset="-122"/>
                <a:ea typeface="等线" panose="02010600030101010101" pitchFamily="2" charset="-122"/>
              </a:rPr>
              <a:t>fork( )</a:t>
            </a:r>
            <a:r>
              <a:rPr lang="zh-CN" altLang="en-US" sz="2000" dirty="0">
                <a:latin typeface="等线" panose="02010600030101010101" pitchFamily="2" charset="-122"/>
                <a:ea typeface="等线" panose="02010600030101010101" pitchFamily="2" charset="-122"/>
              </a:rPr>
              <a:t>创建子进程之后，下列哪些变量在子进程中修改之后，父进程里也会相应地作出改动？</a:t>
            </a:r>
            <a:endParaRPr lang="en-US" altLang="zh-CN" sz="2000" dirty="0">
              <a:latin typeface="等线" panose="02010600030101010101" pitchFamily="2" charset="-122"/>
              <a:ea typeface="等线" panose="02010600030101010101" pitchFamily="2" charset="-122"/>
            </a:endParaRPr>
          </a:p>
          <a:p>
            <a:pPr marL="0" lvl="0" indent="0">
              <a:spcBef>
                <a:spcPct val="0"/>
              </a:spcBef>
              <a:buClrTx/>
              <a:buSzTx/>
              <a:buFontTx/>
              <a:buNone/>
            </a:pPr>
            <a:br>
              <a:rPr lang="zh-CN" altLang="en-US" sz="2000" dirty="0">
                <a:latin typeface="等线" panose="02010600030101010101" pitchFamily="2" charset="-122"/>
                <a:ea typeface="等线" panose="02010600030101010101" pitchFamily="2" charset="-122"/>
              </a:rPr>
            </a:br>
            <a:r>
              <a:rPr lang="en-US" altLang="zh-CN" sz="2000" dirty="0">
                <a:latin typeface="等线" panose="02010600030101010101" pitchFamily="2" charset="-122"/>
                <a:ea typeface="等线" panose="02010600030101010101" pitchFamily="2" charset="-122"/>
              </a:rPr>
              <a:t>A.</a:t>
            </a:r>
            <a:r>
              <a:rPr lang="zh-CN" altLang="en-US" sz="2000" dirty="0">
                <a:latin typeface="等线" panose="02010600030101010101" pitchFamily="2" charset="-122"/>
                <a:ea typeface="等线" panose="02010600030101010101" pitchFamily="2" charset="-122"/>
              </a:rPr>
              <a:t>全局变量</a:t>
            </a:r>
            <a:br>
              <a:rPr lang="zh-CN" altLang="en-US" sz="2000" dirty="0">
                <a:latin typeface="等线" panose="02010600030101010101" pitchFamily="2" charset="-122"/>
                <a:ea typeface="等线" panose="02010600030101010101" pitchFamily="2" charset="-122"/>
              </a:rPr>
            </a:br>
            <a:r>
              <a:rPr lang="en-US" altLang="zh-CN" sz="2000" dirty="0">
                <a:latin typeface="等线" panose="02010600030101010101" pitchFamily="2" charset="-122"/>
                <a:ea typeface="等线" panose="02010600030101010101" pitchFamily="2" charset="-122"/>
              </a:rPr>
              <a:t>B.</a:t>
            </a:r>
            <a:r>
              <a:rPr lang="zh-CN" altLang="en-US" sz="2000" dirty="0">
                <a:latin typeface="等线" panose="02010600030101010101" pitchFamily="2" charset="-122"/>
                <a:ea typeface="等线" panose="02010600030101010101" pitchFamily="2" charset="-122"/>
              </a:rPr>
              <a:t>局部变量</a:t>
            </a:r>
            <a:br>
              <a:rPr lang="zh-CN" altLang="en-US" sz="2000" dirty="0">
                <a:latin typeface="等线" panose="02010600030101010101" pitchFamily="2" charset="-122"/>
                <a:ea typeface="等线" panose="02010600030101010101" pitchFamily="2" charset="-122"/>
              </a:rPr>
            </a:br>
            <a:r>
              <a:rPr lang="en-US" altLang="zh-CN" sz="2000" dirty="0">
                <a:latin typeface="等线" panose="02010600030101010101" pitchFamily="2" charset="-122"/>
                <a:ea typeface="等线" panose="02010600030101010101" pitchFamily="2" charset="-122"/>
              </a:rPr>
              <a:t>C.</a:t>
            </a:r>
            <a:r>
              <a:rPr lang="zh-CN" altLang="en-US" sz="2000" dirty="0">
                <a:latin typeface="等线" panose="02010600030101010101" pitchFamily="2" charset="-122"/>
                <a:ea typeface="等线" panose="02010600030101010101" pitchFamily="2" charset="-122"/>
              </a:rPr>
              <a:t>静态变量</a:t>
            </a:r>
            <a:br>
              <a:rPr lang="zh-CN" altLang="en-US" sz="2000" dirty="0">
                <a:latin typeface="等线" panose="02010600030101010101" pitchFamily="2" charset="-122"/>
                <a:ea typeface="等线" panose="02010600030101010101" pitchFamily="2" charset="-122"/>
              </a:rPr>
            </a:br>
            <a:r>
              <a:rPr lang="en-US" altLang="zh-CN" sz="2000" dirty="0">
                <a:latin typeface="等线" panose="02010600030101010101" pitchFamily="2" charset="-122"/>
                <a:ea typeface="等线" panose="02010600030101010101" pitchFamily="2" charset="-122"/>
              </a:rPr>
              <a:t>D.</a:t>
            </a:r>
            <a:r>
              <a:rPr lang="zh-CN" altLang="en-US" sz="2000" dirty="0">
                <a:latin typeface="等线" panose="02010600030101010101" pitchFamily="2" charset="-122"/>
                <a:ea typeface="等线" panose="02010600030101010101" pitchFamily="2" charset="-122"/>
              </a:rPr>
              <a:t>文件指针</a:t>
            </a:r>
          </a:p>
        </p:txBody>
      </p:sp>
      <p:sp>
        <p:nvSpPr>
          <p:cNvPr id="2" name="文本框 1"/>
          <p:cNvSpPr txBox="1"/>
          <p:nvPr/>
        </p:nvSpPr>
        <p:spPr>
          <a:xfrm>
            <a:off x="904875" y="4678363"/>
            <a:ext cx="7816850"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spcBef>
                <a:spcPct val="0"/>
              </a:spcBef>
              <a:buClrTx/>
              <a:buSzTx/>
              <a:buFontTx/>
              <a:buNone/>
            </a:pPr>
            <a:r>
              <a:rPr lang="zh-CN" altLang="en-US" sz="1800" dirty="0">
                <a:latin typeface="等线" panose="02010600030101010101" pitchFamily="2" charset="-122"/>
                <a:ea typeface="等线" panose="02010600030101010101" pitchFamily="2" charset="-122"/>
              </a:rPr>
              <a:t>答案：</a:t>
            </a:r>
            <a:r>
              <a:rPr lang="en-US" altLang="zh-CN" sz="1800" dirty="0">
                <a:latin typeface="等线" panose="02010600030101010101" pitchFamily="2" charset="-122"/>
                <a:ea typeface="等线" panose="02010600030101010101" pitchFamily="2" charset="-122"/>
              </a:rPr>
              <a:t>D</a:t>
            </a:r>
          </a:p>
          <a:p>
            <a:pPr marL="0" lvl="0" indent="0">
              <a:spcBef>
                <a:spcPct val="0"/>
              </a:spcBef>
              <a:buClrTx/>
              <a:buSzTx/>
              <a:buFontTx/>
              <a:buNone/>
            </a:pPr>
            <a:r>
              <a:rPr lang="zh-CN" altLang="en-US" sz="1800" dirty="0">
                <a:latin typeface="等线" panose="02010600030101010101" pitchFamily="2" charset="-122"/>
                <a:ea typeface="等线" panose="02010600030101010101" pitchFamily="2" charset="-122"/>
              </a:rPr>
              <a:t>在</a:t>
            </a:r>
            <a:r>
              <a:rPr lang="en-US" altLang="zh-CN" sz="1800" dirty="0">
                <a:latin typeface="等线" panose="02010600030101010101" pitchFamily="2" charset="-122"/>
                <a:ea typeface="等线" panose="02010600030101010101" pitchFamily="2" charset="-122"/>
              </a:rPr>
              <a:t>fork</a:t>
            </a:r>
            <a:r>
              <a:rPr lang="zh-CN" altLang="en-US" sz="1800" dirty="0">
                <a:latin typeface="等线" panose="02010600030101010101" pitchFamily="2" charset="-122"/>
                <a:ea typeface="等线" panose="02010600030101010101" pitchFamily="2" charset="-122"/>
              </a:rPr>
              <a:t>创建多进程之后堆栈信息会完全复制给子进程内存空间，父子进程相互独立。文件描述符存在于系统中为所有进程所共享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p:cNvSpPr>
          <p:nvPr>
            <p:ph type="title"/>
          </p:nvPr>
        </p:nvSpPr>
        <p:spPr>
          <a:ln/>
        </p:spPr>
        <p:txBody>
          <a:bodyPr vert="horz" wrap="square" lIns="91440" tIns="45720" rIns="91440" bIns="45720" anchor="b" anchorCtr="0"/>
          <a:lstStyle/>
          <a:p>
            <a:pPr eaLnBrk="1" hangingPunct="1"/>
            <a:r>
              <a:rPr lang="en-US" altLang="zh-CN"/>
              <a:t>Process Termination</a:t>
            </a:r>
          </a:p>
        </p:txBody>
      </p:sp>
      <p:sp>
        <p:nvSpPr>
          <p:cNvPr id="116738" name="Rectangle 3"/>
          <p:cNvSpPr>
            <a:spLocks noGrp="1"/>
          </p:cNvSpPr>
          <p:nvPr>
            <p:ph idx="1"/>
          </p:nvPr>
        </p:nvSpPr>
        <p:spPr>
          <a:xfrm>
            <a:off x="806450" y="1233488"/>
            <a:ext cx="7596188" cy="4530725"/>
          </a:xfrm>
          <a:ln/>
        </p:spPr>
        <p:txBody>
          <a:bodyPr vert="horz" wrap="square" lIns="91440" tIns="45720" rIns="91440" bIns="45720" anchor="t" anchorCtr="0"/>
          <a:lstStyle/>
          <a:p>
            <a:r>
              <a:rPr lang="en-US" altLang="zh-CN" sz="2000" dirty="0"/>
              <a:t>Process executes last statement and asks the operating system to </a:t>
            </a:r>
            <a:r>
              <a:rPr lang="en-US" altLang="zh-CN" sz="2000" dirty="0">
                <a:solidFill>
                  <a:srgbClr val="FF0000"/>
                </a:solidFill>
              </a:rPr>
              <a:t>delete</a:t>
            </a:r>
            <a:r>
              <a:rPr lang="en-US" altLang="zh-CN" sz="2000" dirty="0"/>
              <a:t> it (</a:t>
            </a:r>
            <a:r>
              <a:rPr lang="en-US" altLang="zh-CN" sz="2000" b="1" dirty="0"/>
              <a:t>exit</a:t>
            </a:r>
            <a:r>
              <a:rPr lang="en-US" altLang="zh-CN" sz="2000" dirty="0"/>
              <a:t>)</a:t>
            </a:r>
          </a:p>
          <a:p>
            <a:pPr lvl="1"/>
            <a:r>
              <a:rPr lang="en-US" altLang="zh-CN" sz="2000" dirty="0">
                <a:solidFill>
                  <a:srgbClr val="FF0000"/>
                </a:solidFill>
              </a:rPr>
              <a:t>Output data </a:t>
            </a:r>
            <a:r>
              <a:rPr lang="en-US" altLang="zh-CN" sz="2000" dirty="0"/>
              <a:t>from child to parent (via </a:t>
            </a:r>
            <a:r>
              <a:rPr lang="en-US" altLang="zh-CN" sz="2000" b="1" dirty="0"/>
              <a:t>wait</a:t>
            </a:r>
            <a:r>
              <a:rPr lang="en-US" altLang="zh-CN" sz="2000" dirty="0"/>
              <a:t>)</a:t>
            </a:r>
          </a:p>
          <a:p>
            <a:pPr lvl="1"/>
            <a:r>
              <a:rPr lang="en-US" altLang="zh-CN" sz="2000" dirty="0"/>
              <a:t>Process’ resources are </a:t>
            </a:r>
            <a:r>
              <a:rPr lang="en-US" altLang="zh-CN" sz="2000" dirty="0">
                <a:solidFill>
                  <a:srgbClr val="FF0000"/>
                </a:solidFill>
              </a:rPr>
              <a:t>deallocated</a:t>
            </a:r>
            <a:r>
              <a:rPr lang="en-US" altLang="zh-CN" sz="2000" dirty="0"/>
              <a:t> by operating system</a:t>
            </a:r>
          </a:p>
          <a:p>
            <a:r>
              <a:rPr lang="en-US" altLang="zh-CN" sz="2000" dirty="0"/>
              <a:t>Parent may terminate execution of children processes (</a:t>
            </a:r>
            <a:r>
              <a:rPr lang="en-US" altLang="zh-CN" sz="2000" b="1" dirty="0">
                <a:solidFill>
                  <a:srgbClr val="FF0000"/>
                </a:solidFill>
              </a:rPr>
              <a:t>abort</a:t>
            </a:r>
            <a:r>
              <a:rPr lang="en-US" altLang="zh-CN" sz="2000" dirty="0"/>
              <a:t>)</a:t>
            </a:r>
          </a:p>
          <a:p>
            <a:pPr lvl="1"/>
            <a:r>
              <a:rPr lang="en-US" altLang="zh-CN" sz="2000" dirty="0"/>
              <a:t>Child has exceeded </a:t>
            </a:r>
            <a:r>
              <a:rPr lang="en-US" altLang="zh-CN" sz="2000" dirty="0">
                <a:solidFill>
                  <a:srgbClr val="FF0000"/>
                </a:solidFill>
              </a:rPr>
              <a:t>allocated resources</a:t>
            </a:r>
          </a:p>
          <a:p>
            <a:pPr lvl="1"/>
            <a:r>
              <a:rPr lang="en-US" altLang="zh-CN" sz="2000" dirty="0"/>
              <a:t>Task assigned to child is no longer required</a:t>
            </a:r>
          </a:p>
          <a:p>
            <a:pPr lvl="1"/>
            <a:r>
              <a:rPr lang="en-US" altLang="zh-CN" sz="2000" dirty="0"/>
              <a:t>If parent is exiting</a:t>
            </a:r>
          </a:p>
          <a:p>
            <a:pPr lvl="2"/>
            <a:r>
              <a:rPr lang="en-US" altLang="zh-CN" sz="2000" dirty="0">
                <a:solidFill>
                  <a:srgbClr val="FF0000"/>
                </a:solidFill>
              </a:rPr>
              <a:t>Some operating system do not allow child to continue if its parent terminates</a:t>
            </a:r>
          </a:p>
          <a:p>
            <a:pPr lvl="3"/>
            <a:r>
              <a:rPr lang="en-US" altLang="zh-CN" dirty="0"/>
              <a:t>All children terminated - </a:t>
            </a:r>
            <a:r>
              <a:rPr lang="en-US" altLang="zh-CN" b="1" dirty="0"/>
              <a:t>cascading termination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p:cNvSpPr>
          <p:nvPr>
            <p:ph type="title"/>
          </p:nvPr>
        </p:nvSpPr>
        <p:spPr>
          <a:ln/>
        </p:spPr>
        <p:txBody>
          <a:bodyPr vert="horz" wrap="square" lIns="91440" tIns="45720" rIns="91440" bIns="45720" anchor="b" anchorCtr="0"/>
          <a:lstStyle/>
          <a:p>
            <a:pPr eaLnBrk="1" hangingPunct="1"/>
            <a:endParaRPr lang="en-US" altLang="zh-CN" dirty="0">
              <a:latin typeface="等线" panose="02010600030101010101" pitchFamily="2" charset="-122"/>
              <a:ea typeface="等线" panose="02010600030101010101" pitchFamily="2" charset="-122"/>
            </a:endParaRPr>
          </a:p>
        </p:txBody>
      </p:sp>
      <p:grpSp>
        <p:nvGrpSpPr>
          <p:cNvPr id="118786" name="Group 3"/>
          <p:cNvGrpSpPr/>
          <p:nvPr/>
        </p:nvGrpSpPr>
        <p:grpSpPr>
          <a:xfrm>
            <a:off x="936625" y="1085850"/>
            <a:ext cx="6683375" cy="5553075"/>
            <a:chOff x="453" y="621"/>
            <a:chExt cx="4210" cy="3498"/>
          </a:xfrm>
        </p:grpSpPr>
        <p:sp>
          <p:nvSpPr>
            <p:cNvPr id="118787" name="Line 4"/>
            <p:cNvSpPr/>
            <p:nvPr/>
          </p:nvSpPr>
          <p:spPr>
            <a:xfrm>
              <a:off x="2441" y="3590"/>
              <a:ext cx="0" cy="192"/>
            </a:xfrm>
            <a:prstGeom prst="line">
              <a:avLst/>
            </a:prstGeom>
            <a:ln w="28575" cap="flat" cmpd="sng">
              <a:solidFill>
                <a:schemeClr val="tx1"/>
              </a:solidFill>
              <a:prstDash val="solid"/>
              <a:headEnd type="none" w="med" len="med"/>
              <a:tailEnd type="arrow" w="med" len="med"/>
            </a:ln>
          </p:spPr>
        </p:sp>
        <p:sp>
          <p:nvSpPr>
            <p:cNvPr id="118788" name="Line 5"/>
            <p:cNvSpPr/>
            <p:nvPr/>
          </p:nvSpPr>
          <p:spPr>
            <a:xfrm>
              <a:off x="1019" y="1233"/>
              <a:ext cx="480" cy="0"/>
            </a:xfrm>
            <a:prstGeom prst="line">
              <a:avLst/>
            </a:prstGeom>
            <a:ln w="28575" cap="flat" cmpd="sng">
              <a:solidFill>
                <a:schemeClr val="tx1"/>
              </a:solidFill>
              <a:prstDash val="solid"/>
              <a:headEnd type="none" w="med" len="med"/>
              <a:tailEnd type="arrow" w="med" len="med"/>
            </a:ln>
          </p:spPr>
        </p:sp>
        <p:sp>
          <p:nvSpPr>
            <p:cNvPr id="118789" name="AutoShape 6"/>
            <p:cNvSpPr/>
            <p:nvPr/>
          </p:nvSpPr>
          <p:spPr>
            <a:xfrm>
              <a:off x="3589" y="2192"/>
              <a:ext cx="1074" cy="318"/>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出错处理</a:t>
              </a:r>
            </a:p>
          </p:txBody>
        </p:sp>
        <p:sp>
          <p:nvSpPr>
            <p:cNvPr id="118790" name="AutoShape 7"/>
            <p:cNvSpPr/>
            <p:nvPr/>
          </p:nvSpPr>
          <p:spPr>
            <a:xfrm>
              <a:off x="1632" y="621"/>
              <a:ext cx="1687" cy="265"/>
            </a:xfrm>
            <a:prstGeom prst="flowChartTerminator">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入口</a:t>
              </a:r>
            </a:p>
          </p:txBody>
        </p:sp>
        <p:sp>
          <p:nvSpPr>
            <p:cNvPr id="118791" name="AutoShape 8"/>
            <p:cNvSpPr/>
            <p:nvPr/>
          </p:nvSpPr>
          <p:spPr>
            <a:xfrm>
              <a:off x="1504" y="1099"/>
              <a:ext cx="1879" cy="264"/>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dirty="0">
                  <a:latin typeface="等线" panose="02010600030101010101" pitchFamily="2" charset="-122"/>
                  <a:ea typeface="等线" panose="02010600030101010101" pitchFamily="2" charset="-122"/>
                </a:rPr>
                <a:t>查进程链表或进程家族</a:t>
              </a:r>
            </a:p>
          </p:txBody>
        </p:sp>
        <p:sp>
          <p:nvSpPr>
            <p:cNvPr id="118792" name="AutoShape 9"/>
            <p:cNvSpPr/>
            <p:nvPr/>
          </p:nvSpPr>
          <p:spPr>
            <a:xfrm>
              <a:off x="1415" y="1575"/>
              <a:ext cx="2058" cy="334"/>
            </a:xfrm>
            <a:prstGeom prst="flowChartDecision">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有此</a:t>
              </a:r>
              <a:r>
                <a:rPr lang="en-US" altLang="zh-CN" sz="1800">
                  <a:latin typeface="等线" panose="02010600030101010101" pitchFamily="2" charset="-122"/>
                  <a:ea typeface="等线" panose="02010600030101010101" pitchFamily="2" charset="-122"/>
                </a:rPr>
                <a:t>PCB?</a:t>
              </a:r>
            </a:p>
          </p:txBody>
        </p:sp>
        <p:sp>
          <p:nvSpPr>
            <p:cNvPr id="118793" name="AutoShape 10"/>
            <p:cNvSpPr/>
            <p:nvPr/>
          </p:nvSpPr>
          <p:spPr>
            <a:xfrm>
              <a:off x="1459" y="2723"/>
              <a:ext cx="1969" cy="311"/>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释放该进程所占有的资源</a:t>
              </a:r>
            </a:p>
          </p:txBody>
        </p:sp>
        <p:sp>
          <p:nvSpPr>
            <p:cNvPr id="118794" name="AutoShape 11"/>
            <p:cNvSpPr/>
            <p:nvPr/>
          </p:nvSpPr>
          <p:spPr>
            <a:xfrm>
              <a:off x="1459" y="3257"/>
              <a:ext cx="1969" cy="313"/>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释放该</a:t>
              </a:r>
              <a:r>
                <a:rPr lang="en-US" altLang="zh-CN" sz="1800">
                  <a:latin typeface="等线" panose="02010600030101010101" pitchFamily="2" charset="-122"/>
                  <a:ea typeface="等线" panose="02010600030101010101" pitchFamily="2" charset="-122"/>
                </a:rPr>
                <a:t>PCB</a:t>
              </a:r>
              <a:r>
                <a:rPr lang="zh-CN" altLang="en-US" sz="1800">
                  <a:latin typeface="等线" panose="02010600030101010101" pitchFamily="2" charset="-122"/>
                  <a:ea typeface="等线" panose="02010600030101010101" pitchFamily="2" charset="-122"/>
                </a:rPr>
                <a:t>结构本身</a:t>
              </a:r>
            </a:p>
          </p:txBody>
        </p:sp>
        <p:sp>
          <p:nvSpPr>
            <p:cNvPr id="118795" name="Line 12"/>
            <p:cNvSpPr/>
            <p:nvPr/>
          </p:nvSpPr>
          <p:spPr>
            <a:xfrm>
              <a:off x="2453" y="890"/>
              <a:ext cx="0" cy="212"/>
            </a:xfrm>
            <a:prstGeom prst="line">
              <a:avLst/>
            </a:prstGeom>
            <a:ln w="28575" cap="flat" cmpd="sng">
              <a:solidFill>
                <a:schemeClr val="tx1"/>
              </a:solidFill>
              <a:prstDash val="solid"/>
              <a:headEnd type="none" w="med" len="med"/>
              <a:tailEnd type="arrow" w="med" len="med"/>
            </a:ln>
          </p:spPr>
        </p:sp>
        <p:sp>
          <p:nvSpPr>
            <p:cNvPr id="118796" name="Line 13"/>
            <p:cNvSpPr/>
            <p:nvPr/>
          </p:nvSpPr>
          <p:spPr>
            <a:xfrm>
              <a:off x="2444" y="1372"/>
              <a:ext cx="0" cy="212"/>
            </a:xfrm>
            <a:prstGeom prst="line">
              <a:avLst/>
            </a:prstGeom>
            <a:ln w="28575" cap="flat" cmpd="sng">
              <a:solidFill>
                <a:schemeClr val="tx1"/>
              </a:solidFill>
              <a:prstDash val="solid"/>
              <a:headEnd type="none" w="med" len="med"/>
              <a:tailEnd type="arrow" w="med" len="med"/>
            </a:ln>
          </p:spPr>
        </p:sp>
        <p:sp>
          <p:nvSpPr>
            <p:cNvPr id="118797" name="Line 14"/>
            <p:cNvSpPr/>
            <p:nvPr/>
          </p:nvSpPr>
          <p:spPr>
            <a:xfrm>
              <a:off x="2444" y="1936"/>
              <a:ext cx="0" cy="211"/>
            </a:xfrm>
            <a:prstGeom prst="line">
              <a:avLst/>
            </a:prstGeom>
            <a:ln w="28575" cap="flat" cmpd="sng">
              <a:solidFill>
                <a:schemeClr val="tx1"/>
              </a:solidFill>
              <a:prstDash val="solid"/>
              <a:headEnd type="none" w="med" len="med"/>
              <a:tailEnd type="arrow" w="med" len="med"/>
            </a:ln>
          </p:spPr>
        </p:sp>
        <p:sp>
          <p:nvSpPr>
            <p:cNvPr id="118798" name="Line 15"/>
            <p:cNvSpPr/>
            <p:nvPr/>
          </p:nvSpPr>
          <p:spPr>
            <a:xfrm>
              <a:off x="2444" y="2511"/>
              <a:ext cx="0" cy="212"/>
            </a:xfrm>
            <a:prstGeom prst="line">
              <a:avLst/>
            </a:prstGeom>
            <a:ln w="28575" cap="flat" cmpd="sng">
              <a:solidFill>
                <a:schemeClr val="tx1"/>
              </a:solidFill>
              <a:prstDash val="solid"/>
              <a:headEnd type="none" w="med" len="med"/>
              <a:tailEnd type="arrow" w="med" len="med"/>
            </a:ln>
          </p:spPr>
        </p:sp>
        <p:sp>
          <p:nvSpPr>
            <p:cNvPr id="118799" name="Line 16"/>
            <p:cNvSpPr/>
            <p:nvPr/>
          </p:nvSpPr>
          <p:spPr>
            <a:xfrm>
              <a:off x="2444" y="3034"/>
              <a:ext cx="0" cy="211"/>
            </a:xfrm>
            <a:prstGeom prst="line">
              <a:avLst/>
            </a:prstGeom>
            <a:ln w="28575" cap="flat" cmpd="sng">
              <a:solidFill>
                <a:schemeClr val="tx1"/>
              </a:solidFill>
              <a:prstDash val="solid"/>
              <a:headEnd type="none" w="med" len="med"/>
              <a:tailEnd type="arrow" w="med" len="med"/>
            </a:ln>
          </p:spPr>
        </p:sp>
        <p:sp>
          <p:nvSpPr>
            <p:cNvPr id="118800" name="Line 17"/>
            <p:cNvSpPr/>
            <p:nvPr/>
          </p:nvSpPr>
          <p:spPr>
            <a:xfrm>
              <a:off x="3474" y="1743"/>
              <a:ext cx="627" cy="0"/>
            </a:xfrm>
            <a:prstGeom prst="line">
              <a:avLst/>
            </a:prstGeom>
            <a:ln w="9525" cap="flat" cmpd="sng">
              <a:solidFill>
                <a:schemeClr val="tx1"/>
              </a:solidFill>
              <a:prstDash val="solid"/>
              <a:headEnd type="none" w="med" len="med"/>
              <a:tailEnd type="none" w="med" len="med"/>
            </a:ln>
          </p:spPr>
        </p:sp>
        <p:sp>
          <p:nvSpPr>
            <p:cNvPr id="118801" name="Line 18"/>
            <p:cNvSpPr/>
            <p:nvPr/>
          </p:nvSpPr>
          <p:spPr>
            <a:xfrm>
              <a:off x="4091" y="1742"/>
              <a:ext cx="0" cy="423"/>
            </a:xfrm>
            <a:prstGeom prst="line">
              <a:avLst/>
            </a:prstGeom>
            <a:ln w="28575" cap="flat" cmpd="sng">
              <a:solidFill>
                <a:schemeClr val="tx1"/>
              </a:solidFill>
              <a:prstDash val="solid"/>
              <a:headEnd type="none" w="med" len="med"/>
              <a:tailEnd type="arrow" w="med" len="med"/>
            </a:ln>
          </p:spPr>
        </p:sp>
        <p:sp>
          <p:nvSpPr>
            <p:cNvPr id="118802" name="Rectangle 19"/>
            <p:cNvSpPr/>
            <p:nvPr/>
          </p:nvSpPr>
          <p:spPr>
            <a:xfrm>
              <a:off x="3643" y="1304"/>
              <a:ext cx="402" cy="376"/>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无</a:t>
              </a:r>
            </a:p>
          </p:txBody>
        </p:sp>
        <p:sp>
          <p:nvSpPr>
            <p:cNvPr id="118803" name="Rectangle 20"/>
            <p:cNvSpPr/>
            <p:nvPr/>
          </p:nvSpPr>
          <p:spPr>
            <a:xfrm>
              <a:off x="453" y="1686"/>
              <a:ext cx="403" cy="314"/>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latin typeface="等线" panose="02010600030101010101" pitchFamily="2" charset="-122"/>
                  <a:ea typeface="等线" panose="02010600030101010101" pitchFamily="2" charset="-122"/>
                </a:rPr>
                <a:t>有</a:t>
              </a:r>
            </a:p>
          </p:txBody>
        </p:sp>
        <p:sp>
          <p:nvSpPr>
            <p:cNvPr id="118804" name="Line 21"/>
            <p:cNvSpPr/>
            <p:nvPr/>
          </p:nvSpPr>
          <p:spPr>
            <a:xfrm>
              <a:off x="1012" y="2335"/>
              <a:ext cx="447" cy="0"/>
            </a:xfrm>
            <a:prstGeom prst="line">
              <a:avLst/>
            </a:prstGeom>
            <a:ln w="28575" cap="flat" cmpd="sng">
              <a:solidFill>
                <a:schemeClr val="tx1"/>
              </a:solidFill>
              <a:prstDash val="solid"/>
              <a:headEnd type="none" w="med" len="med"/>
              <a:tailEnd type="none" w="med" len="med"/>
            </a:ln>
          </p:spPr>
        </p:sp>
        <p:sp>
          <p:nvSpPr>
            <p:cNvPr id="118805" name="Line 22"/>
            <p:cNvSpPr/>
            <p:nvPr/>
          </p:nvSpPr>
          <p:spPr>
            <a:xfrm flipV="1">
              <a:off x="1012" y="1240"/>
              <a:ext cx="0" cy="1112"/>
            </a:xfrm>
            <a:prstGeom prst="line">
              <a:avLst/>
            </a:prstGeom>
            <a:ln w="28575" cap="flat" cmpd="sng">
              <a:solidFill>
                <a:schemeClr val="tx1"/>
              </a:solidFill>
              <a:prstDash val="solid"/>
              <a:headEnd type="none" w="med" len="med"/>
              <a:tailEnd type="none" w="med" len="med"/>
            </a:ln>
          </p:spPr>
        </p:sp>
        <p:sp>
          <p:nvSpPr>
            <p:cNvPr id="118806" name="AutoShape 23"/>
            <p:cNvSpPr/>
            <p:nvPr/>
          </p:nvSpPr>
          <p:spPr>
            <a:xfrm>
              <a:off x="1562" y="3791"/>
              <a:ext cx="1709" cy="328"/>
            </a:xfrm>
            <a:prstGeom prst="flowChartTerminator">
              <a:avLst/>
            </a:prstGeom>
            <a:solidFill>
              <a:srgbClr val="CCEC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342900" lvl="0" indent="-342900" algn="ctr" eaLnBrk="1" hangingPunct="1">
                <a:lnSpc>
                  <a:spcPct val="150000"/>
                </a:lnSpc>
                <a:spcBef>
                  <a:spcPct val="0"/>
                </a:spcBef>
                <a:buClr>
                  <a:srgbClr val="FF0000"/>
                </a:buClr>
                <a:buSzTx/>
                <a:buFontTx/>
                <a:buNone/>
              </a:pPr>
              <a:r>
                <a:rPr lang="zh-CN" altLang="en-US" sz="1800">
                  <a:latin typeface="等线" panose="02010600030101010101" pitchFamily="2" charset="-122"/>
                  <a:ea typeface="等线" panose="02010600030101010101" pitchFamily="2" charset="-122"/>
                </a:rPr>
                <a:t>返回</a:t>
              </a:r>
            </a:p>
          </p:txBody>
        </p:sp>
        <p:sp>
          <p:nvSpPr>
            <p:cNvPr id="419864" name="AutoShape 24"/>
            <p:cNvSpPr>
              <a:spLocks noChangeArrowheads="1"/>
            </p:cNvSpPr>
            <p:nvPr/>
          </p:nvSpPr>
          <p:spPr bwMode="auto">
            <a:xfrm>
              <a:off x="1423" y="2158"/>
              <a:ext cx="2058" cy="371"/>
            </a:xfrm>
            <a:prstGeom prst="flowChartDecision">
              <a:avLst/>
            </a:prstGeom>
            <a:solidFill>
              <a:srgbClr val="CCECFF"/>
            </a:solidFill>
            <a:ln w="9525">
              <a:solidFill>
                <a:schemeClr val="tx1"/>
              </a:solidFill>
              <a:miter lim="800000"/>
            </a:ln>
            <a:effectLst/>
          </p:spPr>
          <p:txBody>
            <a:bodyPr wrap="none" anchor="ct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1800">
                  <a:effectLst>
                    <a:outerShdw blurRad="38100" dist="38100" dir="2700000">
                      <a:srgbClr val="C0C0C0"/>
                    </a:outerShdw>
                  </a:effectLst>
                  <a:latin typeface="等线" panose="02010600030101010101" pitchFamily="2" charset="-122"/>
                  <a:ea typeface="等线" panose="02010600030101010101" pitchFamily="2" charset="-122"/>
                </a:rPr>
                <a:t>有子进程吗？</a:t>
              </a:r>
              <a:endParaRPr lang="en-US" altLang="zh-CN" sz="1800">
                <a:effectLst>
                  <a:outerShdw blurRad="38100" dist="38100" dir="2700000">
                    <a:srgbClr val="C0C0C0"/>
                  </a:outerShdw>
                </a:effectLst>
                <a:latin typeface="等线" panose="02010600030101010101" pitchFamily="2" charset="-122"/>
                <a:ea typeface="等线" panose="02010600030101010101" pitchFamily="2" charset="-122"/>
              </a:endParaRPr>
            </a:p>
          </p:txBody>
        </p:sp>
      </p:grpSp>
      <p:sp>
        <p:nvSpPr>
          <p:cNvPr id="25" name="Rectangle 2">
            <a:extLst>
              <a:ext uri="{FF2B5EF4-FFF2-40B4-BE49-F238E27FC236}">
                <a16:creationId xmlns:a16="http://schemas.microsoft.com/office/drawing/2014/main" id="{158C45E5-1E19-4807-8AD4-3365F226D3B2}"/>
              </a:ext>
            </a:extLst>
          </p:cNvPr>
          <p:cNvSpPr txBox="1">
            <a:spLocks/>
          </p:cNvSpPr>
          <p:nvPr/>
        </p:nvSpPr>
        <p:spPr>
          <a:xfrm>
            <a:off x="457200" y="277813"/>
            <a:ext cx="8229600" cy="576262"/>
          </a:xfrm>
          <a:prstGeom prst="rect">
            <a:avLst/>
          </a:prstGeom>
          <a:ln/>
        </p:spPr>
        <p:txBody>
          <a:bodyPr vert="horz" wrap="square" lIns="91440" tIns="45720" rIns="91440" bIns="45720" anchor="b" anchorCtr="0"/>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r>
              <a:rPr lang="en-US" altLang="zh-CN" kern="0"/>
              <a:t>Process Termination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p:cNvSpPr>
          <p:nvPr>
            <p:ph type="title"/>
          </p:nvPr>
        </p:nvSpPr>
        <p:spPr>
          <a:ln/>
        </p:spPr>
        <p:txBody>
          <a:bodyPr vert="horz" wrap="square" lIns="91440" tIns="45720" rIns="91440" bIns="45720" anchor="b" anchorCtr="0"/>
          <a:lstStyle/>
          <a:p>
            <a:pPr eaLnBrk="1" hangingPunct="1"/>
            <a:r>
              <a:rPr lang="en-US" altLang="zh-CN"/>
              <a:t>Process blocking and wakeup</a:t>
            </a:r>
          </a:p>
        </p:txBody>
      </p:sp>
      <p:sp>
        <p:nvSpPr>
          <p:cNvPr id="40963" name="Rectangle 3"/>
          <p:cNvSpPr>
            <a:spLocks noGrp="1" noChangeArrowheads="1"/>
          </p:cNvSpPr>
          <p:nvPr>
            <p:ph idx="1"/>
          </p:nvPr>
        </p:nvSpPr>
        <p:spPr>
          <a:xfrm>
            <a:off x="806450" y="1233488"/>
            <a:ext cx="7596188" cy="4530725"/>
          </a:xfrm>
        </p:spPr>
        <p:txBody>
          <a:bodyPr vert="horz" wrap="square" lIns="91440" tIns="45720" rIns="91440" bIns="45720" numCol="1" anchor="t" anchorCtr="0" compatLnSpc="1"/>
          <a:lstStyle/>
          <a:p>
            <a:pPr marL="342900" marR="0" lvl="1" indent="-342900" algn="l" defTabSz="914400" rtl="0" eaLnBrk="0" fontAlgn="base" latinLnBrk="0" hangingPunct="0">
              <a:lnSpc>
                <a:spcPct val="100000"/>
              </a:lnSpc>
              <a:spcBef>
                <a:spcPct val="35000"/>
              </a:spcBef>
              <a:spcAft>
                <a:spcPct val="0"/>
              </a:spcAft>
              <a:buClr>
                <a:srgbClr val="993300"/>
              </a:buClr>
              <a:buSzPct val="90000"/>
              <a:buFont typeface="Monotype Sorts" charset="2"/>
              <a:buChar char="n"/>
              <a:defRPr/>
            </a:pPr>
            <a:r>
              <a:rPr kumimoji="1" lang="en-US" altLang="zh-CN" sz="2400" b="0" i="0" u="none" strike="noStrike" kern="0" cap="none" spc="0" normalizeH="0" baseline="0" noProof="0" dirty="0">
                <a:ln>
                  <a:noFill/>
                </a:ln>
                <a:solidFill>
                  <a:schemeClr val="tx1"/>
                </a:solidFill>
                <a:effectLst/>
                <a:uLnTx/>
                <a:uFillTx/>
                <a:latin typeface="+mn-lt"/>
                <a:ea typeface="MS PGothic" panose="020B0600070205080204" pitchFamily="34" charset="-128"/>
              </a:rPr>
              <a:t>A running process can not continue to run because of  something: Running → blocked</a:t>
            </a: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2"/>
              <a:buChar char="l"/>
              <a:defRPr/>
            </a:pPr>
            <a:r>
              <a:rPr kumimoji="1" lang="en-US" altLang="zh-CN" sz="2400" b="0" i="0" u="none" strike="noStrike" kern="0" cap="none" spc="0" normalizeH="0" baseline="0" noProof="0" dirty="0">
                <a:ln>
                  <a:noFill/>
                </a:ln>
                <a:solidFill>
                  <a:srgbClr val="FF0000"/>
                </a:solidFill>
                <a:effectLst/>
                <a:uLnTx/>
                <a:uFillTx/>
                <a:latin typeface="+mn-lt"/>
                <a:ea typeface="MS PGothic" panose="020B0600070205080204" pitchFamily="34" charset="-128"/>
              </a:rPr>
              <a:t>I/O</a:t>
            </a: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2"/>
              <a:buChar char="l"/>
              <a:defRPr/>
            </a:pPr>
            <a:r>
              <a:rPr kumimoji="1" lang="en-US" altLang="zh-CN" sz="2400" b="0" i="0" u="none" strike="noStrike" kern="0" cap="none" spc="0" normalizeH="0" baseline="0" noProof="0" dirty="0">
                <a:ln>
                  <a:noFill/>
                </a:ln>
                <a:solidFill>
                  <a:srgbClr val="FF0000"/>
                </a:solidFill>
                <a:effectLst/>
                <a:uLnTx/>
                <a:uFillTx/>
                <a:latin typeface="+mn-lt"/>
                <a:ea typeface="MS PGothic" panose="020B0600070205080204" pitchFamily="34" charset="-128"/>
              </a:rPr>
              <a:t>Signal</a:t>
            </a: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charset="2"/>
              <a:buChar char="n"/>
              <a:defRPr/>
            </a:pPr>
            <a:r>
              <a:rPr kumimoji="1" lang="en-US" altLang="zh-CN" sz="24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When the event happens, the waiting process will be wakeup</a:t>
            </a: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2"/>
              <a:buChar char="l"/>
              <a:defRPr/>
            </a:pPr>
            <a:r>
              <a:rPr kumimoji="1" lang="en-US" altLang="zh-CN" sz="2400" b="0" i="0" u="none" strike="noStrike" kern="0" cap="none" spc="0" normalizeH="0" baseline="0" noProof="0" dirty="0">
                <a:ln>
                  <a:noFill/>
                </a:ln>
                <a:solidFill>
                  <a:schemeClr val="tx1"/>
                </a:solidFill>
                <a:effectLst/>
                <a:uLnTx/>
                <a:uFillTx/>
                <a:latin typeface="+mn-lt"/>
                <a:ea typeface="MS PGothic" panose="020B0600070205080204" pitchFamily="34" charset="-128"/>
              </a:rPr>
              <a:t>blocked → ready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p:cNvSpPr>
          <p:nvPr>
            <p:ph type="title"/>
          </p:nvPr>
        </p:nvSpPr>
        <p:spPr>
          <a:ln/>
        </p:spPr>
        <p:txBody>
          <a:bodyPr vert="horz" wrap="square" lIns="91440" tIns="45720" rIns="91440" bIns="45720" anchor="b" anchorCtr="0"/>
          <a:lstStyle/>
          <a:p>
            <a:pPr eaLnBrk="1" hangingPunct="1"/>
            <a:r>
              <a:rPr lang="en-US" altLang="zh-CN"/>
              <a:t>Process Blocking</a:t>
            </a:r>
          </a:p>
        </p:txBody>
      </p:sp>
      <p:grpSp>
        <p:nvGrpSpPr>
          <p:cNvPr id="122882" name="Group 3"/>
          <p:cNvGrpSpPr/>
          <p:nvPr/>
        </p:nvGrpSpPr>
        <p:grpSpPr>
          <a:xfrm>
            <a:off x="2330450" y="1503363"/>
            <a:ext cx="4859338" cy="4467225"/>
            <a:chOff x="1074" y="624"/>
            <a:chExt cx="3061" cy="3150"/>
          </a:xfrm>
        </p:grpSpPr>
        <p:sp>
          <p:nvSpPr>
            <p:cNvPr id="122883" name="AutoShape 4"/>
            <p:cNvSpPr/>
            <p:nvPr/>
          </p:nvSpPr>
          <p:spPr>
            <a:xfrm>
              <a:off x="1074" y="624"/>
              <a:ext cx="3061" cy="404"/>
            </a:xfrm>
            <a:prstGeom prst="flowChartAlternate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800">
                  <a:latin typeface="等线" panose="02010600030101010101" pitchFamily="2" charset="-122"/>
                  <a:ea typeface="等线" panose="02010600030101010101" pitchFamily="2" charset="-122"/>
                </a:rPr>
                <a:t>入口</a:t>
              </a:r>
            </a:p>
          </p:txBody>
        </p:sp>
        <p:sp>
          <p:nvSpPr>
            <p:cNvPr id="122884" name="AutoShape 5"/>
            <p:cNvSpPr/>
            <p:nvPr/>
          </p:nvSpPr>
          <p:spPr>
            <a:xfrm>
              <a:off x="1074" y="1281"/>
              <a:ext cx="3061" cy="424"/>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800">
                  <a:latin typeface="等线" panose="02010600030101010101" pitchFamily="2" charset="-122"/>
                  <a:ea typeface="等线" panose="02010600030101010101" pitchFamily="2" charset="-122"/>
                </a:rPr>
                <a:t>保存当前进程的</a:t>
              </a:r>
              <a:r>
                <a:rPr lang="en-US" altLang="zh-CN" sz="2800">
                  <a:latin typeface="等线" panose="02010600030101010101" pitchFamily="2" charset="-122"/>
                  <a:ea typeface="等线" panose="02010600030101010101" pitchFamily="2" charset="-122"/>
                </a:rPr>
                <a:t>CPU</a:t>
              </a:r>
              <a:r>
                <a:rPr lang="zh-CN" altLang="en-US" sz="2800">
                  <a:latin typeface="等线" panose="02010600030101010101" pitchFamily="2" charset="-122"/>
                  <a:ea typeface="等线" panose="02010600030101010101" pitchFamily="2" charset="-122"/>
                </a:rPr>
                <a:t>现场</a:t>
              </a:r>
            </a:p>
          </p:txBody>
        </p:sp>
        <p:sp>
          <p:nvSpPr>
            <p:cNvPr id="122885" name="AutoShape 6"/>
            <p:cNvSpPr/>
            <p:nvPr/>
          </p:nvSpPr>
          <p:spPr>
            <a:xfrm>
              <a:off x="1074" y="1945"/>
              <a:ext cx="3061" cy="423"/>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a:latin typeface="等线" panose="02010600030101010101" pitchFamily="2" charset="-122"/>
                  <a:ea typeface="等线" panose="02010600030101010101" pitchFamily="2" charset="-122"/>
                </a:rPr>
                <a:t>修改该进程的状态</a:t>
              </a:r>
            </a:p>
          </p:txBody>
        </p:sp>
        <p:sp>
          <p:nvSpPr>
            <p:cNvPr id="122886" name="AutoShape 7"/>
            <p:cNvSpPr/>
            <p:nvPr/>
          </p:nvSpPr>
          <p:spPr>
            <a:xfrm>
              <a:off x="1074" y="2649"/>
              <a:ext cx="3061" cy="45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a:latin typeface="等线" panose="02010600030101010101" pitchFamily="2" charset="-122"/>
                  <a:ea typeface="等线" panose="02010600030101010101" pitchFamily="2" charset="-122"/>
                </a:rPr>
                <a:t>被阻塞进程入等待队列</a:t>
              </a:r>
            </a:p>
          </p:txBody>
        </p:sp>
        <p:sp>
          <p:nvSpPr>
            <p:cNvPr id="122887" name="AutoShape 8"/>
            <p:cNvSpPr/>
            <p:nvPr/>
          </p:nvSpPr>
          <p:spPr>
            <a:xfrm>
              <a:off x="1074" y="3324"/>
              <a:ext cx="3061" cy="450"/>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a:latin typeface="等线" panose="02010600030101010101" pitchFamily="2" charset="-122"/>
                  <a:ea typeface="等线" panose="02010600030101010101" pitchFamily="2" charset="-122"/>
                </a:rPr>
                <a:t>转进程调度</a:t>
              </a:r>
            </a:p>
          </p:txBody>
        </p:sp>
        <p:sp>
          <p:nvSpPr>
            <p:cNvPr id="122888" name="Line 9"/>
            <p:cNvSpPr/>
            <p:nvPr/>
          </p:nvSpPr>
          <p:spPr>
            <a:xfrm>
              <a:off x="2538" y="1047"/>
              <a:ext cx="0" cy="225"/>
            </a:xfrm>
            <a:prstGeom prst="line">
              <a:avLst/>
            </a:prstGeom>
            <a:ln w="28575" cap="flat" cmpd="sng">
              <a:solidFill>
                <a:srgbClr val="FF9900"/>
              </a:solidFill>
              <a:prstDash val="solid"/>
              <a:headEnd type="none" w="med" len="med"/>
              <a:tailEnd type="triangle" w="med" len="med"/>
            </a:ln>
          </p:spPr>
        </p:sp>
        <p:sp>
          <p:nvSpPr>
            <p:cNvPr id="122889" name="Line 10"/>
            <p:cNvSpPr/>
            <p:nvPr/>
          </p:nvSpPr>
          <p:spPr>
            <a:xfrm>
              <a:off x="2529" y="1713"/>
              <a:ext cx="0" cy="225"/>
            </a:xfrm>
            <a:prstGeom prst="line">
              <a:avLst/>
            </a:prstGeom>
            <a:ln w="28575" cap="flat" cmpd="sng">
              <a:solidFill>
                <a:srgbClr val="FF9900"/>
              </a:solidFill>
              <a:prstDash val="solid"/>
              <a:headEnd type="none" w="med" len="med"/>
              <a:tailEnd type="triangle" w="med" len="med"/>
            </a:ln>
          </p:spPr>
        </p:sp>
        <p:sp>
          <p:nvSpPr>
            <p:cNvPr id="122890" name="Line 11"/>
            <p:cNvSpPr/>
            <p:nvPr/>
          </p:nvSpPr>
          <p:spPr>
            <a:xfrm>
              <a:off x="2528" y="2395"/>
              <a:ext cx="0" cy="225"/>
            </a:xfrm>
            <a:prstGeom prst="line">
              <a:avLst/>
            </a:prstGeom>
            <a:ln w="28575" cap="flat" cmpd="sng">
              <a:solidFill>
                <a:srgbClr val="FF9900"/>
              </a:solidFill>
              <a:prstDash val="solid"/>
              <a:headEnd type="none" w="med" len="med"/>
              <a:tailEnd type="triangle" w="med" len="med"/>
            </a:ln>
          </p:spPr>
        </p:sp>
        <p:sp>
          <p:nvSpPr>
            <p:cNvPr id="122891" name="Line 12"/>
            <p:cNvSpPr/>
            <p:nvPr/>
          </p:nvSpPr>
          <p:spPr>
            <a:xfrm>
              <a:off x="2519" y="3097"/>
              <a:ext cx="0" cy="225"/>
            </a:xfrm>
            <a:prstGeom prst="line">
              <a:avLst/>
            </a:prstGeom>
            <a:ln w="28575" cap="flat" cmpd="sng">
              <a:solidFill>
                <a:srgbClr val="FF9900"/>
              </a:solidFill>
              <a:prstDash val="solid"/>
              <a:headEnd type="none" w="med" len="med"/>
              <a:tailEnd type="triangl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a:ln/>
        </p:spPr>
        <p:txBody>
          <a:bodyPr vert="horz" wrap="square" lIns="91440" tIns="45720" rIns="91440" bIns="45720" anchor="b" anchorCtr="0"/>
          <a:lstStyle/>
          <a:p>
            <a:pPr eaLnBrk="1" hangingPunct="1"/>
            <a:r>
              <a:rPr lang="en-US" altLang="zh-CN"/>
              <a:t>Process wakeup</a:t>
            </a:r>
          </a:p>
        </p:txBody>
      </p:sp>
      <p:grpSp>
        <p:nvGrpSpPr>
          <p:cNvPr id="124930" name="Group 4"/>
          <p:cNvGrpSpPr/>
          <p:nvPr/>
        </p:nvGrpSpPr>
        <p:grpSpPr>
          <a:xfrm>
            <a:off x="2384425" y="1392238"/>
            <a:ext cx="4641850" cy="4691062"/>
            <a:chOff x="1368" y="816"/>
            <a:chExt cx="2736" cy="2688"/>
          </a:xfrm>
        </p:grpSpPr>
        <p:sp>
          <p:nvSpPr>
            <p:cNvPr id="124931" name="AutoShape 5"/>
            <p:cNvSpPr/>
            <p:nvPr/>
          </p:nvSpPr>
          <p:spPr>
            <a:xfrm>
              <a:off x="1392" y="816"/>
              <a:ext cx="2688" cy="384"/>
            </a:xfrm>
            <a:prstGeom prst="flowChartAlternate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400">
                  <a:latin typeface="等线" panose="02010600030101010101" pitchFamily="2" charset="-122"/>
                  <a:ea typeface="等线" panose="02010600030101010101" pitchFamily="2" charset="-122"/>
                </a:rPr>
                <a:t>入口</a:t>
              </a:r>
            </a:p>
          </p:txBody>
        </p:sp>
        <p:sp>
          <p:nvSpPr>
            <p:cNvPr id="124932" name="AutoShape 6"/>
            <p:cNvSpPr/>
            <p:nvPr/>
          </p:nvSpPr>
          <p:spPr>
            <a:xfrm>
              <a:off x="1416" y="1380"/>
              <a:ext cx="2640" cy="432"/>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400">
                  <a:latin typeface="等线" panose="02010600030101010101" pitchFamily="2" charset="-122"/>
                  <a:ea typeface="等线" panose="02010600030101010101" pitchFamily="2" charset="-122"/>
                </a:rPr>
                <a:t>从等待队列中摘下被唤醒进程</a:t>
              </a:r>
            </a:p>
          </p:txBody>
        </p:sp>
        <p:sp>
          <p:nvSpPr>
            <p:cNvPr id="124933" name="AutoShape 7"/>
            <p:cNvSpPr/>
            <p:nvPr/>
          </p:nvSpPr>
          <p:spPr>
            <a:xfrm>
              <a:off x="1416" y="1992"/>
              <a:ext cx="2640" cy="384"/>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400">
                  <a:latin typeface="等线" panose="02010600030101010101" pitchFamily="2" charset="-122"/>
                  <a:ea typeface="等线" panose="02010600030101010101" pitchFamily="2" charset="-122"/>
                </a:rPr>
                <a:t>将被唤醒进程置为就绪状态</a:t>
              </a:r>
            </a:p>
          </p:txBody>
        </p:sp>
        <p:sp>
          <p:nvSpPr>
            <p:cNvPr id="124934" name="AutoShape 8"/>
            <p:cNvSpPr/>
            <p:nvPr/>
          </p:nvSpPr>
          <p:spPr>
            <a:xfrm>
              <a:off x="1368" y="2556"/>
              <a:ext cx="2736" cy="384"/>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400">
                  <a:latin typeface="等线" panose="02010600030101010101" pitchFamily="2" charset="-122"/>
                  <a:ea typeface="等线" panose="02010600030101010101" pitchFamily="2" charset="-122"/>
                </a:rPr>
                <a:t>将被唤醒进程送入就绪队列</a:t>
              </a:r>
            </a:p>
          </p:txBody>
        </p:sp>
        <p:sp>
          <p:nvSpPr>
            <p:cNvPr id="124935" name="AutoShape 9"/>
            <p:cNvSpPr/>
            <p:nvPr/>
          </p:nvSpPr>
          <p:spPr>
            <a:xfrm>
              <a:off x="1368" y="3120"/>
              <a:ext cx="2736" cy="384"/>
            </a:xfrm>
            <a:prstGeom prst="flowChartProcess">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stStyle>
            <a:p>
              <a:pPr marL="0" lvl="0" indent="0" algn="ctr" eaLnBrk="1" hangingPunct="1">
                <a:spcBef>
                  <a:spcPct val="0"/>
                </a:spcBef>
                <a:buClrTx/>
                <a:buSzTx/>
                <a:buFontTx/>
                <a:buNone/>
              </a:pPr>
              <a:r>
                <a:rPr lang="zh-CN" altLang="en-US" sz="2400">
                  <a:latin typeface="等线" panose="02010600030101010101" pitchFamily="2" charset="-122"/>
                  <a:ea typeface="等线" panose="02010600030101010101" pitchFamily="2" charset="-122"/>
                </a:rPr>
                <a:t>转进程调度或返回</a:t>
              </a:r>
            </a:p>
          </p:txBody>
        </p:sp>
        <p:sp>
          <p:nvSpPr>
            <p:cNvPr id="124936" name="Line 10"/>
            <p:cNvSpPr/>
            <p:nvPr/>
          </p:nvSpPr>
          <p:spPr>
            <a:xfrm>
              <a:off x="2664" y="1200"/>
              <a:ext cx="0" cy="192"/>
            </a:xfrm>
            <a:prstGeom prst="line">
              <a:avLst/>
            </a:prstGeom>
            <a:ln w="28575" cap="flat" cmpd="sng">
              <a:solidFill>
                <a:srgbClr val="FF9900"/>
              </a:solidFill>
              <a:prstDash val="solid"/>
              <a:headEnd type="none" w="med" len="med"/>
              <a:tailEnd type="triangle" w="med" len="med"/>
            </a:ln>
          </p:spPr>
        </p:sp>
        <p:sp>
          <p:nvSpPr>
            <p:cNvPr id="124937" name="Line 11"/>
            <p:cNvSpPr/>
            <p:nvPr/>
          </p:nvSpPr>
          <p:spPr>
            <a:xfrm>
              <a:off x="2664" y="1797"/>
              <a:ext cx="0" cy="192"/>
            </a:xfrm>
            <a:prstGeom prst="line">
              <a:avLst/>
            </a:prstGeom>
            <a:ln w="28575" cap="flat" cmpd="sng">
              <a:solidFill>
                <a:srgbClr val="FF9900"/>
              </a:solidFill>
              <a:prstDash val="solid"/>
              <a:headEnd type="none" w="med" len="med"/>
              <a:tailEnd type="triangle" w="med" len="med"/>
            </a:ln>
          </p:spPr>
        </p:sp>
        <p:sp>
          <p:nvSpPr>
            <p:cNvPr id="124938" name="Line 12"/>
            <p:cNvSpPr/>
            <p:nvPr/>
          </p:nvSpPr>
          <p:spPr>
            <a:xfrm>
              <a:off x="2664" y="2388"/>
              <a:ext cx="0" cy="192"/>
            </a:xfrm>
            <a:prstGeom prst="line">
              <a:avLst/>
            </a:prstGeom>
            <a:ln w="28575" cap="flat" cmpd="sng">
              <a:solidFill>
                <a:srgbClr val="FF9900"/>
              </a:solidFill>
              <a:prstDash val="solid"/>
              <a:headEnd type="none" w="med" len="med"/>
              <a:tailEnd type="triangle" w="med" len="med"/>
            </a:ln>
          </p:spPr>
        </p:sp>
        <p:sp>
          <p:nvSpPr>
            <p:cNvPr id="124939" name="Line 13"/>
            <p:cNvSpPr/>
            <p:nvPr/>
          </p:nvSpPr>
          <p:spPr>
            <a:xfrm>
              <a:off x="2664" y="2922"/>
              <a:ext cx="0" cy="192"/>
            </a:xfrm>
            <a:prstGeom prst="line">
              <a:avLst/>
            </a:prstGeom>
            <a:ln w="28575" cap="flat" cmpd="sng">
              <a:solidFill>
                <a:srgbClr val="FF9900"/>
              </a:solidFill>
              <a:prstDash val="solid"/>
              <a:headEnd type="none" w="med" len="med"/>
              <a:tailEnd type="triangle" w="med" len="med"/>
            </a:ln>
          </p:spPr>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p:cNvSpPr>
          <p:nvPr>
            <p:ph type="title"/>
          </p:nvPr>
        </p:nvSpPr>
        <p:spPr>
          <a:ln/>
        </p:spPr>
        <p:txBody>
          <a:bodyPr vert="horz" wrap="square" lIns="91440" tIns="45720" rIns="91440" bIns="45720" anchor="b" anchorCtr="0"/>
          <a:lstStyle/>
          <a:p>
            <a:pPr eaLnBrk="1" hangingPunct="1"/>
            <a:r>
              <a:rPr lang="en-US" altLang="zh-CN"/>
              <a:t>Diagram of Process State</a:t>
            </a:r>
          </a:p>
        </p:txBody>
      </p:sp>
      <p:graphicFrame>
        <p:nvGraphicFramePr>
          <p:cNvPr id="126978" name="Object 4"/>
          <p:cNvGraphicFramePr>
            <a:graphicFrameLocks noChangeAspect="1"/>
          </p:cNvGraphicFramePr>
          <p:nvPr/>
        </p:nvGraphicFramePr>
        <p:xfrm>
          <a:off x="692150" y="1033463"/>
          <a:ext cx="8042275" cy="4922837"/>
        </p:xfrm>
        <a:graphic>
          <a:graphicData uri="http://schemas.openxmlformats.org/presentationml/2006/ole">
            <mc:AlternateContent xmlns:mc="http://schemas.openxmlformats.org/markup-compatibility/2006">
              <mc:Choice xmlns:v="urn:schemas-microsoft-com:vml" Requires="v">
                <p:oleObj spid="_x0000_s3111" r:id="rId4" imgW="6562725" imgH="4019550" progId="Adobe.Illustrator.7">
                  <p:embed/>
                </p:oleObj>
              </mc:Choice>
              <mc:Fallback>
                <p:oleObj r:id="rId4" imgW="6562725" imgH="4019550" progId="Adobe.Illustrator.7">
                  <p:embed/>
                  <p:pic>
                    <p:nvPicPr>
                      <p:cNvPr id="0" name="图片 3075"/>
                      <p:cNvPicPr/>
                      <p:nvPr/>
                    </p:nvPicPr>
                    <p:blipFill>
                      <a:blip r:embed="rId5"/>
                      <a:stretch>
                        <a:fillRect/>
                      </a:stretch>
                    </p:blipFill>
                    <p:spPr>
                      <a:xfrm>
                        <a:off x="692150" y="1033463"/>
                        <a:ext cx="8042275" cy="4922837"/>
                      </a:xfrm>
                      <a:prstGeom prst="rect">
                        <a:avLst/>
                      </a:prstGeom>
                      <a:noFill/>
                      <a:ln w="38100">
                        <a:noFill/>
                        <a:miter/>
                      </a:ln>
                    </p:spPr>
                  </p:pic>
                </p:oleObj>
              </mc:Fallback>
            </mc:AlternateContent>
          </a:graphicData>
        </a:graphic>
      </p:graphicFrame>
      <p:sp>
        <p:nvSpPr>
          <p:cNvPr id="2" name="椭圆 1">
            <a:extLst>
              <a:ext uri="{FF2B5EF4-FFF2-40B4-BE49-F238E27FC236}">
                <a16:creationId xmlns:a16="http://schemas.microsoft.com/office/drawing/2014/main" id="{71E5A440-6779-4091-BA20-A2794DCE1AC3}"/>
              </a:ext>
            </a:extLst>
          </p:cNvPr>
          <p:cNvSpPr/>
          <p:nvPr/>
        </p:nvSpPr>
        <p:spPr bwMode="auto">
          <a:xfrm>
            <a:off x="297456" y="2820756"/>
            <a:ext cx="2016086" cy="3227503"/>
          </a:xfrm>
          <a:prstGeom prst="ellipse">
            <a:avLst/>
          </a:prstGeom>
          <a:noFill/>
          <a:ln w="28575"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椭圆 4">
            <a:extLst>
              <a:ext uri="{FF2B5EF4-FFF2-40B4-BE49-F238E27FC236}">
                <a16:creationId xmlns:a16="http://schemas.microsoft.com/office/drawing/2014/main" id="{08EFF279-C7C1-40F2-81E1-01134188EB4D}"/>
              </a:ext>
            </a:extLst>
          </p:cNvPr>
          <p:cNvSpPr/>
          <p:nvPr/>
        </p:nvSpPr>
        <p:spPr bwMode="auto">
          <a:xfrm>
            <a:off x="2555914" y="2820756"/>
            <a:ext cx="2016086" cy="3227503"/>
          </a:xfrm>
          <a:prstGeom prst="ellipse">
            <a:avLst/>
          </a:prstGeom>
          <a:noFill/>
          <a:ln w="28575" cap="flat" cmpd="sng" algn="ctr">
            <a:solidFill>
              <a:srgbClr val="0070C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rgbClr val="0070C0"/>
              </a:solidFill>
              <a:effectLst/>
              <a:latin typeface="Verdana" panose="020B0604030504040204" pitchFamily="34" charset="0"/>
            </a:endParaRPr>
          </a:p>
        </p:txBody>
      </p:sp>
      <p:sp>
        <p:nvSpPr>
          <p:cNvPr id="3" name="文本框 2">
            <a:extLst>
              <a:ext uri="{FF2B5EF4-FFF2-40B4-BE49-F238E27FC236}">
                <a16:creationId xmlns:a16="http://schemas.microsoft.com/office/drawing/2014/main" id="{768F0525-CFF2-4357-A969-B62915E3D122}"/>
              </a:ext>
            </a:extLst>
          </p:cNvPr>
          <p:cNvSpPr txBox="1"/>
          <p:nvPr/>
        </p:nvSpPr>
        <p:spPr>
          <a:xfrm>
            <a:off x="982333" y="6135688"/>
            <a:ext cx="646331" cy="369332"/>
          </a:xfrm>
          <a:prstGeom prst="rect">
            <a:avLst/>
          </a:prstGeom>
          <a:noFill/>
        </p:spPr>
        <p:txBody>
          <a:bodyPr wrap="none" rtlCol="0">
            <a:spAutoFit/>
          </a:bodyPr>
          <a:lstStyle/>
          <a:p>
            <a:r>
              <a:rPr lang="zh-CN" altLang="en-US" dirty="0">
                <a:solidFill>
                  <a:srgbClr val="C00000"/>
                </a:solidFill>
              </a:rPr>
              <a:t>外存</a:t>
            </a:r>
          </a:p>
        </p:txBody>
      </p:sp>
      <p:sp>
        <p:nvSpPr>
          <p:cNvPr id="7" name="文本框 6">
            <a:extLst>
              <a:ext uri="{FF2B5EF4-FFF2-40B4-BE49-F238E27FC236}">
                <a16:creationId xmlns:a16="http://schemas.microsoft.com/office/drawing/2014/main" id="{34E72C21-25AC-45EA-8AED-A1AD067C3E43}"/>
              </a:ext>
            </a:extLst>
          </p:cNvPr>
          <p:cNvSpPr txBox="1"/>
          <p:nvPr/>
        </p:nvSpPr>
        <p:spPr>
          <a:xfrm>
            <a:off x="3240791" y="6135688"/>
            <a:ext cx="646331" cy="369332"/>
          </a:xfrm>
          <a:prstGeom prst="rect">
            <a:avLst/>
          </a:prstGeom>
          <a:noFill/>
          <a:ln>
            <a:solidFill>
              <a:srgbClr val="0070C0"/>
            </a:solidFill>
          </a:ln>
        </p:spPr>
        <p:txBody>
          <a:bodyPr wrap="none" rtlCol="0">
            <a:spAutoFit/>
          </a:bodyPr>
          <a:lstStyle/>
          <a:p>
            <a:r>
              <a:rPr lang="zh-CN" altLang="en-US" dirty="0">
                <a:solidFill>
                  <a:srgbClr val="0070C0"/>
                </a:solidFill>
              </a:rPr>
              <a:t>内存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3" grpId="0"/>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p:cNvSpPr>
          <p:nvPr>
            <p:ph type="title"/>
          </p:nvPr>
        </p:nvSpPr>
        <p:spPr>
          <a:ln/>
        </p:spPr>
        <p:txBody>
          <a:bodyPr vert="horz" wrap="square" lIns="91440" tIns="45720" rIns="91440" bIns="45720" anchor="b" anchorCtr="0"/>
          <a:lstStyle/>
          <a:p>
            <a:pPr eaLnBrk="1" hangingPunct="1">
              <a:lnSpc>
                <a:spcPct val="150000"/>
              </a:lnSpc>
              <a:buNone/>
            </a:pPr>
            <a:r>
              <a:rPr lang="zh-CN" altLang="en-US">
                <a:latin typeface="等线" panose="02010600030101010101" pitchFamily="2" charset="-122"/>
                <a:ea typeface="等线" panose="02010600030101010101" pitchFamily="2" charset="-122"/>
              </a:rPr>
              <a:t>挂起状态的引入 </a:t>
            </a:r>
          </a:p>
        </p:txBody>
      </p:sp>
      <p:sp>
        <p:nvSpPr>
          <p:cNvPr id="129026" name="文本框 2"/>
          <p:cNvSpPr txBox="1">
            <a:spLocks noChangeArrowheads="1"/>
          </p:cNvSpPr>
          <p:nvPr/>
        </p:nvSpPr>
        <p:spPr bwMode="auto">
          <a:xfrm>
            <a:off x="231775" y="811213"/>
            <a:ext cx="8229600" cy="5826125"/>
          </a:xfrm>
          <a:prstGeom prst="rect">
            <a:avLst/>
          </a:prstGeom>
          <a:noFill/>
          <a:ln>
            <a:noFill/>
          </a:ln>
        </p:spPr>
        <p:txBody>
          <a:bodyPr>
            <a:spAutoFit/>
          </a:bodyPr>
          <a:lstStyle/>
          <a:p>
            <a:pPr marL="367030" indent="-367030" algn="just" defTabSz="979805" eaLnBrk="1" hangingPunct="1">
              <a:lnSpc>
                <a:spcPct val="130000"/>
              </a:lnSpc>
            </a:pPr>
            <a:r>
              <a:rPr lang="en-US" altLang="zh-CN" dirty="0">
                <a:latin typeface="等线" panose="02010600030101010101" pitchFamily="2" charset="-122"/>
                <a:ea typeface="等线" panose="02010600030101010101" pitchFamily="2" charset="-122"/>
              </a:rPr>
              <a:t>1</a:t>
            </a:r>
            <a:r>
              <a:rPr lang="zh-CN" altLang="en-US" dirty="0">
                <a:latin typeface="等线" panose="02010600030101010101" pitchFamily="2" charset="-122"/>
                <a:ea typeface="等线" panose="02010600030101010101" pitchFamily="2" charset="-122"/>
              </a:rPr>
              <a:t>、终端用户的需要</a:t>
            </a:r>
          </a:p>
          <a:p>
            <a:pPr marL="367030" indent="-367030" algn="just" defTabSz="979805" eaLnBrk="1" hangingPunct="1">
              <a:lnSpc>
                <a:spcPct val="130000"/>
              </a:lnSpc>
            </a:pPr>
            <a:r>
              <a:rPr lang="zh-CN" altLang="en-US" dirty="0">
                <a:latin typeface="等线" panose="02010600030101010101" pitchFamily="2" charset="-122"/>
                <a:ea typeface="等线" panose="02010600030101010101" pitchFamily="2" charset="-122"/>
              </a:rPr>
              <a:t>    当终端用户在自己的程序运行期间，发现有可疑问题时，希望暂时使自己的进程静止下来，以便研究其执行情况或对程序进行修改。</a:t>
            </a:r>
          </a:p>
          <a:p>
            <a:pPr marL="796925" lvl="1" indent="-306070" algn="just" defTabSz="979805" eaLnBrk="1" hangingPunct="1">
              <a:lnSpc>
                <a:spcPct val="130000"/>
              </a:lnSpc>
              <a:buFont typeface="Arial" panose="020B0604020202020204" pitchFamily="34" charset="0"/>
              <a:buChar char="•"/>
            </a:pPr>
            <a:r>
              <a:rPr lang="zh-CN" altLang="en-US" dirty="0">
                <a:latin typeface="等线" panose="02010600030101010101" pitchFamily="2" charset="-122"/>
                <a:ea typeface="等线" panose="02010600030101010101" pitchFamily="2" charset="-122"/>
              </a:rPr>
              <a:t>如果进程处于执行状态，则暂停执行</a:t>
            </a:r>
          </a:p>
          <a:p>
            <a:pPr marL="796925" lvl="1" indent="-306070" algn="just" defTabSz="979805" eaLnBrk="1" hangingPunct="1">
              <a:lnSpc>
                <a:spcPct val="130000"/>
              </a:lnSpc>
              <a:buFont typeface="Arial" panose="020B0604020202020204" pitchFamily="34" charset="0"/>
              <a:buChar char="•"/>
            </a:pPr>
            <a:r>
              <a:rPr lang="zh-CN" altLang="en-US" dirty="0">
                <a:latin typeface="等线" panose="02010600030101010101" pitchFamily="2" charset="-122"/>
                <a:ea typeface="等线" panose="02010600030101010101" pitchFamily="2" charset="-122"/>
              </a:rPr>
              <a:t>如果进程处于就绪状态，则暂时不接受调度</a:t>
            </a:r>
          </a:p>
          <a:p>
            <a:pPr marL="367030" indent="-367030" defTabSz="979805" eaLnBrk="1" hangingPunct="1">
              <a:lnSpc>
                <a:spcPct val="130000"/>
              </a:lnSpc>
            </a:pPr>
            <a:r>
              <a:rPr lang="en-US" altLang="zh-CN" dirty="0">
                <a:latin typeface="等线" panose="02010600030101010101" pitchFamily="2" charset="-122"/>
                <a:ea typeface="等线" panose="02010600030101010101" pitchFamily="2" charset="-122"/>
              </a:rPr>
              <a:t>2</a:t>
            </a:r>
            <a:r>
              <a:rPr lang="zh-CN" altLang="en-US" dirty="0">
                <a:latin typeface="等线" panose="02010600030101010101" pitchFamily="2" charset="-122"/>
                <a:ea typeface="等线" panose="02010600030101010101" pitchFamily="2" charset="-122"/>
              </a:rPr>
              <a:t>、父进程的需求</a:t>
            </a:r>
          </a:p>
          <a:p>
            <a:pPr marL="367030" indent="-367030" algn="just" defTabSz="979805" eaLnBrk="1" hangingPunct="1">
              <a:lnSpc>
                <a:spcPct val="130000"/>
              </a:lnSpc>
            </a:pPr>
            <a:r>
              <a:rPr lang="zh-CN" altLang="en-US" dirty="0">
                <a:latin typeface="等线" panose="02010600030101010101" pitchFamily="2" charset="-122"/>
                <a:ea typeface="等线" panose="02010600030101010101" pitchFamily="2" charset="-122"/>
              </a:rPr>
              <a:t>    父进程常常希望考察和修改子进程，或者需协调各子进程间的活动，要挂起自己的子进程。</a:t>
            </a:r>
          </a:p>
          <a:p>
            <a:pPr marL="367030" indent="-367030" algn="just" defTabSz="979805" eaLnBrk="1" hangingPunct="1">
              <a:lnSpc>
                <a:spcPct val="130000"/>
              </a:lnSpc>
            </a:pPr>
            <a:r>
              <a:rPr lang="en-US" altLang="zh-CN" dirty="0">
                <a:latin typeface="等线" panose="02010600030101010101" pitchFamily="2" charset="-122"/>
                <a:ea typeface="等线" panose="02010600030101010101" pitchFamily="2" charset="-122"/>
              </a:rPr>
              <a:t>3</a:t>
            </a:r>
            <a:r>
              <a:rPr lang="zh-CN" altLang="en-US" dirty="0">
                <a:latin typeface="等线" panose="02010600030101010101" pitchFamily="2" charset="-122"/>
                <a:ea typeface="等线" panose="02010600030101010101" pitchFamily="2" charset="-122"/>
              </a:rPr>
              <a:t>、操作系统的需要</a:t>
            </a:r>
          </a:p>
          <a:p>
            <a:pPr marL="367030" indent="-367030" algn="just" defTabSz="979805" eaLnBrk="1" hangingPunct="1">
              <a:lnSpc>
                <a:spcPct val="130000"/>
              </a:lnSpc>
            </a:pPr>
            <a:r>
              <a:rPr lang="zh-CN" altLang="en-US" dirty="0">
                <a:latin typeface="等线" panose="02010600030101010101" pitchFamily="2" charset="-122"/>
                <a:ea typeface="等线" panose="02010600030101010101" pitchFamily="2" charset="-122"/>
              </a:rPr>
              <a:t>    操作系统有时需要挂起某些进程，检查运行中资源的使用情况及进行记帐，以便改善系统的运行性能。</a:t>
            </a:r>
          </a:p>
          <a:p>
            <a:pPr marL="367030" indent="-367030" defTabSz="979805" eaLnBrk="1" hangingPunct="1">
              <a:lnSpc>
                <a:spcPct val="130000"/>
              </a:lnSpc>
            </a:pPr>
            <a:r>
              <a:rPr lang="en-US" altLang="zh-CN" dirty="0">
                <a:latin typeface="等线" panose="02010600030101010101" pitchFamily="2" charset="-122"/>
                <a:ea typeface="等线" panose="02010600030101010101" pitchFamily="2" charset="-122"/>
              </a:rPr>
              <a:t>4</a:t>
            </a:r>
            <a:r>
              <a:rPr lang="zh-CN" altLang="en-US" dirty="0">
                <a:latin typeface="等线" panose="02010600030101010101" pitchFamily="2" charset="-122"/>
                <a:ea typeface="等线" panose="02010600030101010101" pitchFamily="2" charset="-122"/>
              </a:rPr>
              <a:t>、对换的需要</a:t>
            </a:r>
          </a:p>
          <a:p>
            <a:pPr marL="367030" indent="-367030" algn="just" defTabSz="979805" eaLnBrk="1" hangingPunct="1">
              <a:lnSpc>
                <a:spcPct val="130000"/>
              </a:lnSpc>
            </a:pPr>
            <a:r>
              <a:rPr lang="zh-CN" altLang="en-US" dirty="0">
                <a:latin typeface="等线" panose="02010600030101010101" pitchFamily="2" charset="-122"/>
                <a:ea typeface="等线" panose="02010600030101010101" pitchFamily="2" charset="-122"/>
              </a:rPr>
              <a:t>    为了缓和内存紧张的情况，将内存中处于阻塞状态的进程换至外存上。</a:t>
            </a:r>
          </a:p>
          <a:p>
            <a:pPr marL="367030" indent="-367030" algn="just" defTabSz="979805" eaLnBrk="1" hangingPunct="1">
              <a:lnSpc>
                <a:spcPct val="130000"/>
              </a:lnSpc>
            </a:pPr>
            <a:r>
              <a:rPr lang="en-US" altLang="zh-CN" dirty="0">
                <a:latin typeface="等线" panose="02010600030101010101" pitchFamily="2" charset="-122"/>
                <a:ea typeface="等线" panose="02010600030101010101" pitchFamily="2" charset="-122"/>
              </a:rPr>
              <a:t>5</a:t>
            </a:r>
            <a:r>
              <a:rPr lang="zh-CN" altLang="en-US" dirty="0">
                <a:latin typeface="等线" panose="02010600030101010101" pitchFamily="2" charset="-122"/>
                <a:ea typeface="等线" panose="02010600030101010101" pitchFamily="2" charset="-122"/>
              </a:rPr>
              <a:t>、负荷调节的需要</a:t>
            </a:r>
          </a:p>
          <a:p>
            <a:pPr marL="367030" indent="-367030" algn="just" defTabSz="979805" eaLnBrk="1" hangingPunct="1">
              <a:lnSpc>
                <a:spcPct val="130000"/>
              </a:lnSpc>
            </a:pPr>
            <a:r>
              <a:rPr lang="zh-CN" altLang="en-US" dirty="0">
                <a:latin typeface="等线" panose="02010600030101010101" pitchFamily="2" charset="-122"/>
                <a:ea typeface="等线" panose="02010600030101010101" pitchFamily="2" charset="-122"/>
              </a:rPr>
              <a:t>    当实时系统中的工作负荷较重，可能影响到对实时任务的控制时，可由系统把一些不重要或不紧迫的进程挂起，以保证系统仍然能正常运行。</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a:ln/>
        </p:spPr>
        <p:txBody>
          <a:bodyPr vert="horz" wrap="square" lIns="91440" tIns="45720" rIns="91440" bIns="45720" anchor="b" anchorCtr="0"/>
          <a:lstStyle/>
          <a:p>
            <a:r>
              <a:rPr lang="en-US" altLang="zh-CN"/>
              <a:t>Interprocess Communication</a:t>
            </a:r>
          </a:p>
        </p:txBody>
      </p:sp>
      <p:sp>
        <p:nvSpPr>
          <p:cNvPr id="131074" name="Content Placeholder 2"/>
          <p:cNvSpPr>
            <a:spLocks noGrp="1"/>
          </p:cNvSpPr>
          <p:nvPr>
            <p:ph idx="1"/>
          </p:nvPr>
        </p:nvSpPr>
        <p:spPr>
          <a:xfrm>
            <a:off x="806450" y="1233488"/>
            <a:ext cx="7512050" cy="4530725"/>
          </a:xfrm>
          <a:ln/>
        </p:spPr>
        <p:txBody>
          <a:bodyPr vert="horz" wrap="square" lIns="91440" tIns="45720" rIns="91440" bIns="45720" anchor="t" anchorCtr="0"/>
          <a:lstStyle/>
          <a:p>
            <a:r>
              <a:rPr lang="en-US" altLang="zh-CN" sz="2400" dirty="0"/>
              <a:t>Processes within a system may be </a:t>
            </a:r>
            <a:r>
              <a:rPr lang="en-US" altLang="zh-CN" sz="2400" b="1" dirty="0"/>
              <a:t>independent</a:t>
            </a:r>
            <a:r>
              <a:rPr lang="zh-CN" altLang="en-US" sz="2400" b="1" dirty="0"/>
              <a:t>（独立）</a:t>
            </a:r>
            <a:r>
              <a:rPr lang="en-US" altLang="zh-CN" sz="2400" b="1" dirty="0"/>
              <a:t> </a:t>
            </a:r>
            <a:r>
              <a:rPr lang="en-US" altLang="zh-CN" sz="2400" dirty="0"/>
              <a:t>or </a:t>
            </a:r>
            <a:r>
              <a:rPr lang="en-US" altLang="zh-CN" sz="2400" b="1" dirty="0"/>
              <a:t>cooperating</a:t>
            </a:r>
            <a:r>
              <a:rPr lang="zh-CN" altLang="en-US" sz="2400" b="1" dirty="0"/>
              <a:t>（协作）</a:t>
            </a:r>
            <a:endParaRPr lang="en-US" altLang="zh-CN" sz="2400" b="1" dirty="0"/>
          </a:p>
          <a:p>
            <a:r>
              <a:rPr lang="en-US" altLang="zh-CN" sz="2400" dirty="0"/>
              <a:t>Cooperating process can affect or be affected by other processes, including sharing data</a:t>
            </a:r>
          </a:p>
          <a:p>
            <a:r>
              <a:rPr lang="en-US" altLang="zh-CN" sz="2400" dirty="0"/>
              <a:t>Reasons for cooperating processes:</a:t>
            </a:r>
          </a:p>
          <a:p>
            <a:pPr lvl="1"/>
            <a:r>
              <a:rPr lang="en-US" altLang="zh-CN" sz="2400" dirty="0"/>
              <a:t>Information sharing</a:t>
            </a:r>
            <a:r>
              <a:rPr lang="zh-CN" altLang="en-US" sz="2400" dirty="0"/>
              <a:t>（信息共享）</a:t>
            </a:r>
            <a:endParaRPr lang="en-US" altLang="zh-CN" sz="2400" dirty="0"/>
          </a:p>
          <a:p>
            <a:pPr lvl="1"/>
            <a:r>
              <a:rPr lang="en-US" altLang="zh-CN" sz="2400" dirty="0"/>
              <a:t>Computation speedup</a:t>
            </a:r>
            <a:r>
              <a:rPr lang="zh-CN" altLang="en-US" sz="2400" dirty="0"/>
              <a:t>（计算加速）</a:t>
            </a:r>
            <a:endParaRPr lang="en-US" altLang="zh-CN" sz="2400" dirty="0"/>
          </a:p>
          <a:p>
            <a:pPr lvl="1"/>
            <a:r>
              <a:rPr lang="en-US" altLang="zh-CN" sz="2400" dirty="0"/>
              <a:t>Modularity</a:t>
            </a:r>
            <a:r>
              <a:rPr lang="zh-CN" altLang="en-US" sz="2400" dirty="0"/>
              <a:t>（模块化）</a:t>
            </a:r>
            <a:endParaRPr lang="en-US" altLang="zh-CN" sz="2400" dirty="0"/>
          </a:p>
          <a:p>
            <a:pPr lvl="1"/>
            <a:r>
              <a:rPr lang="en-US" altLang="zh-CN" sz="2400" dirty="0"/>
              <a:t>Convenience</a:t>
            </a:r>
            <a:r>
              <a:rPr lang="zh-CN" altLang="en-US" sz="2400" dirty="0"/>
              <a:t>（方便）</a:t>
            </a:r>
            <a:endParaRPr lang="en-US" altLang="zh-CN" sz="2400" dirty="0"/>
          </a:p>
          <a:p>
            <a:endParaRPr lang="en-US" altLang="zh-CN" sz="1800" dirty="0"/>
          </a:p>
          <a:p>
            <a:pPr lvl="1"/>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10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10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107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10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a:ln/>
        </p:spPr>
        <p:txBody>
          <a:bodyPr vert="horz" wrap="square" lIns="91440" tIns="45720" rIns="91440" bIns="45720" anchor="b" anchorCtr="0"/>
          <a:lstStyle/>
          <a:p>
            <a:r>
              <a:rPr lang="en-US" altLang="zh-CN" sz="2800"/>
              <a:t>Interprocess Communication</a:t>
            </a:r>
            <a:endParaRPr lang="zh-CN" altLang="en-US" sz="2800"/>
          </a:p>
        </p:txBody>
      </p:sp>
      <p:sp>
        <p:nvSpPr>
          <p:cNvPr id="133122" name="Rectangle 3"/>
          <p:cNvSpPr>
            <a:spLocks noGrp="1"/>
          </p:cNvSpPr>
          <p:nvPr>
            <p:ph idx="1"/>
          </p:nvPr>
        </p:nvSpPr>
        <p:spPr>
          <a:ln/>
        </p:spPr>
        <p:txBody>
          <a:bodyPr vert="horz" wrap="square" lIns="91440" tIns="45720" rIns="91440" bIns="45720" anchor="t" anchorCtr="0"/>
          <a:lstStyle/>
          <a:p>
            <a:r>
              <a:rPr lang="en-US" altLang="zh-CN" sz="2400" dirty="0"/>
              <a:t>Cooperating processes need </a:t>
            </a:r>
            <a:r>
              <a:rPr lang="en-US" altLang="zh-CN" sz="2400" b="1" dirty="0" err="1"/>
              <a:t>interprocess</a:t>
            </a:r>
            <a:r>
              <a:rPr lang="en-US" altLang="zh-CN" sz="2400" b="1" dirty="0"/>
              <a:t> communication </a:t>
            </a:r>
            <a:r>
              <a:rPr lang="en-US" altLang="zh-CN" sz="2400" dirty="0"/>
              <a:t>(</a:t>
            </a:r>
            <a:r>
              <a:rPr lang="en-US" altLang="zh-CN" sz="2400" b="1" dirty="0"/>
              <a:t>IPC</a:t>
            </a:r>
            <a:r>
              <a:rPr lang="en-US" altLang="zh-CN" sz="2400" dirty="0"/>
              <a:t>)</a:t>
            </a:r>
          </a:p>
          <a:p>
            <a:r>
              <a:rPr lang="en-US" altLang="zh-CN" sz="2400" dirty="0"/>
              <a:t>Two models of IPC</a:t>
            </a:r>
          </a:p>
          <a:p>
            <a:pPr lvl="1"/>
            <a:r>
              <a:rPr lang="en-US" altLang="zh-CN" sz="2400" dirty="0"/>
              <a:t>Shared memory</a:t>
            </a:r>
            <a:r>
              <a:rPr lang="zh-CN" altLang="en-US" sz="2400" dirty="0"/>
              <a:t>（共享内存）</a:t>
            </a:r>
            <a:endParaRPr lang="en-US" altLang="zh-CN" sz="2400" dirty="0"/>
          </a:p>
          <a:p>
            <a:pPr lvl="1"/>
            <a:r>
              <a:rPr lang="en-US" altLang="zh-CN" sz="2400" dirty="0"/>
              <a:t>Message passing</a:t>
            </a:r>
            <a:r>
              <a:rPr lang="zh-CN" altLang="en-US" sz="2400" dirty="0"/>
              <a:t>（消息传递）</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a:ln/>
        </p:spPr>
        <p:txBody>
          <a:bodyPr vert="horz" wrap="square" lIns="91440" tIns="45720" rIns="91440" bIns="45720" anchor="b" anchorCtr="0"/>
          <a:lstStyle/>
          <a:p>
            <a:pPr eaLnBrk="1" hangingPunct="1"/>
            <a:r>
              <a:rPr lang="en-US" altLang="zh-CN" dirty="0"/>
              <a:t>Communications Models </a:t>
            </a:r>
          </a:p>
        </p:txBody>
      </p:sp>
      <p:pic>
        <p:nvPicPr>
          <p:cNvPr id="135170" name="Picture 4"/>
          <p:cNvPicPr>
            <a:picLocks noChangeAspect="1"/>
          </p:cNvPicPr>
          <p:nvPr/>
        </p:nvPicPr>
        <p:blipFill>
          <a:blip r:embed="rId3"/>
          <a:stretch>
            <a:fillRect/>
          </a:stretch>
        </p:blipFill>
        <p:spPr>
          <a:xfrm>
            <a:off x="1365250" y="1458913"/>
            <a:ext cx="6453188" cy="4289425"/>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p:cNvSpPr>
          <p:nvPr>
            <p:ph type="title"/>
          </p:nvPr>
        </p:nvSpPr>
        <p:spPr>
          <a:ln/>
        </p:spPr>
        <p:txBody>
          <a:bodyPr vert="horz" wrap="square" lIns="91440" tIns="45720" rIns="91440" bIns="45720" anchor="b" anchorCtr="0"/>
          <a:lstStyle/>
          <a:p>
            <a:pPr eaLnBrk="1" hangingPunct="1"/>
            <a:endParaRPr lang="en-US" altLang="zh-CN" dirty="0"/>
          </a:p>
        </p:txBody>
      </p:sp>
      <p:sp>
        <p:nvSpPr>
          <p:cNvPr id="137218" name="Rectangle 3"/>
          <p:cNvSpPr>
            <a:spLocks noGrp="1"/>
          </p:cNvSpPr>
          <p:nvPr>
            <p:ph type="body"/>
          </p:nvPr>
        </p:nvSpPr>
        <p:spPr>
          <a:xfrm>
            <a:off x="806450" y="1233488"/>
            <a:ext cx="7519988" cy="4530725"/>
          </a:xfrm>
          <a:ln/>
        </p:spPr>
        <p:txBody>
          <a:bodyPr vert="horz" wrap="square" lIns="91440" tIns="45720" rIns="91440" bIns="45720" anchor="t" anchorCtr="0"/>
          <a:lstStyle/>
          <a:p>
            <a:pPr eaLnBrk="1" hangingPunct="1">
              <a:lnSpc>
                <a:spcPct val="150000"/>
              </a:lnSpc>
            </a:pPr>
            <a:r>
              <a:rPr lang="en-US" altLang="zh-CN" sz="2400" dirty="0" err="1"/>
              <a:t>Interprocess</a:t>
            </a:r>
            <a:r>
              <a:rPr lang="en-US" altLang="zh-CN" sz="2400" dirty="0"/>
              <a:t> communication using Shared memory requires communicating processes to establish a shared memory</a:t>
            </a:r>
          </a:p>
          <a:p>
            <a:pPr eaLnBrk="1" hangingPunct="1">
              <a:lnSpc>
                <a:spcPct val="150000"/>
              </a:lnSpc>
            </a:pPr>
            <a:r>
              <a:rPr lang="en-US" altLang="zh-CN" sz="2400" dirty="0"/>
              <a:t>The form of the exchanged data and location are </a:t>
            </a:r>
            <a:r>
              <a:rPr lang="en-US" altLang="zh-CN" sz="2400" dirty="0">
                <a:solidFill>
                  <a:srgbClr val="FF0000"/>
                </a:solidFill>
              </a:rPr>
              <a:t>determined by the communicating processes and are not under the OS</a:t>
            </a:r>
            <a:r>
              <a:rPr lang="en-US" altLang="zh-CN" sz="2400" dirty="0">
                <a:solidFill>
                  <a:srgbClr val="FF0000"/>
                </a:solidFill>
                <a:latin typeface="Arial" panose="020B0604020202020204" pitchFamily="34" charset="0"/>
              </a:rPr>
              <a:t>’</a:t>
            </a:r>
            <a:r>
              <a:rPr lang="en-US" altLang="zh-CN" sz="2400" dirty="0">
                <a:solidFill>
                  <a:srgbClr val="FF0000"/>
                </a:solidFill>
              </a:rPr>
              <a:t>s control</a:t>
            </a:r>
            <a:r>
              <a:rPr lang="en-US" altLang="zh-CN" sz="2400" dirty="0"/>
              <a:t> </a:t>
            </a:r>
          </a:p>
          <a:p>
            <a:pPr eaLnBrk="1" hangingPunct="1">
              <a:lnSpc>
                <a:spcPct val="150000"/>
              </a:lnSpc>
            </a:pPr>
            <a:endParaRPr lang="en-US" altLang="zh-CN" sz="2400" dirty="0"/>
          </a:p>
        </p:txBody>
      </p:sp>
      <p:sp>
        <p:nvSpPr>
          <p:cNvPr id="6" name="Rectangle 2">
            <a:extLst>
              <a:ext uri="{FF2B5EF4-FFF2-40B4-BE49-F238E27FC236}">
                <a16:creationId xmlns:a16="http://schemas.microsoft.com/office/drawing/2014/main" id="{E43AAF6A-4743-432C-B520-819530E08F25}"/>
              </a:ext>
            </a:extLst>
          </p:cNvPr>
          <p:cNvSpPr txBox="1">
            <a:spLocks/>
          </p:cNvSpPr>
          <p:nvPr/>
        </p:nvSpPr>
        <p:spPr>
          <a:xfrm>
            <a:off x="457200" y="277813"/>
            <a:ext cx="8229600" cy="576262"/>
          </a:xfrm>
          <a:prstGeom prst="rect">
            <a:avLst/>
          </a:prstGeom>
          <a:ln/>
        </p:spPr>
        <p:txBody>
          <a:bodyPr vert="horz" wrap="square" lIns="91440" tIns="45720" rIns="91440" bIns="45720" anchor="b" anchorCtr="0"/>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r>
              <a:rPr lang="en-US" altLang="zh-CN" dirty="0"/>
              <a:t>Shared memory</a:t>
            </a:r>
            <a:endParaRPr lang="en-US" altLang="zh-CN" kern="0"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p:cNvSpPr>
          <p:nvPr>
            <p:ph type="title"/>
          </p:nvPr>
        </p:nvSpPr>
        <p:spPr>
          <a:ln/>
        </p:spPr>
        <p:txBody>
          <a:bodyPr vert="horz" wrap="square" lIns="91440" tIns="45720" rIns="91440" bIns="45720" anchor="b" anchorCtr="0"/>
          <a:lstStyle/>
          <a:p>
            <a:pPr eaLnBrk="1" hangingPunct="1"/>
            <a:r>
              <a:rPr lang="en-US" altLang="zh-CN"/>
              <a:t>Producer-Consumer Problem</a:t>
            </a:r>
          </a:p>
        </p:txBody>
      </p:sp>
      <p:sp>
        <p:nvSpPr>
          <p:cNvPr id="139266" name="Rectangle 3"/>
          <p:cNvSpPr>
            <a:spLocks noGrp="1"/>
          </p:cNvSpPr>
          <p:nvPr>
            <p:ph idx="1"/>
          </p:nvPr>
        </p:nvSpPr>
        <p:spPr>
          <a:xfrm>
            <a:off x="827088" y="1411288"/>
            <a:ext cx="7897812" cy="4497387"/>
          </a:xfrm>
          <a:ln/>
        </p:spPr>
        <p:txBody>
          <a:bodyPr vert="horz" wrap="square" lIns="91440" tIns="45720" rIns="91440" bIns="45720" anchor="t" anchorCtr="0"/>
          <a:lstStyle/>
          <a:p>
            <a:r>
              <a:rPr lang="en-US" altLang="zh-CN" sz="2400" dirty="0"/>
              <a:t>Paradigm for cooperating processes, </a:t>
            </a:r>
            <a:r>
              <a:rPr lang="en-US" altLang="zh-CN" sz="2400" i="1" dirty="0"/>
              <a:t>producer</a:t>
            </a:r>
            <a:r>
              <a:rPr lang="en-US" altLang="zh-CN" sz="2400" dirty="0"/>
              <a:t> process produces information that is consumed by a </a:t>
            </a:r>
            <a:r>
              <a:rPr lang="en-US" altLang="zh-CN" sz="2400" i="1" dirty="0"/>
              <a:t>consumer</a:t>
            </a:r>
            <a:r>
              <a:rPr lang="en-US" altLang="zh-CN" sz="2400" dirty="0"/>
              <a:t> process</a:t>
            </a:r>
          </a:p>
          <a:p>
            <a:pPr lvl="1"/>
            <a:r>
              <a:rPr lang="en-US" altLang="zh-CN" sz="2400" i="1" dirty="0"/>
              <a:t>unbounded-buffer</a:t>
            </a:r>
            <a:r>
              <a:rPr lang="en-US" altLang="zh-CN" sz="2400" dirty="0"/>
              <a:t> </a:t>
            </a:r>
            <a:r>
              <a:rPr lang="zh-CN" altLang="en-US" sz="2400" dirty="0"/>
              <a:t>（无界缓冲区） </a:t>
            </a:r>
            <a:r>
              <a:rPr lang="en-US" altLang="zh-CN" sz="2400" dirty="0"/>
              <a:t>places no practical limit on the size of the buffer</a:t>
            </a:r>
          </a:p>
          <a:p>
            <a:pPr lvl="1"/>
            <a:r>
              <a:rPr lang="en-US" altLang="zh-CN" sz="2400" i="1" dirty="0"/>
              <a:t>bounded-buffer</a:t>
            </a:r>
            <a:r>
              <a:rPr lang="en-US" altLang="zh-CN" sz="2400" dirty="0"/>
              <a:t> </a:t>
            </a:r>
            <a:r>
              <a:rPr lang="zh-CN" altLang="en-US" sz="2400" dirty="0"/>
              <a:t>（有界缓冲区） </a:t>
            </a:r>
            <a:r>
              <a:rPr lang="en-US" altLang="zh-CN" sz="2400" dirty="0"/>
              <a:t>assumes that there is a fixed buffer size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p:cNvSpPr>
          <p:nvPr>
            <p:ph type="title"/>
          </p:nvPr>
        </p:nvSpPr>
        <p:spPr>
          <a:xfrm>
            <a:off x="1069975" y="411163"/>
            <a:ext cx="8074025" cy="457200"/>
          </a:xfrm>
          <a:ln/>
        </p:spPr>
        <p:txBody>
          <a:bodyPr vert="horz" wrap="square" lIns="91440" tIns="45720" rIns="91440" bIns="45720" anchor="b" anchorCtr="0"/>
          <a:lstStyle/>
          <a:p>
            <a:pPr eaLnBrk="1" hangingPunct="1"/>
            <a:r>
              <a:rPr lang="en-US" altLang="zh-CN" sz="2800"/>
              <a:t>Bounded-Buffer – Shared-Memory Solution</a:t>
            </a:r>
          </a:p>
        </p:txBody>
      </p:sp>
      <p:sp>
        <p:nvSpPr>
          <p:cNvPr id="141314" name="Rectangle 3"/>
          <p:cNvSpPr>
            <a:spLocks noGrp="1"/>
          </p:cNvSpPr>
          <p:nvPr>
            <p:ph idx="1"/>
          </p:nvPr>
        </p:nvSpPr>
        <p:spPr>
          <a:xfrm>
            <a:off x="1195388" y="1517650"/>
            <a:ext cx="7131050" cy="4419600"/>
          </a:xfrm>
          <a:ln/>
        </p:spPr>
        <p:txBody>
          <a:bodyPr vert="horz" wrap="square" lIns="91440" tIns="45720" rIns="91440" bIns="45720" anchor="t" anchorCtr="0"/>
          <a:lstStyle/>
          <a:p>
            <a:r>
              <a:rPr lang="en-US" altLang="zh-CN" sz="2000" dirty="0"/>
              <a:t>Shared data</a:t>
            </a:r>
          </a:p>
          <a:p>
            <a:pPr marL="1600200" lvl="3">
              <a:buNone/>
            </a:pPr>
            <a:r>
              <a:rPr lang="en-US" altLang="zh-CN" dirty="0"/>
              <a:t>#define BUFFER_SIZE 10</a:t>
            </a:r>
          </a:p>
          <a:p>
            <a:pPr marL="1600200" lvl="3">
              <a:buNone/>
            </a:pPr>
            <a:r>
              <a:rPr lang="en-US" altLang="zh-CN" dirty="0"/>
              <a:t>typedef struct {</a:t>
            </a:r>
          </a:p>
          <a:p>
            <a:pPr marL="1600200" lvl="3">
              <a:buNone/>
            </a:pPr>
            <a:r>
              <a:rPr lang="en-US" altLang="zh-CN" dirty="0"/>
              <a:t>	. . .</a:t>
            </a:r>
          </a:p>
          <a:p>
            <a:pPr marL="1600200" lvl="3">
              <a:buNone/>
            </a:pPr>
            <a:r>
              <a:rPr lang="en-US" altLang="zh-CN" dirty="0"/>
              <a:t>} item;</a:t>
            </a:r>
          </a:p>
          <a:p>
            <a:pPr marL="1600200" lvl="3">
              <a:buNone/>
            </a:pPr>
            <a:endParaRPr lang="en-US" altLang="zh-CN" dirty="0"/>
          </a:p>
          <a:p>
            <a:pPr marL="1600200" lvl="3">
              <a:buNone/>
            </a:pPr>
            <a:r>
              <a:rPr lang="en-US" altLang="zh-CN" dirty="0"/>
              <a:t>item buffer[BUFFER_SIZE];</a:t>
            </a:r>
          </a:p>
          <a:p>
            <a:pPr marL="1600200" lvl="3">
              <a:buNone/>
            </a:pPr>
            <a:r>
              <a:rPr lang="en-US" altLang="zh-CN" dirty="0"/>
              <a:t>int in = 0;</a:t>
            </a:r>
            <a:r>
              <a:rPr lang="zh-CN" altLang="en-US" dirty="0"/>
              <a:t> </a:t>
            </a:r>
            <a:r>
              <a:rPr lang="en-US" altLang="zh-CN" dirty="0"/>
              <a:t>//</a:t>
            </a:r>
            <a:r>
              <a:rPr lang="zh-CN" altLang="en-US" dirty="0"/>
              <a:t>下一个空位置的指针</a:t>
            </a:r>
            <a:endParaRPr lang="en-US" altLang="zh-CN" dirty="0"/>
          </a:p>
          <a:p>
            <a:pPr marL="1600200" lvl="3">
              <a:buNone/>
            </a:pPr>
            <a:r>
              <a:rPr lang="en-US" altLang="zh-CN" dirty="0"/>
              <a:t>int out = 0; //</a:t>
            </a:r>
            <a:r>
              <a:rPr lang="zh-CN" altLang="en-US" dirty="0"/>
              <a:t>下一个满位置的指针</a:t>
            </a:r>
            <a:endParaRPr lang="en-US" altLang="zh-CN" dirty="0"/>
          </a:p>
          <a:p>
            <a:pPr marL="1600200" lvl="3">
              <a:buNone/>
            </a:pPr>
            <a:endParaRPr lang="zh-CN" altLang="en-US"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p:cNvSpPr>
          <p:nvPr>
            <p:ph type="title"/>
          </p:nvPr>
        </p:nvSpPr>
        <p:spPr>
          <a:ln/>
        </p:spPr>
        <p:txBody>
          <a:bodyPr vert="horz" wrap="square" lIns="91440" tIns="45720" rIns="91440" bIns="45720" anchor="b" anchorCtr="0"/>
          <a:lstStyle/>
          <a:p>
            <a:pPr eaLnBrk="1" hangingPunct="1"/>
            <a:r>
              <a:rPr lang="en-US" altLang="zh-CN"/>
              <a:t>Bounded-Buffer – Producer</a:t>
            </a:r>
          </a:p>
        </p:txBody>
      </p:sp>
      <p:sp>
        <p:nvSpPr>
          <p:cNvPr id="143362" name="Rectangle 3"/>
          <p:cNvSpPr>
            <a:spLocks noGrp="1"/>
          </p:cNvSpPr>
          <p:nvPr>
            <p:ph idx="1"/>
          </p:nvPr>
        </p:nvSpPr>
        <p:spPr>
          <a:xfrm>
            <a:off x="842963" y="1428750"/>
            <a:ext cx="7351712" cy="4483100"/>
          </a:xfrm>
          <a:ln/>
        </p:spPr>
        <p:txBody>
          <a:bodyPr vert="horz" wrap="square" lIns="91440" tIns="45720" rIns="91440" bIns="45720" anchor="t" anchorCtr="0"/>
          <a:lstStyle/>
          <a:p>
            <a:pPr>
              <a:buNone/>
            </a:pPr>
            <a:endParaRPr lang="zh-CN" altLang="en-US" sz="2000" dirty="0">
              <a:latin typeface="等线" panose="02010600030101010101" pitchFamily="2" charset="-122"/>
              <a:ea typeface="等线" panose="02010600030101010101" pitchFamily="2" charset="-122"/>
            </a:endParaRPr>
          </a:p>
          <a:p>
            <a:pPr>
              <a:buNone/>
            </a:pPr>
            <a:r>
              <a:rPr lang="zh-CN" altLang="en-US" sz="2000" dirty="0">
                <a:latin typeface="等线" panose="02010600030101010101" pitchFamily="2" charset="-122"/>
                <a:ea typeface="等线" panose="02010600030101010101" pitchFamily="2" charset="-122"/>
              </a:rPr>
              <a:t>	</a:t>
            </a:r>
            <a:r>
              <a:rPr lang="en-US" altLang="zh-CN" sz="2000" dirty="0">
                <a:latin typeface="等线" panose="02010600030101010101" pitchFamily="2" charset="-122"/>
                <a:ea typeface="等线" panose="02010600030101010101" pitchFamily="2" charset="-122"/>
              </a:rPr>
              <a:t>while (true) {</a:t>
            </a:r>
            <a:br>
              <a:rPr lang="en-US" altLang="zh-CN" sz="2000" dirty="0">
                <a:latin typeface="等线" panose="02010600030101010101" pitchFamily="2" charset="-122"/>
                <a:ea typeface="等线" panose="02010600030101010101" pitchFamily="2" charset="-122"/>
              </a:rPr>
            </a:br>
            <a:r>
              <a:rPr lang="en-US" altLang="zh-CN" sz="2000" dirty="0">
                <a:latin typeface="等线" panose="02010600030101010101" pitchFamily="2" charset="-122"/>
                <a:ea typeface="等线" panose="02010600030101010101" pitchFamily="2" charset="-122"/>
              </a:rPr>
              <a:t>   /* Produce an item */</a:t>
            </a:r>
          </a:p>
          <a:p>
            <a:pPr>
              <a:buNone/>
            </a:pPr>
            <a:r>
              <a:rPr lang="en-US" altLang="zh-CN" sz="2000" dirty="0">
                <a:latin typeface="等线" panose="02010600030101010101" pitchFamily="2" charset="-122"/>
                <a:ea typeface="等线" panose="02010600030101010101" pitchFamily="2" charset="-122"/>
              </a:rPr>
              <a:t>        while (</a:t>
            </a:r>
            <a:r>
              <a:rPr lang="en-US" altLang="zh-CN" sz="2000" dirty="0">
                <a:solidFill>
                  <a:srgbClr val="FF0000"/>
                </a:solidFill>
                <a:latin typeface="等线" panose="02010600030101010101" pitchFamily="2" charset="-122"/>
                <a:ea typeface="等线" panose="02010600030101010101" pitchFamily="2" charset="-122"/>
              </a:rPr>
              <a:t>((in + 1) % BUFFER SIZE)  == out</a:t>
            </a:r>
            <a:r>
              <a:rPr lang="en-US" altLang="zh-CN" sz="2000" dirty="0">
                <a:latin typeface="等线" panose="02010600030101010101" pitchFamily="2" charset="-122"/>
                <a:ea typeface="等线" panose="02010600030101010101" pitchFamily="2" charset="-122"/>
              </a:rPr>
              <a:t>)</a:t>
            </a:r>
          </a:p>
          <a:p>
            <a:pPr>
              <a:buNone/>
            </a:pPr>
            <a:r>
              <a:rPr lang="en-US" altLang="zh-CN" sz="2000" dirty="0">
                <a:latin typeface="等线" panose="02010600030101010101" pitchFamily="2" charset="-122"/>
                <a:ea typeface="等线" panose="02010600030101010101" pitchFamily="2" charset="-122"/>
              </a:rPr>
              <a:t>	     ;   /* do nothing -- no free buffers */</a:t>
            </a:r>
          </a:p>
          <a:p>
            <a:pPr>
              <a:buNone/>
            </a:pPr>
            <a:r>
              <a:rPr lang="en-US" altLang="zh-CN" sz="2000" dirty="0">
                <a:latin typeface="等线" panose="02010600030101010101" pitchFamily="2" charset="-122"/>
                <a:ea typeface="等线" panose="02010600030101010101" pitchFamily="2" charset="-122"/>
              </a:rPr>
              <a:t>	    buffer[in] = item;</a:t>
            </a:r>
          </a:p>
          <a:p>
            <a:pPr>
              <a:buNone/>
            </a:pPr>
            <a:r>
              <a:rPr lang="en-US" altLang="zh-CN" sz="2000" dirty="0">
                <a:latin typeface="等线" panose="02010600030101010101" pitchFamily="2" charset="-122"/>
                <a:ea typeface="等线" panose="02010600030101010101" pitchFamily="2" charset="-122"/>
              </a:rPr>
              <a:t>	    in = (in + 1) % BUFFER SIZE;</a:t>
            </a:r>
          </a:p>
          <a:p>
            <a:pPr>
              <a:buNone/>
            </a:pPr>
            <a:r>
              <a:rPr lang="en-US" altLang="zh-CN" sz="2000" dirty="0">
                <a:latin typeface="等线" panose="02010600030101010101" pitchFamily="2" charset="-122"/>
                <a:ea typeface="等线" panose="02010600030101010101" pitchFamily="2" charset="-122"/>
              </a:rPr>
              <a:t>     }</a:t>
            </a:r>
          </a:p>
          <a:p>
            <a:pPr>
              <a:buNone/>
            </a:pPr>
            <a:endParaRPr lang="en-US" altLang="zh-CN" sz="2000" dirty="0">
              <a:latin typeface="Monaco" charset="0"/>
            </a:endParaRPr>
          </a:p>
          <a:p>
            <a:pPr>
              <a:buNone/>
            </a:pPr>
            <a:endParaRPr lang="en-US" altLang="zh-CN" sz="2000" dirty="0"/>
          </a:p>
          <a:p>
            <a:pPr>
              <a:buNone/>
            </a:pPr>
            <a:r>
              <a:rPr lang="en-US" altLang="zh-CN" sz="1600" dirty="0"/>
              <a:t>	</a:t>
            </a:r>
          </a:p>
          <a:p>
            <a:pPr lvl="4">
              <a:buNone/>
            </a:pPr>
            <a:endParaRPr lang="zh-CN" alt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p:cNvSpPr>
          <p:nvPr>
            <p:ph type="title"/>
          </p:nvPr>
        </p:nvSpPr>
        <p:spPr>
          <a:ln/>
        </p:spPr>
        <p:txBody>
          <a:bodyPr vert="horz" wrap="square" lIns="91440" tIns="45720" rIns="91440" bIns="45720" anchor="b" anchorCtr="0"/>
          <a:lstStyle/>
          <a:p>
            <a:pPr eaLnBrk="1" hangingPunct="1"/>
            <a:r>
              <a:rPr lang="en-US" altLang="zh-CN"/>
              <a:t>Bounded Buffer – Consumer</a:t>
            </a:r>
          </a:p>
        </p:txBody>
      </p:sp>
      <p:sp>
        <p:nvSpPr>
          <p:cNvPr id="145410" name="Rectangle 3"/>
          <p:cNvSpPr>
            <a:spLocks noGrp="1"/>
          </p:cNvSpPr>
          <p:nvPr>
            <p:ph idx="1"/>
          </p:nvPr>
        </p:nvSpPr>
        <p:spPr>
          <a:xfrm>
            <a:off x="1809750" y="1500188"/>
            <a:ext cx="6157913" cy="4411662"/>
          </a:xfrm>
          <a:ln/>
        </p:spPr>
        <p:txBody>
          <a:bodyPr vert="horz" wrap="square" lIns="91440" tIns="45720" rIns="91440" bIns="45720" anchor="t" anchorCtr="0"/>
          <a:lstStyle/>
          <a:p>
            <a:pPr>
              <a:lnSpc>
                <a:spcPct val="90000"/>
              </a:lnSpc>
              <a:buNone/>
            </a:pPr>
            <a:r>
              <a:rPr lang="zh-CN" altLang="en-US" sz="1800" dirty="0">
                <a:latin typeface="等线" panose="02010600030101010101" pitchFamily="2" charset="-122"/>
                <a:ea typeface="等线" panose="02010600030101010101" pitchFamily="2" charset="-122"/>
              </a:rPr>
              <a:t>	</a:t>
            </a:r>
            <a:r>
              <a:rPr lang="en-US" altLang="zh-CN" sz="2400" dirty="0">
                <a:latin typeface="等线" panose="02010600030101010101" pitchFamily="2" charset="-122"/>
                <a:ea typeface="等线" panose="02010600030101010101" pitchFamily="2" charset="-122"/>
              </a:rPr>
              <a:t>while (true) {</a:t>
            </a:r>
          </a:p>
          <a:p>
            <a:pPr>
              <a:lnSpc>
                <a:spcPct val="90000"/>
              </a:lnSpc>
              <a:buNone/>
            </a:pPr>
            <a:r>
              <a:rPr lang="en-US" altLang="zh-CN" sz="2400" dirty="0">
                <a:latin typeface="等线" panose="02010600030101010101" pitchFamily="2" charset="-122"/>
                <a:ea typeface="等线" panose="02010600030101010101" pitchFamily="2" charset="-122"/>
              </a:rPr>
              <a:t>          while (</a:t>
            </a:r>
            <a:r>
              <a:rPr lang="en-US" altLang="zh-CN" sz="2400" dirty="0">
                <a:solidFill>
                  <a:srgbClr val="FF0000"/>
                </a:solidFill>
                <a:latin typeface="等线" panose="02010600030101010101" pitchFamily="2" charset="-122"/>
                <a:ea typeface="等线" panose="02010600030101010101" pitchFamily="2" charset="-122"/>
              </a:rPr>
              <a:t>in == out</a:t>
            </a:r>
            <a:r>
              <a:rPr lang="en-US" altLang="zh-CN" sz="2400" dirty="0">
                <a:latin typeface="等线" panose="02010600030101010101" pitchFamily="2" charset="-122"/>
                <a:ea typeface="等线" panose="02010600030101010101" pitchFamily="2" charset="-122"/>
              </a:rPr>
              <a:t>)</a:t>
            </a:r>
          </a:p>
          <a:p>
            <a:pPr>
              <a:lnSpc>
                <a:spcPct val="90000"/>
              </a:lnSpc>
              <a:buNone/>
            </a:pPr>
            <a:r>
              <a:rPr lang="en-US" altLang="zh-CN" sz="2400" dirty="0">
                <a:latin typeface="等线" panose="02010600030101010101" pitchFamily="2" charset="-122"/>
                <a:ea typeface="等线" panose="02010600030101010101" pitchFamily="2" charset="-122"/>
              </a:rPr>
              <a:t>                 ; // do nothing -- nothing to consume</a:t>
            </a:r>
          </a:p>
          <a:p>
            <a:pPr>
              <a:lnSpc>
                <a:spcPct val="90000"/>
              </a:lnSpc>
              <a:buNone/>
            </a:pPr>
            <a:endParaRPr lang="en-US" altLang="zh-CN" sz="2400" dirty="0">
              <a:latin typeface="等线" panose="02010600030101010101" pitchFamily="2" charset="-122"/>
              <a:ea typeface="等线" panose="02010600030101010101" pitchFamily="2" charset="-122"/>
            </a:endParaRPr>
          </a:p>
          <a:p>
            <a:pPr>
              <a:lnSpc>
                <a:spcPct val="90000"/>
              </a:lnSpc>
              <a:buNone/>
            </a:pPr>
            <a:r>
              <a:rPr lang="en-US" altLang="zh-CN" sz="2400" dirty="0">
                <a:latin typeface="等线" panose="02010600030101010101" pitchFamily="2" charset="-122"/>
                <a:ea typeface="等线" panose="02010600030101010101" pitchFamily="2" charset="-122"/>
              </a:rPr>
              <a:t>	     // remove an item from the buffer</a:t>
            </a:r>
          </a:p>
          <a:p>
            <a:pPr>
              <a:lnSpc>
                <a:spcPct val="90000"/>
              </a:lnSpc>
              <a:buNone/>
            </a:pPr>
            <a:r>
              <a:rPr lang="en-US" altLang="zh-CN" sz="2400" dirty="0">
                <a:latin typeface="等线" panose="02010600030101010101" pitchFamily="2" charset="-122"/>
                <a:ea typeface="等线" panose="02010600030101010101" pitchFamily="2" charset="-122"/>
              </a:rPr>
              <a:t>	     item = buffer[out];</a:t>
            </a:r>
          </a:p>
          <a:p>
            <a:pPr>
              <a:lnSpc>
                <a:spcPct val="90000"/>
              </a:lnSpc>
              <a:buNone/>
            </a:pPr>
            <a:r>
              <a:rPr lang="en-US" altLang="zh-CN" sz="2400" dirty="0">
                <a:latin typeface="等线" panose="02010600030101010101" pitchFamily="2" charset="-122"/>
                <a:ea typeface="等线" panose="02010600030101010101" pitchFamily="2" charset="-122"/>
              </a:rPr>
              <a:t>	     out = (out + 1) % BUFFER SIZE;</a:t>
            </a:r>
          </a:p>
          <a:p>
            <a:pPr>
              <a:lnSpc>
                <a:spcPct val="90000"/>
              </a:lnSpc>
              <a:buNone/>
            </a:pPr>
            <a:r>
              <a:rPr lang="en-US" altLang="zh-CN" sz="2400" dirty="0">
                <a:latin typeface="等线" panose="02010600030101010101" pitchFamily="2" charset="-122"/>
                <a:ea typeface="等线" panose="02010600030101010101" pitchFamily="2" charset="-122"/>
              </a:rPr>
              <a:t>	return item;</a:t>
            </a:r>
          </a:p>
          <a:p>
            <a:pPr>
              <a:lnSpc>
                <a:spcPct val="90000"/>
              </a:lnSpc>
              <a:buNone/>
            </a:pPr>
            <a:r>
              <a:rPr lang="en-US" altLang="zh-CN" sz="2400" i="1" dirty="0">
                <a:latin typeface="等线" panose="02010600030101010101" pitchFamily="2" charset="-122"/>
                <a:ea typeface="等线" panose="02010600030101010101" pitchFamily="2" charset="-122"/>
              </a:rPr>
              <a:t>     </a:t>
            </a:r>
            <a:r>
              <a:rPr lang="en-US" altLang="zh-CN" sz="2400" dirty="0">
                <a:latin typeface="等线" panose="02010600030101010101" pitchFamily="2" charset="-122"/>
                <a:ea typeface="等线" panose="02010600030101010101" pitchFamily="2" charset="-122"/>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p:cNvSpPr>
            <a:spLocks noGrp="1"/>
          </p:cNvSpPr>
          <p:nvPr>
            <p:ph type="title"/>
          </p:nvPr>
        </p:nvSpPr>
        <p:spPr>
          <a:xfrm>
            <a:off x="842963" y="277813"/>
            <a:ext cx="8229600" cy="576262"/>
          </a:xfrm>
          <a:ln/>
        </p:spPr>
        <p:txBody>
          <a:bodyPr vert="horz" wrap="square" lIns="91440" tIns="45720" rIns="91440" bIns="45720" anchor="b" anchorCtr="0"/>
          <a:lstStyle/>
          <a:p>
            <a:pPr eaLnBrk="1" hangingPunct="1"/>
            <a:r>
              <a:rPr lang="en-US" altLang="zh-CN" sz="2400" dirty="0" err="1"/>
              <a:t>Interprocess</a:t>
            </a:r>
            <a:r>
              <a:rPr lang="en-US" altLang="zh-CN" sz="2400" dirty="0"/>
              <a:t> Communication – Message Passing</a:t>
            </a:r>
          </a:p>
        </p:txBody>
      </p:sp>
      <p:sp>
        <p:nvSpPr>
          <p:cNvPr id="147458" name="Rectangle 3"/>
          <p:cNvSpPr>
            <a:spLocks noGrp="1"/>
          </p:cNvSpPr>
          <p:nvPr>
            <p:ph idx="1"/>
          </p:nvPr>
        </p:nvSpPr>
        <p:spPr>
          <a:ln/>
        </p:spPr>
        <p:txBody>
          <a:bodyPr vert="horz" wrap="square" lIns="91440" tIns="45720" rIns="91440" bIns="45720" anchor="t" anchorCtr="0"/>
          <a:lstStyle/>
          <a:p>
            <a:pPr>
              <a:lnSpc>
                <a:spcPct val="90000"/>
              </a:lnSpc>
            </a:pPr>
            <a:r>
              <a:rPr lang="en-US" altLang="zh-CN" sz="2400" dirty="0"/>
              <a:t>Mechanism for processes to communicate and to synchronize their actions</a:t>
            </a:r>
          </a:p>
          <a:p>
            <a:pPr>
              <a:lnSpc>
                <a:spcPct val="90000"/>
              </a:lnSpc>
            </a:pPr>
            <a:r>
              <a:rPr lang="en-US" altLang="zh-CN" sz="2400" dirty="0"/>
              <a:t>Message system – processes communicate with each other without resorting to shared variables</a:t>
            </a:r>
          </a:p>
          <a:p>
            <a:pPr>
              <a:lnSpc>
                <a:spcPct val="90000"/>
              </a:lnSpc>
            </a:pPr>
            <a:r>
              <a:rPr lang="en-US" altLang="zh-CN" sz="2400" dirty="0"/>
              <a:t>IPC facility provides two operations:</a:t>
            </a:r>
          </a:p>
          <a:p>
            <a:pPr lvl="1">
              <a:lnSpc>
                <a:spcPct val="90000"/>
              </a:lnSpc>
            </a:pPr>
            <a:r>
              <a:rPr lang="en-US" altLang="zh-CN" sz="2400" b="1" dirty="0"/>
              <a:t>send</a:t>
            </a:r>
            <a:r>
              <a:rPr lang="en-US" altLang="zh-CN" sz="2400" dirty="0"/>
              <a:t>(</a:t>
            </a:r>
            <a:r>
              <a:rPr lang="en-US" altLang="zh-CN" sz="2400" i="1" dirty="0"/>
              <a:t>message</a:t>
            </a:r>
            <a:r>
              <a:rPr lang="en-US" altLang="zh-CN" sz="2400" dirty="0"/>
              <a:t>) – message size fixed or variable </a:t>
            </a:r>
          </a:p>
          <a:p>
            <a:pPr lvl="1">
              <a:lnSpc>
                <a:spcPct val="90000"/>
              </a:lnSpc>
            </a:pPr>
            <a:r>
              <a:rPr lang="en-US" altLang="zh-CN" sz="2400" b="1" dirty="0"/>
              <a:t>receive</a:t>
            </a:r>
            <a:r>
              <a:rPr lang="en-US" altLang="zh-CN" sz="2400" dirty="0"/>
              <a:t>(</a:t>
            </a:r>
            <a:r>
              <a:rPr lang="en-US" altLang="zh-CN" sz="2400" i="1" dirty="0"/>
              <a:t>message</a:t>
            </a:r>
            <a:r>
              <a:rPr lang="en-US" altLang="zh-CN" sz="2400" dirty="0"/>
              <a:t>)</a:t>
            </a:r>
          </a:p>
          <a:p>
            <a:pPr>
              <a:lnSpc>
                <a:spcPct val="90000"/>
              </a:lnSpc>
            </a:pPr>
            <a:r>
              <a:rPr lang="en-US" altLang="zh-CN" sz="2400" dirty="0"/>
              <a:t>If </a:t>
            </a:r>
            <a:r>
              <a:rPr lang="en-US" altLang="zh-CN" sz="2400" i="1" dirty="0"/>
              <a:t>P</a:t>
            </a:r>
            <a:r>
              <a:rPr lang="en-US" altLang="zh-CN" sz="2400" dirty="0"/>
              <a:t> and </a:t>
            </a:r>
            <a:r>
              <a:rPr lang="en-US" altLang="zh-CN" sz="2400" i="1" dirty="0"/>
              <a:t>Q</a:t>
            </a:r>
            <a:r>
              <a:rPr lang="en-US" altLang="zh-CN" sz="2400" dirty="0"/>
              <a:t> wish to communicate, they need to:</a:t>
            </a:r>
          </a:p>
          <a:p>
            <a:pPr lvl="1">
              <a:lnSpc>
                <a:spcPct val="90000"/>
              </a:lnSpc>
            </a:pPr>
            <a:r>
              <a:rPr lang="en-US" altLang="zh-CN" sz="2400" dirty="0"/>
              <a:t>establish a </a:t>
            </a:r>
            <a:r>
              <a:rPr lang="en-US" altLang="zh-CN" sz="2400" i="1" dirty="0"/>
              <a:t>communication</a:t>
            </a:r>
            <a:r>
              <a:rPr lang="en-US" altLang="zh-CN" sz="2400" dirty="0"/>
              <a:t> </a:t>
            </a:r>
            <a:r>
              <a:rPr lang="en-US" altLang="zh-CN" sz="2400" i="1" dirty="0"/>
              <a:t>link</a:t>
            </a:r>
            <a:r>
              <a:rPr lang="en-US" altLang="zh-CN" sz="2400" dirty="0"/>
              <a:t> between them</a:t>
            </a:r>
          </a:p>
          <a:p>
            <a:pPr lvl="1">
              <a:lnSpc>
                <a:spcPct val="90000"/>
              </a:lnSpc>
            </a:pPr>
            <a:r>
              <a:rPr lang="en-US" altLang="zh-CN" sz="2400" dirty="0"/>
              <a:t>exchange messages via send/receive</a:t>
            </a:r>
          </a:p>
          <a:p>
            <a:pPr>
              <a:lnSpc>
                <a:spcPct val="90000"/>
              </a:lnSpc>
            </a:pPr>
            <a:endParaRPr lang="en-US" altLang="zh-CN"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p:cNvSpPr>
          <p:nvPr>
            <p:ph type="title"/>
          </p:nvPr>
        </p:nvSpPr>
        <p:spPr>
          <a:ln/>
        </p:spPr>
        <p:txBody>
          <a:bodyPr vert="horz" wrap="square" lIns="91440" tIns="45720" rIns="91440" bIns="45720" anchor="b" anchorCtr="0"/>
          <a:lstStyle/>
          <a:p>
            <a:pPr eaLnBrk="1" hangingPunct="1"/>
            <a:r>
              <a:rPr lang="en-US" altLang="zh-CN" dirty="0"/>
              <a:t>Implementation Questions</a:t>
            </a:r>
          </a:p>
        </p:txBody>
      </p:sp>
      <p:sp>
        <p:nvSpPr>
          <p:cNvPr id="149506" name="Rectangle 3"/>
          <p:cNvSpPr>
            <a:spLocks noGrp="1"/>
          </p:cNvSpPr>
          <p:nvPr>
            <p:ph idx="1"/>
          </p:nvPr>
        </p:nvSpPr>
        <p:spPr>
          <a:ln/>
        </p:spPr>
        <p:txBody>
          <a:bodyPr vert="horz" wrap="square" lIns="91440" tIns="45720" rIns="91440" bIns="45720" anchor="t" anchorCtr="0"/>
          <a:lstStyle/>
          <a:p>
            <a:r>
              <a:rPr lang="en-US" altLang="zh-CN" sz="2400" dirty="0"/>
              <a:t>How are links established?</a:t>
            </a:r>
          </a:p>
          <a:p>
            <a:r>
              <a:rPr lang="en-US" altLang="zh-CN" sz="2400" dirty="0"/>
              <a:t>Can a link be associated with more than two processes?</a:t>
            </a:r>
          </a:p>
          <a:p>
            <a:r>
              <a:rPr lang="en-US" altLang="zh-CN" sz="2400" dirty="0"/>
              <a:t>How many links can there be between every pair of communicating processes?</a:t>
            </a:r>
          </a:p>
          <a:p>
            <a:r>
              <a:rPr lang="en-US" altLang="zh-CN" sz="2400" dirty="0"/>
              <a:t>What is the capacity of a link?</a:t>
            </a:r>
          </a:p>
          <a:p>
            <a:r>
              <a:rPr lang="en-US" altLang="zh-CN" sz="2400" dirty="0"/>
              <a:t>Is the size of a message that the link can accommodate fixed or variable?</a:t>
            </a:r>
          </a:p>
          <a:p>
            <a:r>
              <a:rPr lang="en-US" altLang="zh-CN" sz="2400" dirty="0"/>
              <a:t>Is a link unidirectional or bi-directional?</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p:cNvSpPr>
          <p:nvPr>
            <p:ph type="title"/>
          </p:nvPr>
        </p:nvSpPr>
        <p:spPr>
          <a:ln/>
        </p:spPr>
        <p:txBody>
          <a:bodyPr vert="horz" wrap="square" lIns="91440" tIns="45720" rIns="91440" bIns="45720" anchor="b" anchorCtr="0"/>
          <a:lstStyle/>
          <a:p>
            <a:pPr eaLnBrk="1" hangingPunct="1"/>
            <a:endParaRPr lang="zh-CN" altLang="en-US" dirty="0"/>
          </a:p>
        </p:txBody>
      </p:sp>
      <p:sp>
        <p:nvSpPr>
          <p:cNvPr id="151554" name="Rectangle 3"/>
          <p:cNvSpPr>
            <a:spLocks noGrp="1"/>
          </p:cNvSpPr>
          <p:nvPr>
            <p:ph type="body"/>
          </p:nvPr>
        </p:nvSpPr>
        <p:spPr>
          <a:xfrm>
            <a:off x="723900" y="1587500"/>
            <a:ext cx="7696200" cy="4102100"/>
          </a:xfrm>
          <a:ln/>
        </p:spPr>
        <p:txBody>
          <a:bodyPr vert="horz" wrap="square" lIns="91440" tIns="45720" rIns="91440" bIns="45720" anchor="t" anchorCtr="0"/>
          <a:lstStyle/>
          <a:p>
            <a:pPr eaLnBrk="1" hangingPunct="1"/>
            <a:r>
              <a:rPr lang="en-US" altLang="zh-CN" sz="2800"/>
              <a:t>Direct Communication</a:t>
            </a:r>
          </a:p>
          <a:p>
            <a:pPr eaLnBrk="1" hangingPunct="1"/>
            <a:r>
              <a:rPr lang="en-US" altLang="zh-CN" sz="2800"/>
              <a:t>Indirect Communication</a:t>
            </a:r>
            <a:endParaRPr lang="zh-CN" altLang="en-US" sz="2800"/>
          </a:p>
        </p:txBody>
      </p:sp>
      <p:sp>
        <p:nvSpPr>
          <p:cNvPr id="4" name="Rectangle 2">
            <a:extLst>
              <a:ext uri="{FF2B5EF4-FFF2-40B4-BE49-F238E27FC236}">
                <a16:creationId xmlns:a16="http://schemas.microsoft.com/office/drawing/2014/main" id="{EE95B147-B92A-46DC-BF30-7381905129F9}"/>
              </a:ext>
            </a:extLst>
          </p:cNvPr>
          <p:cNvSpPr txBox="1">
            <a:spLocks/>
          </p:cNvSpPr>
          <p:nvPr/>
        </p:nvSpPr>
        <p:spPr>
          <a:xfrm>
            <a:off x="842963" y="277813"/>
            <a:ext cx="8229600" cy="576262"/>
          </a:xfrm>
          <a:prstGeom prst="rect">
            <a:avLst/>
          </a:prstGeom>
          <a:ln/>
        </p:spPr>
        <p:txBody>
          <a:bodyPr vert="horz" wrap="square" lIns="91440" tIns="45720" rIns="91440" bIns="45720" anchor="b" anchorCtr="0"/>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r>
              <a:rPr lang="en-US" altLang="zh-CN" sz="2400" kern="0"/>
              <a:t>Interprocess Communication – Message Passing</a:t>
            </a:r>
            <a:endParaRPr lang="en-US" altLang="zh-CN" sz="2400" kern="0"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p:cNvSpPr>
            <a:spLocks noGrp="1"/>
          </p:cNvSpPr>
          <p:nvPr>
            <p:ph type="title"/>
          </p:nvPr>
        </p:nvSpPr>
        <p:spPr>
          <a:ln/>
        </p:spPr>
        <p:txBody>
          <a:bodyPr vert="horz" wrap="square" lIns="91440" tIns="45720" rIns="91440" bIns="45720" anchor="b" anchorCtr="0"/>
          <a:lstStyle/>
          <a:p>
            <a:pPr eaLnBrk="1" hangingPunct="1"/>
            <a:r>
              <a:rPr lang="en-US" altLang="zh-CN"/>
              <a:t>Direct Communication</a:t>
            </a:r>
          </a:p>
        </p:txBody>
      </p:sp>
      <p:sp>
        <p:nvSpPr>
          <p:cNvPr id="152578" name="Rectangle 3"/>
          <p:cNvSpPr>
            <a:spLocks noGrp="1"/>
          </p:cNvSpPr>
          <p:nvPr>
            <p:ph idx="1"/>
          </p:nvPr>
        </p:nvSpPr>
        <p:spPr>
          <a:xfrm>
            <a:off x="806450" y="1233488"/>
            <a:ext cx="8229600" cy="5030152"/>
          </a:xfrm>
          <a:ln/>
        </p:spPr>
        <p:txBody>
          <a:bodyPr vert="horz" wrap="square" lIns="91440" tIns="45720" rIns="91440" bIns="45720" anchor="t" anchorCtr="0"/>
          <a:lstStyle/>
          <a:p>
            <a:r>
              <a:rPr lang="en-US" altLang="zh-CN" sz="2400" dirty="0"/>
              <a:t>Processes must name each other explicitly:</a:t>
            </a:r>
          </a:p>
          <a:p>
            <a:pPr lvl="1"/>
            <a:r>
              <a:rPr lang="en-US" altLang="zh-CN" sz="2400" b="1" dirty="0"/>
              <a:t>send</a:t>
            </a:r>
            <a:r>
              <a:rPr lang="en-US" altLang="zh-CN" sz="2400" dirty="0"/>
              <a:t> (</a:t>
            </a:r>
            <a:r>
              <a:rPr lang="en-US" altLang="zh-CN" sz="2400" i="1" dirty="0"/>
              <a:t>P, message</a:t>
            </a:r>
            <a:r>
              <a:rPr lang="en-US" altLang="zh-CN" sz="2400" dirty="0"/>
              <a:t>) – send a message to process P</a:t>
            </a:r>
          </a:p>
          <a:p>
            <a:pPr lvl="1"/>
            <a:r>
              <a:rPr lang="en-US" altLang="zh-CN" sz="2400" b="1" dirty="0"/>
              <a:t>receive</a:t>
            </a:r>
            <a:r>
              <a:rPr lang="en-US" altLang="zh-CN" sz="2400" dirty="0"/>
              <a:t>(</a:t>
            </a:r>
            <a:r>
              <a:rPr lang="en-US" altLang="zh-CN" sz="2400" i="1" dirty="0"/>
              <a:t>Q, message</a:t>
            </a:r>
            <a:r>
              <a:rPr lang="en-US" altLang="zh-CN" sz="2400" dirty="0"/>
              <a:t>) – receive a message from process Q</a:t>
            </a:r>
          </a:p>
          <a:p>
            <a:r>
              <a:rPr lang="en-US" altLang="zh-CN" sz="2400" dirty="0"/>
              <a:t>Properties of communication link</a:t>
            </a:r>
          </a:p>
          <a:p>
            <a:pPr lvl="1"/>
            <a:r>
              <a:rPr lang="en-US" altLang="zh-CN" sz="2400" dirty="0"/>
              <a:t>Links are established </a:t>
            </a:r>
            <a:r>
              <a:rPr lang="en-US" altLang="zh-CN" sz="2400" dirty="0">
                <a:solidFill>
                  <a:srgbClr val="FF0000"/>
                </a:solidFill>
              </a:rPr>
              <a:t>automatically</a:t>
            </a:r>
          </a:p>
          <a:p>
            <a:pPr lvl="1"/>
            <a:r>
              <a:rPr lang="en-US" altLang="zh-CN" sz="2400" dirty="0"/>
              <a:t>A link is associated with </a:t>
            </a:r>
            <a:r>
              <a:rPr lang="en-US" altLang="zh-CN" sz="2400" dirty="0">
                <a:solidFill>
                  <a:srgbClr val="FF0000"/>
                </a:solidFill>
              </a:rPr>
              <a:t>exactly one pair </a:t>
            </a:r>
            <a:r>
              <a:rPr lang="en-US" altLang="zh-CN" sz="2400" dirty="0"/>
              <a:t>of communicating processes</a:t>
            </a:r>
          </a:p>
          <a:p>
            <a:pPr lvl="1"/>
            <a:r>
              <a:rPr lang="en-US" altLang="zh-CN" sz="2400" dirty="0"/>
              <a:t>Between each pair there </a:t>
            </a:r>
            <a:r>
              <a:rPr lang="en-US" altLang="zh-CN" sz="2400" dirty="0">
                <a:solidFill>
                  <a:srgbClr val="FF0000"/>
                </a:solidFill>
              </a:rPr>
              <a:t>exists exactly one link</a:t>
            </a:r>
          </a:p>
          <a:p>
            <a:pPr lvl="1"/>
            <a:r>
              <a:rPr lang="en-US" altLang="zh-CN" sz="2400" dirty="0"/>
              <a:t>The link may be unidirectional, but is </a:t>
            </a:r>
            <a:r>
              <a:rPr lang="en-US" altLang="zh-CN" sz="2400" dirty="0">
                <a:solidFill>
                  <a:srgbClr val="FF0000"/>
                </a:solidFill>
              </a:rPr>
              <a:t>usually bi-directional</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p:cNvSpPr>
          <p:nvPr>
            <p:ph type="title"/>
          </p:nvPr>
        </p:nvSpPr>
        <p:spPr>
          <a:ln/>
        </p:spPr>
        <p:txBody>
          <a:bodyPr vert="horz" wrap="square" lIns="91440" tIns="45720" rIns="91440" bIns="45720" anchor="b" anchorCtr="0"/>
          <a:lstStyle/>
          <a:p>
            <a:pPr eaLnBrk="1" hangingPunct="1"/>
            <a:r>
              <a:rPr lang="en-US" altLang="zh-CN"/>
              <a:t>Indirect Communication</a:t>
            </a:r>
          </a:p>
        </p:txBody>
      </p:sp>
      <p:sp>
        <p:nvSpPr>
          <p:cNvPr id="154626" name="Rectangle 3"/>
          <p:cNvSpPr>
            <a:spLocks noGrp="1"/>
          </p:cNvSpPr>
          <p:nvPr>
            <p:ph idx="1"/>
          </p:nvPr>
        </p:nvSpPr>
        <p:spPr>
          <a:xfrm>
            <a:off x="806450" y="1246188"/>
            <a:ext cx="8077200" cy="4810125"/>
          </a:xfrm>
          <a:ln/>
        </p:spPr>
        <p:txBody>
          <a:bodyPr vert="horz" wrap="square" lIns="91440" tIns="45720" rIns="91440" bIns="45720" anchor="t" anchorCtr="0"/>
          <a:lstStyle/>
          <a:p>
            <a:r>
              <a:rPr lang="en-US" altLang="zh-CN" sz="2000" dirty="0"/>
              <a:t>Messages are directed and received from mailboxes (also referred to as ports)</a:t>
            </a:r>
          </a:p>
          <a:p>
            <a:pPr lvl="1"/>
            <a:r>
              <a:rPr lang="en-US" altLang="zh-CN" sz="2000" dirty="0"/>
              <a:t>Each </a:t>
            </a:r>
            <a:r>
              <a:rPr lang="en-US" altLang="zh-CN" sz="2000" dirty="0">
                <a:solidFill>
                  <a:srgbClr val="FF0000"/>
                </a:solidFill>
              </a:rPr>
              <a:t>mailbox</a:t>
            </a:r>
            <a:r>
              <a:rPr lang="en-US" altLang="zh-CN" sz="2000" dirty="0"/>
              <a:t> has a </a:t>
            </a:r>
            <a:r>
              <a:rPr lang="en-US" altLang="zh-CN" sz="2000" dirty="0">
                <a:solidFill>
                  <a:srgbClr val="FF0000"/>
                </a:solidFill>
              </a:rPr>
              <a:t>unique id</a:t>
            </a:r>
          </a:p>
          <a:p>
            <a:pPr lvl="1"/>
            <a:r>
              <a:rPr lang="en-US" altLang="zh-CN" sz="2000" dirty="0"/>
              <a:t>Processes can communicate only if they </a:t>
            </a:r>
            <a:r>
              <a:rPr lang="en-US" altLang="zh-CN" sz="2000" dirty="0">
                <a:solidFill>
                  <a:srgbClr val="FF0000"/>
                </a:solidFill>
              </a:rPr>
              <a:t>share a mailbox</a:t>
            </a:r>
          </a:p>
          <a:p>
            <a:r>
              <a:rPr lang="en-US" altLang="zh-CN" sz="2000" dirty="0"/>
              <a:t>Properties of communication link</a:t>
            </a:r>
          </a:p>
          <a:p>
            <a:pPr lvl="1"/>
            <a:r>
              <a:rPr lang="en-US" altLang="zh-CN" sz="2000" dirty="0"/>
              <a:t>Link established only if processes share a common mailbox</a:t>
            </a:r>
          </a:p>
          <a:p>
            <a:pPr lvl="1"/>
            <a:r>
              <a:rPr lang="en-US" altLang="zh-CN" sz="2000" dirty="0"/>
              <a:t>A link may be associated with </a:t>
            </a:r>
            <a:r>
              <a:rPr lang="en-US" altLang="zh-CN" sz="2000" dirty="0">
                <a:solidFill>
                  <a:srgbClr val="FF0000"/>
                </a:solidFill>
              </a:rPr>
              <a:t>many processes</a:t>
            </a:r>
          </a:p>
          <a:p>
            <a:pPr lvl="1"/>
            <a:r>
              <a:rPr lang="en-US" altLang="zh-CN" sz="2000" dirty="0"/>
              <a:t>Each pair of processes may </a:t>
            </a:r>
            <a:r>
              <a:rPr lang="en-US" altLang="zh-CN" sz="2000" dirty="0">
                <a:solidFill>
                  <a:srgbClr val="FF0000"/>
                </a:solidFill>
              </a:rPr>
              <a:t>share several communication links</a:t>
            </a:r>
          </a:p>
          <a:p>
            <a:pPr lvl="1"/>
            <a:r>
              <a:rPr lang="en-US" altLang="zh-CN" sz="2000" dirty="0"/>
              <a:t>Link may be unidirectional or bi-directional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a:spLocks noGrp="1"/>
          </p:cNvSpPr>
          <p:nvPr>
            <p:ph type="title"/>
          </p:nvPr>
        </p:nvSpPr>
        <p:spPr>
          <a:ln/>
        </p:spPr>
        <p:txBody>
          <a:bodyPr vert="horz" wrap="square" lIns="91440" tIns="45720" rIns="91440" bIns="45720" anchor="b" anchorCtr="0"/>
          <a:lstStyle/>
          <a:p>
            <a:pPr eaLnBrk="1" hangingPunct="1"/>
            <a:r>
              <a:rPr lang="en-US" altLang="zh-CN"/>
              <a:t>Indirect Communication</a:t>
            </a:r>
          </a:p>
        </p:txBody>
      </p:sp>
      <p:sp>
        <p:nvSpPr>
          <p:cNvPr id="156674" name="Rectangle 3"/>
          <p:cNvSpPr>
            <a:spLocks noGrp="1"/>
          </p:cNvSpPr>
          <p:nvPr>
            <p:ph idx="1"/>
          </p:nvPr>
        </p:nvSpPr>
        <p:spPr>
          <a:xfrm>
            <a:off x="806450" y="1246188"/>
            <a:ext cx="7580313" cy="3821112"/>
          </a:xfrm>
          <a:ln/>
        </p:spPr>
        <p:txBody>
          <a:bodyPr vert="horz" wrap="square" lIns="91440" tIns="45720" rIns="91440" bIns="45720" anchor="t" anchorCtr="0"/>
          <a:lstStyle/>
          <a:p>
            <a:r>
              <a:rPr lang="en-US" altLang="zh-CN" sz="2400"/>
              <a:t>Operations</a:t>
            </a:r>
          </a:p>
          <a:p>
            <a:pPr lvl="1"/>
            <a:r>
              <a:rPr lang="en-US" altLang="zh-CN" sz="2400"/>
              <a:t>create a new mailbox</a:t>
            </a:r>
          </a:p>
          <a:p>
            <a:pPr lvl="1"/>
            <a:r>
              <a:rPr lang="en-US" altLang="zh-CN" sz="2400"/>
              <a:t>send and receive messages through mailbox</a:t>
            </a:r>
          </a:p>
          <a:p>
            <a:pPr lvl="1"/>
            <a:r>
              <a:rPr lang="en-US" altLang="zh-CN" sz="2400"/>
              <a:t>destroy a mailbox</a:t>
            </a:r>
          </a:p>
          <a:p>
            <a:r>
              <a:rPr lang="en-US" altLang="zh-CN" sz="2400"/>
              <a:t>Primitives are defined as:</a:t>
            </a:r>
          </a:p>
          <a:p>
            <a:pPr>
              <a:buNone/>
            </a:pPr>
            <a:r>
              <a:rPr lang="en-US" altLang="zh-CN" sz="2400"/>
              <a:t>	</a:t>
            </a:r>
            <a:r>
              <a:rPr lang="en-US" altLang="zh-CN" sz="2400" b="1"/>
              <a:t>send</a:t>
            </a:r>
            <a:r>
              <a:rPr lang="en-US" altLang="zh-CN" sz="2400"/>
              <a:t>(</a:t>
            </a:r>
            <a:r>
              <a:rPr lang="en-US" altLang="zh-CN" sz="2400" i="1"/>
              <a:t>A, message</a:t>
            </a:r>
            <a:r>
              <a:rPr lang="en-US" altLang="zh-CN" sz="2400"/>
              <a:t>) – send a message to mailbox A</a:t>
            </a:r>
          </a:p>
          <a:p>
            <a:pPr>
              <a:buNone/>
            </a:pPr>
            <a:r>
              <a:rPr lang="en-US" altLang="zh-CN" sz="2400"/>
              <a:t>	</a:t>
            </a:r>
            <a:r>
              <a:rPr lang="en-US" altLang="zh-CN" sz="2400" b="1"/>
              <a:t>receive</a:t>
            </a:r>
            <a:r>
              <a:rPr lang="en-US" altLang="zh-CN" sz="2400"/>
              <a:t>(</a:t>
            </a:r>
            <a:r>
              <a:rPr lang="en-US" altLang="zh-CN" sz="2400" i="1"/>
              <a:t>A, message</a:t>
            </a:r>
            <a:r>
              <a:rPr lang="en-US" altLang="zh-CN" sz="2400"/>
              <a:t>) – receive a message from mailbox A</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p:cNvSpPr>
            <a:spLocks noGrp="1"/>
          </p:cNvSpPr>
          <p:nvPr>
            <p:ph type="title"/>
          </p:nvPr>
        </p:nvSpPr>
        <p:spPr>
          <a:ln/>
        </p:spPr>
        <p:txBody>
          <a:bodyPr vert="horz" wrap="square" lIns="91440" tIns="45720" rIns="91440" bIns="45720" anchor="b" anchorCtr="0"/>
          <a:lstStyle/>
          <a:p>
            <a:pPr eaLnBrk="1" hangingPunct="1"/>
            <a:r>
              <a:rPr lang="en-US" altLang="zh-CN"/>
              <a:t>Indirect Communication</a:t>
            </a:r>
          </a:p>
        </p:txBody>
      </p:sp>
      <p:sp>
        <p:nvSpPr>
          <p:cNvPr id="158722" name="Rectangle 3"/>
          <p:cNvSpPr>
            <a:spLocks noGrp="1"/>
          </p:cNvSpPr>
          <p:nvPr>
            <p:ph idx="1"/>
          </p:nvPr>
        </p:nvSpPr>
        <p:spPr>
          <a:ln/>
        </p:spPr>
        <p:txBody>
          <a:bodyPr vert="horz" wrap="square" lIns="91440" tIns="45720" rIns="91440" bIns="45720" anchor="t" anchorCtr="0"/>
          <a:lstStyle/>
          <a:p>
            <a:r>
              <a:rPr lang="en-US" altLang="zh-CN" sz="2400" dirty="0"/>
              <a:t>Mailbox sharing</a:t>
            </a:r>
          </a:p>
          <a:p>
            <a:pPr lvl="1"/>
            <a:r>
              <a:rPr lang="en-US" altLang="zh-CN" sz="2400" i="1" dirty="0"/>
              <a:t>P</a:t>
            </a:r>
            <a:r>
              <a:rPr lang="en-US" altLang="zh-CN" sz="2400" i="1" baseline="-25000" dirty="0"/>
              <a:t>1</a:t>
            </a:r>
            <a:r>
              <a:rPr lang="en-US" altLang="zh-CN" sz="2400" i="1" dirty="0"/>
              <a:t>, P</a:t>
            </a:r>
            <a:r>
              <a:rPr lang="en-US" altLang="zh-CN" sz="2400" i="1" baseline="-25000" dirty="0"/>
              <a:t>2</a:t>
            </a:r>
            <a:r>
              <a:rPr lang="en-US" altLang="zh-CN" sz="2400" i="1" dirty="0"/>
              <a:t>,</a:t>
            </a:r>
            <a:r>
              <a:rPr lang="en-US" altLang="zh-CN" sz="2400" dirty="0"/>
              <a:t> and</a:t>
            </a:r>
            <a:r>
              <a:rPr lang="en-US" altLang="zh-CN" sz="2400" i="1" dirty="0"/>
              <a:t> P</a:t>
            </a:r>
            <a:r>
              <a:rPr lang="en-US" altLang="zh-CN" sz="2400" i="1" baseline="-25000" dirty="0"/>
              <a:t>3</a:t>
            </a:r>
            <a:r>
              <a:rPr lang="en-US" altLang="zh-CN" sz="2400" dirty="0"/>
              <a:t> share mailbox A</a:t>
            </a:r>
          </a:p>
          <a:p>
            <a:pPr lvl="1"/>
            <a:r>
              <a:rPr lang="en-US" altLang="zh-CN" sz="2400" i="1" dirty="0"/>
              <a:t>P</a:t>
            </a:r>
            <a:r>
              <a:rPr lang="en-US" altLang="zh-CN" sz="2400" i="1" baseline="-25000" dirty="0"/>
              <a:t>1</a:t>
            </a:r>
            <a:r>
              <a:rPr lang="en-US" altLang="zh-CN" sz="2400" dirty="0"/>
              <a:t>, sends; </a:t>
            </a:r>
            <a:r>
              <a:rPr lang="en-US" altLang="zh-CN" sz="2400" i="1" dirty="0"/>
              <a:t>P</a:t>
            </a:r>
            <a:r>
              <a:rPr lang="en-US" altLang="zh-CN" sz="2400" i="1" baseline="-25000" dirty="0"/>
              <a:t>2</a:t>
            </a:r>
            <a:r>
              <a:rPr lang="en-US" altLang="zh-CN" sz="2400" i="1" dirty="0"/>
              <a:t> </a:t>
            </a:r>
            <a:r>
              <a:rPr lang="en-US" altLang="zh-CN" sz="2400" dirty="0"/>
              <a:t>and</a:t>
            </a:r>
            <a:r>
              <a:rPr lang="en-US" altLang="zh-CN" sz="2400" i="1" dirty="0"/>
              <a:t> P</a:t>
            </a:r>
            <a:r>
              <a:rPr lang="en-US" altLang="zh-CN" sz="2400" i="1" baseline="-25000" dirty="0"/>
              <a:t>3</a:t>
            </a:r>
            <a:r>
              <a:rPr lang="en-US" altLang="zh-CN" sz="2400" dirty="0"/>
              <a:t> receive</a:t>
            </a:r>
          </a:p>
          <a:p>
            <a:pPr lvl="1"/>
            <a:r>
              <a:rPr lang="en-US" altLang="zh-CN" sz="2400" dirty="0">
                <a:solidFill>
                  <a:srgbClr val="FF0000"/>
                </a:solidFill>
              </a:rPr>
              <a:t>Who gets the message</a:t>
            </a:r>
            <a:r>
              <a:rPr lang="en-US" altLang="zh-CN" sz="2400" dirty="0"/>
              <a:t>?</a:t>
            </a:r>
          </a:p>
          <a:p>
            <a:r>
              <a:rPr lang="en-US" altLang="zh-CN" sz="2400" dirty="0"/>
              <a:t>Solutions</a:t>
            </a:r>
          </a:p>
          <a:p>
            <a:pPr lvl="1"/>
            <a:r>
              <a:rPr lang="en-US" altLang="zh-CN" sz="2400" dirty="0"/>
              <a:t>Allow a link to be associated with at most </a:t>
            </a:r>
            <a:r>
              <a:rPr lang="en-US" altLang="zh-CN" sz="2400" dirty="0">
                <a:solidFill>
                  <a:srgbClr val="FF0000"/>
                </a:solidFill>
              </a:rPr>
              <a:t>two processes</a:t>
            </a:r>
          </a:p>
          <a:p>
            <a:pPr lvl="1"/>
            <a:r>
              <a:rPr lang="en-US" altLang="zh-CN" sz="2400" dirty="0"/>
              <a:t>Allow </a:t>
            </a:r>
            <a:r>
              <a:rPr lang="en-US" altLang="zh-CN" sz="2400" dirty="0">
                <a:solidFill>
                  <a:srgbClr val="FF0000"/>
                </a:solidFill>
              </a:rPr>
              <a:t>only one process at a time </a:t>
            </a:r>
            <a:r>
              <a:rPr lang="en-US" altLang="zh-CN" sz="2400" dirty="0"/>
              <a:t>to execute a receive operation</a:t>
            </a:r>
          </a:p>
          <a:p>
            <a:pPr lvl="1"/>
            <a:r>
              <a:rPr lang="en-US" altLang="zh-CN" sz="2400" dirty="0"/>
              <a:t>Allow the system </a:t>
            </a:r>
            <a:r>
              <a:rPr lang="en-US" altLang="zh-CN" sz="2400" dirty="0">
                <a:solidFill>
                  <a:srgbClr val="FF0000"/>
                </a:solidFill>
              </a:rPr>
              <a:t>to select arbitrarily the receiver</a:t>
            </a:r>
            <a:r>
              <a:rPr lang="en-US" altLang="zh-CN" sz="2400" dirty="0"/>
              <a:t>.  Sender is </a:t>
            </a:r>
            <a:r>
              <a:rPr lang="en-US" altLang="zh-CN" sz="2400" dirty="0">
                <a:solidFill>
                  <a:srgbClr val="FF0000"/>
                </a:solidFill>
              </a:rPr>
              <a:t>notified</a:t>
            </a:r>
            <a:r>
              <a:rPr lang="en-US" altLang="zh-CN" sz="2400" dirty="0"/>
              <a:t> who the receiver was.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7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872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872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87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D141AC-CCC0-4132-89C0-C2C61131A714}"/>
              </a:ext>
            </a:extLst>
          </p:cNvPr>
          <p:cNvSpPr>
            <a:spLocks noGrp="1"/>
          </p:cNvSpPr>
          <p:nvPr>
            <p:ph type="title"/>
          </p:nvPr>
        </p:nvSpPr>
        <p:spPr/>
        <p:txBody>
          <a:bodyPr/>
          <a:lstStyle/>
          <a:p>
            <a:r>
              <a:rPr lang="zh-CN" altLang="en-US" dirty="0"/>
              <a:t>直接通信与间接通信的区别</a:t>
            </a:r>
          </a:p>
        </p:txBody>
      </p:sp>
      <p:sp>
        <p:nvSpPr>
          <p:cNvPr id="3" name="内容占位符 2">
            <a:extLst>
              <a:ext uri="{FF2B5EF4-FFF2-40B4-BE49-F238E27FC236}">
                <a16:creationId xmlns:a16="http://schemas.microsoft.com/office/drawing/2014/main" id="{1433C729-7590-4B36-89E5-BF6A85EDF58C}"/>
              </a:ext>
            </a:extLst>
          </p:cNvPr>
          <p:cNvSpPr>
            <a:spLocks noGrp="1"/>
          </p:cNvSpPr>
          <p:nvPr>
            <p:ph idx="1"/>
          </p:nvPr>
        </p:nvSpPr>
        <p:spPr>
          <a:xfrm>
            <a:off x="280933" y="1163637"/>
            <a:ext cx="4438212" cy="4530725"/>
          </a:xfrm>
        </p:spPr>
        <p:txBody>
          <a:bodyPr/>
          <a:lstStyle/>
          <a:p>
            <a:r>
              <a:rPr lang="zh-CN" altLang="en-US" sz="2000" dirty="0"/>
              <a:t>直接通信：</a:t>
            </a:r>
            <a:endParaRPr lang="en-US" altLang="zh-CN" sz="2000" dirty="0"/>
          </a:p>
          <a:p>
            <a:pPr>
              <a:buFont typeface="Arial" panose="020B0604020202020204" pitchFamily="34" charset="0"/>
              <a:buChar char="•"/>
            </a:pPr>
            <a:r>
              <a:rPr lang="zh-CN" altLang="en-US" sz="2000" dirty="0"/>
              <a:t>✅ 通信链路自动建立</a:t>
            </a:r>
          </a:p>
          <a:p>
            <a:pPr>
              <a:buFont typeface="Arial" panose="020B0604020202020204" pitchFamily="34" charset="0"/>
              <a:buChar char="•"/>
            </a:pPr>
            <a:r>
              <a:rPr lang="zh-CN" altLang="en-US" sz="2000" dirty="0"/>
              <a:t>✅ 每对通信进程只有一个链路</a:t>
            </a:r>
          </a:p>
          <a:p>
            <a:pPr>
              <a:buFont typeface="Arial" panose="020B0604020202020204" pitchFamily="34" charset="0"/>
              <a:buChar char="•"/>
            </a:pPr>
            <a:r>
              <a:rPr lang="zh-CN" altLang="en-US" sz="2000" dirty="0"/>
              <a:t>✅ 简单直接</a:t>
            </a:r>
          </a:p>
          <a:p>
            <a:pPr>
              <a:buFont typeface="Arial" panose="020B0604020202020204" pitchFamily="34" charset="0"/>
              <a:buChar char="•"/>
            </a:pPr>
            <a:r>
              <a:rPr lang="zh-CN" altLang="en-US" sz="2000" dirty="0"/>
              <a:t>❌ 修改进程名需要修改所有通信代码</a:t>
            </a:r>
          </a:p>
          <a:p>
            <a:pPr>
              <a:buFont typeface="Arial" panose="020B0604020202020204" pitchFamily="34" charset="0"/>
              <a:buChar char="•"/>
            </a:pPr>
            <a:r>
              <a:rPr lang="zh-CN" altLang="en-US" sz="2000" dirty="0"/>
              <a:t>❌ 耦合度高</a:t>
            </a:r>
          </a:p>
          <a:p>
            <a:endParaRPr lang="zh-CN" altLang="en-US" dirty="0"/>
          </a:p>
        </p:txBody>
      </p:sp>
      <p:sp>
        <p:nvSpPr>
          <p:cNvPr id="4" name="内容占位符 2">
            <a:extLst>
              <a:ext uri="{FF2B5EF4-FFF2-40B4-BE49-F238E27FC236}">
                <a16:creationId xmlns:a16="http://schemas.microsoft.com/office/drawing/2014/main" id="{5D1B2D27-C351-451C-9F61-AEAAE0A61A24}"/>
              </a:ext>
            </a:extLst>
          </p:cNvPr>
          <p:cNvSpPr txBox="1">
            <a:spLocks/>
          </p:cNvSpPr>
          <p:nvPr/>
        </p:nvSpPr>
        <p:spPr>
          <a:xfrm>
            <a:off x="4858187" y="1163637"/>
            <a:ext cx="4285813" cy="4530725"/>
          </a:xfrm>
          <a:prstGeom prst="rect">
            <a:avLst/>
          </a:prstGeom>
          <a:noFill/>
          <a:ln w="9525">
            <a:noFill/>
          </a:ln>
        </p:spPr>
        <p:txBody>
          <a:bodyPr/>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r>
              <a:rPr lang="zh-CN" altLang="en-US" sz="2000" kern="0" dirty="0"/>
              <a:t>间接通信：</a:t>
            </a:r>
            <a:endParaRPr lang="en-US" altLang="zh-CN" sz="2000" kern="0" dirty="0"/>
          </a:p>
          <a:p>
            <a:pPr>
              <a:buFont typeface="Arial" panose="020B0604020202020204" pitchFamily="34" charset="0"/>
              <a:buChar char="•"/>
            </a:pPr>
            <a:r>
              <a:rPr lang="zh-CN" altLang="en-US" sz="2000" dirty="0"/>
              <a:t>✅ 多个进程可以共享同一个邮箱</a:t>
            </a:r>
          </a:p>
          <a:p>
            <a:pPr>
              <a:buFont typeface="Arial" panose="020B0604020202020204" pitchFamily="34" charset="0"/>
              <a:buChar char="•"/>
            </a:pPr>
            <a:r>
              <a:rPr lang="zh-CN" altLang="en-US" sz="2000" dirty="0"/>
              <a:t>✅ 发送者和接收者不需要知道对方身份</a:t>
            </a:r>
          </a:p>
          <a:p>
            <a:pPr>
              <a:buFont typeface="Arial" panose="020B0604020202020204" pitchFamily="34" charset="0"/>
              <a:buChar char="•"/>
            </a:pPr>
            <a:r>
              <a:rPr lang="zh-CN" altLang="en-US" sz="2000" dirty="0"/>
              <a:t>✅ 支持一对多、多对一、多对多通信</a:t>
            </a:r>
          </a:p>
          <a:p>
            <a:pPr>
              <a:buFont typeface="Arial" panose="020B0604020202020204" pitchFamily="34" charset="0"/>
              <a:buChar char="•"/>
            </a:pPr>
            <a:r>
              <a:rPr lang="zh-CN" altLang="en-US" sz="2000" dirty="0"/>
              <a:t>✅ 更容易实现进程解耦</a:t>
            </a:r>
          </a:p>
          <a:p>
            <a:pPr>
              <a:buFont typeface="Arial" panose="020B0604020202020204" pitchFamily="34" charset="0"/>
              <a:buChar char="•"/>
            </a:pPr>
            <a:r>
              <a:rPr lang="zh-CN" altLang="en-US" sz="2000" dirty="0"/>
              <a:t>❌ 需要额外的邮箱管理</a:t>
            </a:r>
          </a:p>
        </p:txBody>
      </p:sp>
    </p:spTree>
    <p:extLst>
      <p:ext uri="{BB962C8B-B14F-4D97-AF65-F5344CB8AC3E}">
        <p14:creationId xmlns:p14="http://schemas.microsoft.com/office/powerpoint/2010/main" val="31369535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p:cNvSpPr>
            <a:spLocks noGrp="1"/>
          </p:cNvSpPr>
          <p:nvPr>
            <p:ph type="title"/>
          </p:nvPr>
        </p:nvSpPr>
        <p:spPr>
          <a:xfrm>
            <a:off x="1182688" y="209550"/>
            <a:ext cx="8229600" cy="576263"/>
          </a:xfrm>
          <a:ln/>
        </p:spPr>
        <p:txBody>
          <a:bodyPr vert="horz" wrap="square" lIns="91440" tIns="45720" rIns="91440" bIns="45720" anchor="b" anchorCtr="0"/>
          <a:lstStyle/>
          <a:p>
            <a:pPr eaLnBrk="1" hangingPunct="1"/>
            <a:r>
              <a:rPr lang="en-US" altLang="zh-CN" sz="2800"/>
              <a:t>Message-passing----Synchronization</a:t>
            </a:r>
          </a:p>
        </p:txBody>
      </p:sp>
      <p:sp>
        <p:nvSpPr>
          <p:cNvPr id="160770" name="Rectangle 3"/>
          <p:cNvSpPr>
            <a:spLocks noGrp="1"/>
          </p:cNvSpPr>
          <p:nvPr>
            <p:ph idx="1"/>
          </p:nvPr>
        </p:nvSpPr>
        <p:spPr>
          <a:xfrm>
            <a:off x="806450" y="1233488"/>
            <a:ext cx="7469188" cy="4530725"/>
          </a:xfrm>
          <a:ln/>
        </p:spPr>
        <p:txBody>
          <a:bodyPr vert="horz" wrap="square" lIns="91440" tIns="45720" rIns="91440" bIns="45720" anchor="t" anchorCtr="0"/>
          <a:lstStyle/>
          <a:p>
            <a:pPr marL="381000" indent="-381000"/>
            <a:r>
              <a:rPr lang="en-US" altLang="zh-CN" sz="2000" dirty="0"/>
              <a:t>Message passing may be either blocking or non-blocking</a:t>
            </a:r>
          </a:p>
          <a:p>
            <a:pPr marL="381000" indent="-381000"/>
            <a:r>
              <a:rPr lang="en-US" altLang="zh-CN" sz="2000" b="1" dirty="0"/>
              <a:t>Blocking</a:t>
            </a:r>
            <a:r>
              <a:rPr lang="en-US" altLang="zh-CN" sz="2000" dirty="0"/>
              <a:t> is considered </a:t>
            </a:r>
            <a:r>
              <a:rPr lang="en-US" altLang="zh-CN" sz="2000" b="1" dirty="0"/>
              <a:t>synchronous</a:t>
            </a:r>
          </a:p>
          <a:p>
            <a:pPr marL="800100" lvl="1" indent="-342900"/>
            <a:r>
              <a:rPr lang="en-US" altLang="zh-CN" sz="2000" b="1" dirty="0"/>
              <a:t>Blocking send </a:t>
            </a:r>
            <a:r>
              <a:rPr lang="en-US" altLang="zh-CN" sz="2000" dirty="0"/>
              <a:t>has the sender block until the message is received</a:t>
            </a:r>
          </a:p>
          <a:p>
            <a:pPr marL="800100" lvl="1" indent="-342900"/>
            <a:r>
              <a:rPr lang="en-US" altLang="zh-CN" sz="2000" b="1" dirty="0"/>
              <a:t>Blocking receive </a:t>
            </a:r>
            <a:r>
              <a:rPr lang="en-US" altLang="zh-CN" sz="2000" dirty="0"/>
              <a:t>has the receiver block until a message is available</a:t>
            </a:r>
          </a:p>
          <a:p>
            <a:pPr marL="381000" indent="-381000"/>
            <a:r>
              <a:rPr lang="en-US" altLang="zh-CN" sz="2000" b="1" dirty="0"/>
              <a:t>Non-blocking</a:t>
            </a:r>
            <a:r>
              <a:rPr lang="en-US" altLang="zh-CN" sz="2000" dirty="0"/>
              <a:t> is considered </a:t>
            </a:r>
            <a:r>
              <a:rPr lang="en-US" altLang="zh-CN" sz="2000" b="1" dirty="0"/>
              <a:t>asynchronous</a:t>
            </a:r>
          </a:p>
          <a:p>
            <a:pPr marL="800100" lvl="1" indent="-342900"/>
            <a:r>
              <a:rPr lang="en-US" altLang="zh-CN" sz="2000" b="1" dirty="0"/>
              <a:t>Non-blocking </a:t>
            </a:r>
            <a:r>
              <a:rPr lang="en-US" altLang="zh-CN" sz="2000" dirty="0"/>
              <a:t>send has the sender send the message and continue</a:t>
            </a:r>
          </a:p>
          <a:p>
            <a:pPr marL="800100" lvl="1" indent="-342900"/>
            <a:r>
              <a:rPr lang="en-US" altLang="zh-CN" sz="2000" b="1" dirty="0"/>
              <a:t>Non-blocking </a:t>
            </a:r>
            <a:r>
              <a:rPr lang="en-US" altLang="zh-CN" sz="2000" dirty="0"/>
              <a:t>receive has the receiver receive a valid message or null</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a:spLocks noGrp="1"/>
          </p:cNvSpPr>
          <p:nvPr>
            <p:ph type="title"/>
          </p:nvPr>
        </p:nvSpPr>
        <p:spPr>
          <a:ln/>
        </p:spPr>
        <p:txBody>
          <a:bodyPr vert="horz" wrap="square" lIns="91440" tIns="45720" rIns="91440" bIns="45720" anchor="b" anchorCtr="0"/>
          <a:lstStyle/>
          <a:p>
            <a:pPr eaLnBrk="1" hangingPunct="1"/>
            <a:r>
              <a:rPr lang="en-US" altLang="zh-CN"/>
              <a:t>Buffering</a:t>
            </a:r>
          </a:p>
        </p:txBody>
      </p:sp>
      <p:sp>
        <p:nvSpPr>
          <p:cNvPr id="162818" name="Rectangle 3"/>
          <p:cNvSpPr>
            <a:spLocks noGrp="1"/>
          </p:cNvSpPr>
          <p:nvPr>
            <p:ph idx="1"/>
          </p:nvPr>
        </p:nvSpPr>
        <p:spPr>
          <a:xfrm>
            <a:off x="806450" y="1233488"/>
            <a:ext cx="7526338" cy="4530725"/>
          </a:xfrm>
          <a:ln/>
        </p:spPr>
        <p:txBody>
          <a:bodyPr vert="horz" wrap="square" lIns="91440" tIns="45720" rIns="91440" bIns="45720" anchor="t" anchorCtr="0"/>
          <a:lstStyle/>
          <a:p>
            <a:r>
              <a:rPr lang="en-US" altLang="zh-CN" sz="2400" dirty="0"/>
              <a:t>Queue of messages attached to the link; implemented in one of three ways</a:t>
            </a:r>
          </a:p>
          <a:p>
            <a:pPr lvl="1">
              <a:buNone/>
            </a:pPr>
            <a:r>
              <a:rPr lang="en-US" altLang="zh-CN" sz="2400" dirty="0">
                <a:solidFill>
                  <a:srgbClr val="CC6600"/>
                </a:solidFill>
              </a:rPr>
              <a:t>1.</a:t>
            </a:r>
            <a:r>
              <a:rPr lang="en-US" altLang="zh-CN" sz="2400" dirty="0"/>
              <a:t>	Zero capacity – 0 messages</a:t>
            </a:r>
            <a:br>
              <a:rPr lang="en-US" altLang="zh-CN" sz="2400" dirty="0"/>
            </a:br>
            <a:r>
              <a:rPr lang="en-US" altLang="zh-CN" sz="2400" dirty="0"/>
              <a:t>Sender must wait for receiver (rendezvous)</a:t>
            </a:r>
          </a:p>
          <a:p>
            <a:pPr lvl="1">
              <a:buNone/>
            </a:pPr>
            <a:r>
              <a:rPr lang="en-US" altLang="zh-CN" sz="2400" dirty="0">
                <a:solidFill>
                  <a:srgbClr val="CC6600"/>
                </a:solidFill>
              </a:rPr>
              <a:t>2.</a:t>
            </a:r>
            <a:r>
              <a:rPr lang="en-US" altLang="zh-CN" sz="2400" dirty="0"/>
              <a:t>	Bounded capacity – finite length of </a:t>
            </a:r>
            <a:r>
              <a:rPr lang="en-US" altLang="zh-CN" sz="2400" i="1" dirty="0"/>
              <a:t>n</a:t>
            </a:r>
            <a:r>
              <a:rPr lang="en-US" altLang="zh-CN" sz="2400" dirty="0"/>
              <a:t> messages</a:t>
            </a:r>
            <a:br>
              <a:rPr lang="en-US" altLang="zh-CN" sz="2400" dirty="0"/>
            </a:br>
            <a:r>
              <a:rPr lang="en-US" altLang="zh-CN" sz="2400" dirty="0"/>
              <a:t>Sender must wait if link full</a:t>
            </a:r>
          </a:p>
          <a:p>
            <a:pPr lvl="1">
              <a:buNone/>
            </a:pPr>
            <a:r>
              <a:rPr lang="en-US" altLang="zh-CN" sz="2400" dirty="0">
                <a:solidFill>
                  <a:srgbClr val="CC6600"/>
                </a:solidFill>
              </a:rPr>
              <a:t>3.</a:t>
            </a:r>
            <a:r>
              <a:rPr lang="en-US" altLang="zh-CN" sz="2400" dirty="0"/>
              <a:t>	Unbounded capacity – infinite length </a:t>
            </a:r>
            <a:br>
              <a:rPr lang="en-US" altLang="zh-CN" sz="2400" dirty="0"/>
            </a:br>
            <a:r>
              <a:rPr lang="en-US" altLang="zh-CN" sz="2400" dirty="0"/>
              <a:t>Sender never waits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
          <p:cNvSpPr>
            <a:spLocks noGrp="1"/>
          </p:cNvSpPr>
          <p:nvPr>
            <p:ph type="title"/>
          </p:nvPr>
        </p:nvSpPr>
        <p:spPr>
          <a:xfrm>
            <a:off x="942975" y="277813"/>
            <a:ext cx="8229600" cy="576262"/>
          </a:xfrm>
          <a:ln/>
        </p:spPr>
        <p:txBody>
          <a:bodyPr vert="horz" wrap="square" lIns="91440" tIns="45720" rIns="91440" bIns="45720" anchor="b" anchorCtr="0"/>
          <a:lstStyle/>
          <a:p>
            <a:r>
              <a:rPr lang="en-US" altLang="zh-CN"/>
              <a:t>Local Procedure Calls in Windows XP</a:t>
            </a:r>
          </a:p>
        </p:txBody>
      </p:sp>
      <p:pic>
        <p:nvPicPr>
          <p:cNvPr id="164866" name="Picture 4" descr="3"/>
          <p:cNvPicPr>
            <a:picLocks noChangeAspect="1"/>
          </p:cNvPicPr>
          <p:nvPr/>
        </p:nvPicPr>
        <p:blipFill>
          <a:blip r:embed="rId3"/>
          <a:stretch>
            <a:fillRect/>
          </a:stretch>
        </p:blipFill>
        <p:spPr>
          <a:xfrm>
            <a:off x="812800" y="1497013"/>
            <a:ext cx="7440613" cy="3830637"/>
          </a:xfrm>
          <a:prstGeom prst="rect">
            <a:avLst/>
          </a:prstGeom>
          <a:noFill/>
          <a:ln w="9525">
            <a:noFill/>
          </a:ln>
        </p:spPr>
      </p:pic>
      <p:sp>
        <p:nvSpPr>
          <p:cNvPr id="2" name="矩形 1">
            <a:extLst>
              <a:ext uri="{FF2B5EF4-FFF2-40B4-BE49-F238E27FC236}">
                <a16:creationId xmlns:a16="http://schemas.microsoft.com/office/drawing/2014/main" id="{91991F82-C9AC-481E-92A0-127D23864F9C}"/>
              </a:ext>
            </a:extLst>
          </p:cNvPr>
          <p:cNvSpPr/>
          <p:nvPr/>
        </p:nvSpPr>
        <p:spPr bwMode="auto">
          <a:xfrm>
            <a:off x="3476445" y="4364966"/>
            <a:ext cx="2070340" cy="1078302"/>
          </a:xfrm>
          <a:prstGeom prst="rect">
            <a:avLst/>
          </a:prstGeom>
          <a:noFill/>
          <a:ln w="28575"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矩形 4">
            <a:extLst>
              <a:ext uri="{FF2B5EF4-FFF2-40B4-BE49-F238E27FC236}">
                <a16:creationId xmlns:a16="http://schemas.microsoft.com/office/drawing/2014/main" id="{7BF9A2A7-C260-4E65-84E8-CD0DB278F564}"/>
              </a:ext>
            </a:extLst>
          </p:cNvPr>
          <p:cNvSpPr/>
          <p:nvPr/>
        </p:nvSpPr>
        <p:spPr bwMode="auto">
          <a:xfrm>
            <a:off x="3476445" y="1497012"/>
            <a:ext cx="2070340" cy="2752335"/>
          </a:xfrm>
          <a:prstGeom prst="rect">
            <a:avLst/>
          </a:prstGeom>
          <a:noFill/>
          <a:ln w="28575" cap="flat" cmpd="sng" algn="ctr">
            <a:solidFill>
              <a:srgbClr val="0070C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3" name="文本框 2">
            <a:extLst>
              <a:ext uri="{FF2B5EF4-FFF2-40B4-BE49-F238E27FC236}">
                <a16:creationId xmlns:a16="http://schemas.microsoft.com/office/drawing/2014/main" id="{0260D7BD-181F-477F-B5E8-8A1BB9795AA3}"/>
              </a:ext>
            </a:extLst>
          </p:cNvPr>
          <p:cNvSpPr txBox="1"/>
          <p:nvPr/>
        </p:nvSpPr>
        <p:spPr>
          <a:xfrm>
            <a:off x="3217654" y="5558887"/>
            <a:ext cx="1107996" cy="369332"/>
          </a:xfrm>
          <a:prstGeom prst="rect">
            <a:avLst/>
          </a:prstGeom>
          <a:noFill/>
        </p:spPr>
        <p:txBody>
          <a:bodyPr wrap="none" rtlCol="0">
            <a:spAutoFit/>
          </a:bodyPr>
          <a:lstStyle/>
          <a:p>
            <a:r>
              <a:rPr lang="zh-CN" altLang="en-US" dirty="0">
                <a:solidFill>
                  <a:srgbClr val="C00000"/>
                </a:solidFill>
              </a:rPr>
              <a:t>共享内存</a:t>
            </a:r>
          </a:p>
        </p:txBody>
      </p:sp>
      <p:sp>
        <p:nvSpPr>
          <p:cNvPr id="7" name="文本框 6">
            <a:extLst>
              <a:ext uri="{FF2B5EF4-FFF2-40B4-BE49-F238E27FC236}">
                <a16:creationId xmlns:a16="http://schemas.microsoft.com/office/drawing/2014/main" id="{8F7426C6-A5D2-4995-A20D-75111EB760D5}"/>
              </a:ext>
            </a:extLst>
          </p:cNvPr>
          <p:cNvSpPr txBox="1"/>
          <p:nvPr/>
        </p:nvSpPr>
        <p:spPr>
          <a:xfrm>
            <a:off x="3174522" y="1081109"/>
            <a:ext cx="1107996" cy="369332"/>
          </a:xfrm>
          <a:prstGeom prst="rect">
            <a:avLst/>
          </a:prstGeom>
          <a:noFill/>
        </p:spPr>
        <p:txBody>
          <a:bodyPr wrap="none" rtlCol="0">
            <a:spAutoFit/>
          </a:bodyPr>
          <a:lstStyle/>
          <a:p>
            <a:r>
              <a:rPr lang="zh-CN" altLang="en-US" dirty="0">
                <a:solidFill>
                  <a:srgbClr val="0070C0"/>
                </a:solidFill>
              </a:rPr>
              <a:t>消息传递</a:t>
            </a:r>
          </a:p>
        </p:txBody>
      </p:sp>
      <p:sp>
        <p:nvSpPr>
          <p:cNvPr id="8" name="文本框 7">
            <a:extLst>
              <a:ext uri="{FF2B5EF4-FFF2-40B4-BE49-F238E27FC236}">
                <a16:creationId xmlns:a16="http://schemas.microsoft.com/office/drawing/2014/main" id="{F43B4D06-57A9-4B74-B1BE-03CD12975EDF}"/>
              </a:ext>
            </a:extLst>
          </p:cNvPr>
          <p:cNvSpPr txBox="1"/>
          <p:nvPr/>
        </p:nvSpPr>
        <p:spPr>
          <a:xfrm>
            <a:off x="3657828" y="1556687"/>
            <a:ext cx="595035" cy="338554"/>
          </a:xfrm>
          <a:prstGeom prst="rect">
            <a:avLst/>
          </a:prstGeom>
          <a:noFill/>
        </p:spPr>
        <p:txBody>
          <a:bodyPr wrap="none" rtlCol="0">
            <a:spAutoFit/>
          </a:bodyPr>
          <a:lstStyle/>
          <a:p>
            <a:r>
              <a:rPr lang="zh-CN" altLang="en-US" sz="1600" dirty="0">
                <a:solidFill>
                  <a:srgbClr val="0070C0"/>
                </a:solidFill>
              </a:rPr>
              <a:t>直接</a:t>
            </a:r>
          </a:p>
        </p:txBody>
      </p:sp>
      <p:sp>
        <p:nvSpPr>
          <p:cNvPr id="9" name="文本框 8">
            <a:extLst>
              <a:ext uri="{FF2B5EF4-FFF2-40B4-BE49-F238E27FC236}">
                <a16:creationId xmlns:a16="http://schemas.microsoft.com/office/drawing/2014/main" id="{AEAF4063-1A94-4B9F-9C21-9DA27B593CF5}"/>
              </a:ext>
            </a:extLst>
          </p:cNvPr>
          <p:cNvSpPr txBox="1"/>
          <p:nvPr/>
        </p:nvSpPr>
        <p:spPr>
          <a:xfrm>
            <a:off x="3679319" y="3300498"/>
            <a:ext cx="646331" cy="338554"/>
          </a:xfrm>
          <a:prstGeom prst="rect">
            <a:avLst/>
          </a:prstGeom>
          <a:noFill/>
        </p:spPr>
        <p:txBody>
          <a:bodyPr wrap="square" rtlCol="0">
            <a:spAutoFit/>
          </a:bodyPr>
          <a:lstStyle/>
          <a:p>
            <a:r>
              <a:rPr lang="zh-CN" altLang="en-US" sz="1600" dirty="0">
                <a:solidFill>
                  <a:srgbClr val="0070C0"/>
                </a:solidFill>
              </a:rPr>
              <a:t>间接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3" grpId="0"/>
      <p:bldP spid="7" grpId="0"/>
      <p:bldP spid="8" grpId="0"/>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p:cNvSpPr>
          <p:nvPr>
            <p:ph type="title"/>
          </p:nvPr>
        </p:nvSpPr>
        <p:spPr>
          <a:xfrm>
            <a:off x="871538" y="277813"/>
            <a:ext cx="8229600" cy="576262"/>
          </a:xfrm>
          <a:ln/>
        </p:spPr>
        <p:txBody>
          <a:bodyPr vert="horz" wrap="square" lIns="91440" tIns="45720" rIns="91440" bIns="45720" anchor="b" anchorCtr="0"/>
          <a:lstStyle/>
          <a:p>
            <a:pPr eaLnBrk="1" hangingPunct="1"/>
            <a:r>
              <a:rPr lang="en-US" altLang="zh-CN" sz="2800"/>
              <a:t>Communications in Client-Server Systems</a:t>
            </a:r>
          </a:p>
        </p:txBody>
      </p:sp>
      <p:sp>
        <p:nvSpPr>
          <p:cNvPr id="166914" name="Rectangle 3"/>
          <p:cNvSpPr>
            <a:spLocks noGrp="1"/>
          </p:cNvSpPr>
          <p:nvPr>
            <p:ph idx="1"/>
          </p:nvPr>
        </p:nvSpPr>
        <p:spPr>
          <a:ln/>
        </p:spPr>
        <p:txBody>
          <a:bodyPr vert="horz" wrap="square" lIns="91440" tIns="45720" rIns="91440" bIns="45720" anchor="t" anchorCtr="0"/>
          <a:lstStyle/>
          <a:p>
            <a:r>
              <a:rPr lang="en-US" altLang="zh-CN" sz="2400" dirty="0"/>
              <a:t>Sockets</a:t>
            </a:r>
            <a:r>
              <a:rPr lang="zh-CN" altLang="en-US" sz="2400"/>
              <a:t>（套接字）</a:t>
            </a:r>
            <a:endParaRPr lang="en-US" altLang="zh-CN" sz="2400" dirty="0"/>
          </a:p>
          <a:p>
            <a:r>
              <a:rPr lang="en-US" altLang="zh-CN" sz="2400" dirty="0"/>
              <a:t>Remote Procedure Calls</a:t>
            </a:r>
            <a:r>
              <a:rPr lang="zh-CN" altLang="en-US" sz="2400" dirty="0"/>
              <a:t>（远程过程调用）</a:t>
            </a:r>
            <a:endParaRPr lang="en-US" altLang="zh-CN" sz="2400" dirty="0"/>
          </a:p>
          <a:p>
            <a:r>
              <a:rPr lang="en-US" altLang="zh-CN" sz="2400" dirty="0"/>
              <a:t>Remote Method Invocation (Java)</a:t>
            </a:r>
            <a:r>
              <a:rPr lang="zh-CN" altLang="en-US" sz="2400" dirty="0"/>
              <a:t>（远程方法调用）</a:t>
            </a:r>
            <a:endParaRPr lang="en-US" altLang="zh-CN"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F24CF35-9E81-4977-B9EB-464D2E5D657C}"/>
              </a:ext>
            </a:extLst>
          </p:cNvPr>
          <p:cNvSpPr>
            <a:spLocks noGrp="1" noChangeArrowheads="1"/>
          </p:cNvSpPr>
          <p:nvPr>
            <p:ph type="title"/>
          </p:nvPr>
        </p:nvSpPr>
        <p:spPr/>
        <p:txBody>
          <a:bodyPr/>
          <a:lstStyle/>
          <a:p>
            <a:pPr eaLnBrk="1" hangingPunct="1"/>
            <a:r>
              <a:rPr lang="en-US" altLang="zh-CN"/>
              <a:t>Sockets</a:t>
            </a:r>
          </a:p>
        </p:txBody>
      </p:sp>
      <p:sp>
        <p:nvSpPr>
          <p:cNvPr id="69635" name="Rectangle 3">
            <a:extLst>
              <a:ext uri="{FF2B5EF4-FFF2-40B4-BE49-F238E27FC236}">
                <a16:creationId xmlns:a16="http://schemas.microsoft.com/office/drawing/2014/main" id="{A901F3DF-4DBD-4726-BB81-5136DFC2BC5E}"/>
              </a:ext>
            </a:extLst>
          </p:cNvPr>
          <p:cNvSpPr>
            <a:spLocks noGrp="1" noChangeArrowheads="1"/>
          </p:cNvSpPr>
          <p:nvPr>
            <p:ph type="body" idx="1"/>
          </p:nvPr>
        </p:nvSpPr>
        <p:spPr>
          <a:xfrm>
            <a:off x="806450" y="1233488"/>
            <a:ext cx="6977063" cy="4530725"/>
          </a:xfrm>
        </p:spPr>
        <p:txBody>
          <a:bodyPr/>
          <a:lstStyle/>
          <a:p>
            <a:r>
              <a:rPr lang="en-US" altLang="zh-CN" sz="2400" dirty="0"/>
              <a:t>A socket is defined as an </a:t>
            </a:r>
            <a:r>
              <a:rPr lang="en-US" altLang="zh-CN" sz="2400" i="1" dirty="0"/>
              <a:t>endpoint for communication</a:t>
            </a:r>
            <a:endParaRPr lang="en-US" altLang="zh-CN" sz="2400" dirty="0"/>
          </a:p>
          <a:p>
            <a:r>
              <a:rPr lang="en-US" altLang="zh-CN" sz="2400" dirty="0"/>
              <a:t>Concatenation of IP address and port</a:t>
            </a:r>
          </a:p>
          <a:p>
            <a:r>
              <a:rPr lang="en-US" altLang="zh-CN" sz="2400" dirty="0"/>
              <a:t>The socket </a:t>
            </a:r>
            <a:r>
              <a:rPr lang="en-US" altLang="zh-CN" sz="2400" b="1" dirty="0"/>
              <a:t>161.25.19.8:1625</a:t>
            </a:r>
            <a:r>
              <a:rPr lang="en-US" altLang="zh-CN" sz="2400" dirty="0"/>
              <a:t> refers to port </a:t>
            </a:r>
            <a:r>
              <a:rPr lang="en-US" altLang="zh-CN" sz="2400" b="1" dirty="0"/>
              <a:t>1625</a:t>
            </a:r>
            <a:r>
              <a:rPr lang="en-US" altLang="zh-CN" sz="2400" dirty="0"/>
              <a:t> on host </a:t>
            </a:r>
            <a:r>
              <a:rPr lang="en-US" altLang="zh-CN" sz="2400" b="1" dirty="0"/>
              <a:t>161.25.19.8</a:t>
            </a:r>
          </a:p>
          <a:p>
            <a:r>
              <a:rPr lang="en-US" altLang="zh-CN" sz="2400" dirty="0"/>
              <a:t>Communication consists between a pair of sockets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9B25B10-A716-494D-9BD7-E222A35E9EF4}"/>
              </a:ext>
            </a:extLst>
          </p:cNvPr>
          <p:cNvSpPr>
            <a:spLocks noGrp="1" noChangeArrowheads="1"/>
          </p:cNvSpPr>
          <p:nvPr>
            <p:ph type="title"/>
          </p:nvPr>
        </p:nvSpPr>
        <p:spPr/>
        <p:txBody>
          <a:bodyPr/>
          <a:lstStyle/>
          <a:p>
            <a:pPr eaLnBrk="1" hangingPunct="1"/>
            <a:r>
              <a:rPr lang="en-US" altLang="zh-CN"/>
              <a:t>Socket Communication</a:t>
            </a:r>
          </a:p>
        </p:txBody>
      </p:sp>
      <p:pic>
        <p:nvPicPr>
          <p:cNvPr id="70659" name="Picture 7">
            <a:extLst>
              <a:ext uri="{FF2B5EF4-FFF2-40B4-BE49-F238E27FC236}">
                <a16:creationId xmlns:a16="http://schemas.microsoft.com/office/drawing/2014/main" id="{C4889E3C-59C6-48E1-9019-081D4CED4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563" y="1492250"/>
            <a:ext cx="64706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F6C129A6-ADEC-422D-8327-DABA4A9AA5B3}"/>
              </a:ext>
            </a:extLst>
          </p:cNvPr>
          <p:cNvSpPr>
            <a:spLocks noGrp="1" noChangeArrowheads="1"/>
          </p:cNvSpPr>
          <p:nvPr>
            <p:ph type="title"/>
          </p:nvPr>
        </p:nvSpPr>
        <p:spPr/>
        <p:txBody>
          <a:bodyPr/>
          <a:lstStyle/>
          <a:p>
            <a:pPr eaLnBrk="1" hangingPunct="1"/>
            <a:r>
              <a:rPr lang="en-US" altLang="zh-CN"/>
              <a:t>Remote Procedure Calls</a:t>
            </a:r>
          </a:p>
        </p:txBody>
      </p:sp>
      <p:sp>
        <p:nvSpPr>
          <p:cNvPr id="71683" name="Rectangle 3">
            <a:extLst>
              <a:ext uri="{FF2B5EF4-FFF2-40B4-BE49-F238E27FC236}">
                <a16:creationId xmlns:a16="http://schemas.microsoft.com/office/drawing/2014/main" id="{83001B72-526D-4318-8894-60AD4779B28A}"/>
              </a:ext>
            </a:extLst>
          </p:cNvPr>
          <p:cNvSpPr>
            <a:spLocks noGrp="1" noChangeArrowheads="1"/>
          </p:cNvSpPr>
          <p:nvPr>
            <p:ph type="body" idx="1"/>
          </p:nvPr>
        </p:nvSpPr>
        <p:spPr/>
        <p:txBody>
          <a:bodyPr/>
          <a:lstStyle/>
          <a:p>
            <a:r>
              <a:rPr lang="en-US" altLang="zh-CN" sz="2400" dirty="0"/>
              <a:t>Remote procedure call (RPC) abstracts procedure calls between processes on networked systems</a:t>
            </a:r>
          </a:p>
          <a:p>
            <a:r>
              <a:rPr lang="en-US" altLang="zh-CN" sz="2400" b="1" dirty="0"/>
              <a:t>Stubs</a:t>
            </a:r>
            <a:r>
              <a:rPr lang="en-US" altLang="zh-CN" sz="2400" dirty="0"/>
              <a:t> – client-side proxy for the actual procedure on the server</a:t>
            </a:r>
          </a:p>
          <a:p>
            <a:r>
              <a:rPr lang="en-US" altLang="zh-CN" sz="2400" dirty="0"/>
              <a:t>The client-side stub locates the server and </a:t>
            </a:r>
            <a:r>
              <a:rPr lang="en-US" altLang="zh-CN" sz="2400" i="1" dirty="0" err="1"/>
              <a:t>marshalls</a:t>
            </a:r>
            <a:r>
              <a:rPr lang="en-US" altLang="zh-CN" sz="2400" i="1" dirty="0"/>
              <a:t>(</a:t>
            </a:r>
            <a:r>
              <a:rPr lang="zh-CN" altLang="en-US" sz="2400" i="1" dirty="0"/>
              <a:t>封装）</a:t>
            </a:r>
            <a:r>
              <a:rPr lang="en-US" altLang="zh-CN" sz="2400" dirty="0"/>
              <a:t> the parameters</a:t>
            </a:r>
          </a:p>
          <a:p>
            <a:r>
              <a:rPr lang="en-US" altLang="zh-CN" sz="2400" dirty="0"/>
              <a:t>The server-side stub receives this message, unpacks the marshalled parameters, and </a:t>
            </a:r>
            <a:r>
              <a:rPr lang="en-US" altLang="zh-CN" sz="2400" dirty="0" err="1"/>
              <a:t>peforms</a:t>
            </a:r>
            <a:r>
              <a:rPr lang="en-US" altLang="zh-CN" sz="2400" dirty="0"/>
              <a:t> the procedure on the server</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92CCDF0-E382-49FF-A667-BD5C33D0D376}"/>
              </a:ext>
            </a:extLst>
          </p:cNvPr>
          <p:cNvSpPr>
            <a:spLocks noGrp="1" noChangeArrowheads="1"/>
          </p:cNvSpPr>
          <p:nvPr>
            <p:ph type="title"/>
          </p:nvPr>
        </p:nvSpPr>
        <p:spPr/>
        <p:txBody>
          <a:bodyPr/>
          <a:lstStyle/>
          <a:p>
            <a:pPr eaLnBrk="1" hangingPunct="1"/>
            <a:r>
              <a:rPr lang="en-US" altLang="zh-CN"/>
              <a:t>Execution of RPC</a:t>
            </a:r>
          </a:p>
        </p:txBody>
      </p:sp>
      <p:pic>
        <p:nvPicPr>
          <p:cNvPr id="72707" name="Picture 4">
            <a:extLst>
              <a:ext uri="{FF2B5EF4-FFF2-40B4-BE49-F238E27FC236}">
                <a16:creationId xmlns:a16="http://schemas.microsoft.com/office/drawing/2014/main" id="{8C95AF1A-172C-4F4D-B3A9-B16DD87EC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425" y="927100"/>
            <a:ext cx="7021513"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2B2D1BD-EA41-450D-8192-6779DC53B82D}"/>
              </a:ext>
            </a:extLst>
          </p:cNvPr>
          <p:cNvSpPr>
            <a:spLocks noGrp="1" noChangeArrowheads="1"/>
          </p:cNvSpPr>
          <p:nvPr>
            <p:ph type="title"/>
          </p:nvPr>
        </p:nvSpPr>
        <p:spPr/>
        <p:txBody>
          <a:bodyPr/>
          <a:lstStyle/>
          <a:p>
            <a:pPr eaLnBrk="1" hangingPunct="1"/>
            <a:r>
              <a:rPr lang="en-US" altLang="zh-CN"/>
              <a:t>Remote Method Invocation</a:t>
            </a:r>
          </a:p>
        </p:txBody>
      </p:sp>
      <p:sp>
        <p:nvSpPr>
          <p:cNvPr id="73731" name="Rectangle 3">
            <a:extLst>
              <a:ext uri="{FF2B5EF4-FFF2-40B4-BE49-F238E27FC236}">
                <a16:creationId xmlns:a16="http://schemas.microsoft.com/office/drawing/2014/main" id="{18F811EA-8284-4436-8B4D-42A7B19470AF}"/>
              </a:ext>
            </a:extLst>
          </p:cNvPr>
          <p:cNvSpPr>
            <a:spLocks noGrp="1" noChangeArrowheads="1"/>
          </p:cNvSpPr>
          <p:nvPr>
            <p:ph type="body" idx="1"/>
          </p:nvPr>
        </p:nvSpPr>
        <p:spPr/>
        <p:txBody>
          <a:bodyPr/>
          <a:lstStyle/>
          <a:p>
            <a:r>
              <a:rPr lang="en-US" altLang="zh-CN" sz="2000"/>
              <a:t>Remote Method Invocation (RMI) is a Java mechanism similar to RPCs</a:t>
            </a:r>
          </a:p>
          <a:p>
            <a:r>
              <a:rPr lang="en-US" altLang="zh-CN" sz="2000"/>
              <a:t>RMI allows a Java program on one machine to invoke a method on a remote object</a:t>
            </a:r>
          </a:p>
        </p:txBody>
      </p:sp>
      <p:pic>
        <p:nvPicPr>
          <p:cNvPr id="73732" name="Picture 7">
            <a:extLst>
              <a:ext uri="{FF2B5EF4-FFF2-40B4-BE49-F238E27FC236}">
                <a16:creationId xmlns:a16="http://schemas.microsoft.com/office/drawing/2014/main" id="{32D1176B-6E20-494D-A5B4-8A8369E7A6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350" y="2955925"/>
            <a:ext cx="7300913"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D5B0E1D0-4BC5-48D7-87E3-657C9084C15A}"/>
              </a:ext>
            </a:extLst>
          </p:cNvPr>
          <p:cNvSpPr>
            <a:spLocks noGrp="1" noChangeArrowheads="1"/>
          </p:cNvSpPr>
          <p:nvPr>
            <p:ph type="title"/>
          </p:nvPr>
        </p:nvSpPr>
        <p:spPr/>
        <p:txBody>
          <a:bodyPr/>
          <a:lstStyle/>
          <a:p>
            <a:pPr eaLnBrk="1" hangingPunct="1"/>
            <a:r>
              <a:rPr lang="en-US" altLang="zh-CN"/>
              <a:t>Marshalling Parameters</a:t>
            </a:r>
          </a:p>
        </p:txBody>
      </p:sp>
      <p:pic>
        <p:nvPicPr>
          <p:cNvPr id="74755" name="Picture 5">
            <a:extLst>
              <a:ext uri="{FF2B5EF4-FFF2-40B4-BE49-F238E27FC236}">
                <a16:creationId xmlns:a16="http://schemas.microsoft.com/office/drawing/2014/main" id="{ADB18EA2-BECD-4E65-A14B-C6AD04E164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700" y="1317625"/>
            <a:ext cx="6859588"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0E4394-6062-4A98-8648-5D60C05ED92D}"/>
              </a:ext>
            </a:extLst>
          </p:cNvPr>
          <p:cNvSpPr txBox="1">
            <a:spLocks noChangeArrowheads="1"/>
          </p:cNvSpPr>
          <p:nvPr/>
        </p:nvSpPr>
        <p:spPr bwMode="auto">
          <a:xfrm>
            <a:off x="358775" y="958850"/>
            <a:ext cx="83439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下列各项工作步骤中，（    ）不是创建进程所必需的步骤。</a:t>
            </a:r>
          </a:p>
          <a:p>
            <a:pPr>
              <a:spcBef>
                <a:spcPct val="0"/>
              </a:spcBef>
              <a:buClrTx/>
              <a:buSzTx/>
              <a:buFontTx/>
              <a:buNone/>
            </a:pPr>
            <a:r>
              <a:rPr kumimoji="0" lang="en-US" altLang="zh-CN">
                <a:latin typeface="Verdana" panose="020B0604030504040204" pitchFamily="34" charset="0"/>
              </a:rPr>
              <a:t>A.</a:t>
            </a:r>
            <a:r>
              <a:rPr kumimoji="0" lang="zh-CN" altLang="en-US">
                <a:latin typeface="Verdana" panose="020B0604030504040204" pitchFamily="34" charset="0"/>
              </a:rPr>
              <a:t>建立一个</a:t>
            </a:r>
            <a:r>
              <a:rPr kumimoji="0" lang="en-US" altLang="zh-CN">
                <a:latin typeface="Verdana" panose="020B0604030504040204" pitchFamily="34" charset="0"/>
              </a:rPr>
              <a:t>PCB              </a:t>
            </a:r>
          </a:p>
          <a:p>
            <a:pPr>
              <a:spcBef>
                <a:spcPct val="0"/>
              </a:spcBef>
              <a:buClrTx/>
              <a:buSzTx/>
              <a:buFontTx/>
              <a:buNone/>
            </a:pPr>
            <a:r>
              <a:rPr kumimoji="0" lang="en-US" altLang="zh-CN">
                <a:latin typeface="Verdana" panose="020B0604030504040204" pitchFamily="34" charset="0"/>
              </a:rPr>
              <a:t>B.</a:t>
            </a:r>
            <a:r>
              <a:rPr kumimoji="0" lang="zh-CN" altLang="en-US">
                <a:latin typeface="Verdana" panose="020B0604030504040204" pitchFamily="34" charset="0"/>
              </a:rPr>
              <a:t>作业调度程序为进程分配</a:t>
            </a:r>
            <a:r>
              <a:rPr kumimoji="0" lang="en-US" altLang="zh-CN">
                <a:latin typeface="Verdana" panose="020B0604030504040204" pitchFamily="34" charset="0"/>
              </a:rPr>
              <a:t>CPU</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为进程分配内存等资源      </a:t>
            </a:r>
            <a:endParaRPr kumimoji="0" lang="en-US" altLang="zh-CN">
              <a:latin typeface="Verdana" panose="020B0604030504040204" pitchFamily="34" charset="0"/>
            </a:endParaRPr>
          </a:p>
          <a:p>
            <a:pPr>
              <a:spcBef>
                <a:spcPct val="0"/>
              </a:spcBef>
              <a:buClrTx/>
              <a:buSzTx/>
              <a:buFontTx/>
              <a:buNone/>
            </a:pPr>
            <a:r>
              <a:rPr kumimoji="0" lang="en-US" altLang="zh-CN">
                <a:latin typeface="Verdana" panose="020B0604030504040204" pitchFamily="34" charset="0"/>
              </a:rPr>
              <a:t>D. </a:t>
            </a:r>
            <a:r>
              <a:rPr kumimoji="0" lang="zh-CN" altLang="en-US">
                <a:latin typeface="Verdana" panose="020B0604030504040204" pitchFamily="34" charset="0"/>
              </a:rPr>
              <a:t>将</a:t>
            </a:r>
            <a:r>
              <a:rPr kumimoji="0" lang="en-US" altLang="zh-CN">
                <a:latin typeface="Verdana" panose="020B0604030504040204" pitchFamily="34" charset="0"/>
              </a:rPr>
              <a:t>PCB</a:t>
            </a:r>
            <a:r>
              <a:rPr kumimoji="0" lang="zh-CN" altLang="en-US">
                <a:latin typeface="Verdana" panose="020B0604030504040204" pitchFamily="34" charset="0"/>
              </a:rPr>
              <a:t>链入进程就绪队列</a:t>
            </a: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 </a:t>
            </a:r>
            <a:r>
              <a:rPr kumimoji="0" lang="en-US" altLang="zh-CN" sz="2800">
                <a:latin typeface="Verdana" panose="020B0604030504040204" pitchFamily="34" charset="0"/>
              </a:rPr>
              <a:t>B</a:t>
            </a:r>
            <a:endParaRPr kumimoji="0" lang="zh-CN" altLang="en-US">
              <a:latin typeface="Verdana" panose="020B0604030504040204" pitchFamily="34" charset="0"/>
            </a:endParaRPr>
          </a:p>
        </p:txBody>
      </p:sp>
      <p:sp>
        <p:nvSpPr>
          <p:cNvPr id="106499" name="文本框 2">
            <a:extLst>
              <a:ext uri="{FF2B5EF4-FFF2-40B4-BE49-F238E27FC236}">
                <a16:creationId xmlns:a16="http://schemas.microsoft.com/office/drawing/2014/main" id="{0B69C9CF-BAA6-415C-A9C5-282A5B4A50B8}"/>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8B3DC39-C842-4A0C-B9C3-E0BBC1BC4DEF}"/>
              </a:ext>
            </a:extLst>
          </p:cNvPr>
          <p:cNvSpPr txBox="1">
            <a:spLocks noChangeArrowheads="1"/>
          </p:cNvSpPr>
          <p:nvPr/>
        </p:nvSpPr>
        <p:spPr bwMode="auto">
          <a:xfrm>
            <a:off x="358775" y="958850"/>
            <a:ext cx="83439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dirty="0">
                <a:latin typeface="Verdana" panose="020B0604030504040204" pitchFamily="34" charset="0"/>
              </a:rPr>
              <a:t>下列有可能导致一进程从运行变为就绪的事件是（ ）。</a:t>
            </a:r>
          </a:p>
          <a:p>
            <a:pPr>
              <a:spcBef>
                <a:spcPct val="0"/>
              </a:spcBef>
              <a:buClrTx/>
              <a:buSzTx/>
              <a:buFontTx/>
              <a:buNone/>
            </a:pPr>
            <a:r>
              <a:rPr kumimoji="0" lang="en-US" altLang="zh-CN" dirty="0">
                <a:latin typeface="Verdana" panose="020B0604030504040204" pitchFamily="34" charset="0"/>
              </a:rPr>
              <a:t>A.</a:t>
            </a:r>
            <a:r>
              <a:rPr kumimoji="0" lang="zh-CN" altLang="en-US" dirty="0">
                <a:latin typeface="Verdana" panose="020B0604030504040204" pitchFamily="34" charset="0"/>
              </a:rPr>
              <a:t>一次</a:t>
            </a:r>
            <a:r>
              <a:rPr kumimoji="0" lang="en-US" altLang="zh-CN" dirty="0">
                <a:latin typeface="Verdana" panose="020B0604030504040204" pitchFamily="34" charset="0"/>
              </a:rPr>
              <a:t>I/O</a:t>
            </a:r>
            <a:r>
              <a:rPr kumimoji="0" lang="zh-CN" altLang="en-US" dirty="0">
                <a:latin typeface="Verdana" panose="020B0604030504040204" pitchFamily="34" charset="0"/>
              </a:rPr>
              <a:t>操作结束     </a:t>
            </a:r>
          </a:p>
          <a:p>
            <a:pPr>
              <a:spcBef>
                <a:spcPct val="0"/>
              </a:spcBef>
              <a:buClrTx/>
              <a:buSzTx/>
              <a:buFontTx/>
              <a:buNone/>
            </a:pPr>
            <a:r>
              <a:rPr kumimoji="0" lang="en-US" altLang="zh-CN" dirty="0">
                <a:latin typeface="Verdana" panose="020B0604030504040204" pitchFamily="34" charset="0"/>
              </a:rPr>
              <a:t>B.</a:t>
            </a:r>
            <a:r>
              <a:rPr kumimoji="0" lang="zh-CN" altLang="en-US" dirty="0">
                <a:latin typeface="Verdana" panose="020B0604030504040204" pitchFamily="34" charset="0"/>
              </a:rPr>
              <a:t>运行进程需作</a:t>
            </a:r>
            <a:r>
              <a:rPr kumimoji="0" lang="en-US" altLang="zh-CN" dirty="0">
                <a:latin typeface="Verdana" panose="020B0604030504040204" pitchFamily="34" charset="0"/>
              </a:rPr>
              <a:t>I/O</a:t>
            </a:r>
            <a:r>
              <a:rPr kumimoji="0" lang="zh-CN" altLang="en-US" dirty="0">
                <a:latin typeface="Verdana" panose="020B0604030504040204" pitchFamily="34" charset="0"/>
              </a:rPr>
              <a:t>操作</a:t>
            </a:r>
          </a:p>
          <a:p>
            <a:pPr>
              <a:spcBef>
                <a:spcPct val="0"/>
              </a:spcBef>
              <a:buClrTx/>
              <a:buSzTx/>
              <a:buFontTx/>
              <a:buNone/>
            </a:pPr>
            <a:r>
              <a:rPr kumimoji="0" lang="en-US" altLang="zh-CN" dirty="0">
                <a:latin typeface="Verdana" panose="020B0604030504040204" pitchFamily="34" charset="0"/>
              </a:rPr>
              <a:t>C.</a:t>
            </a:r>
            <a:r>
              <a:rPr kumimoji="0" lang="zh-CN" altLang="en-US" dirty="0">
                <a:latin typeface="Verdana" panose="020B0604030504040204" pitchFamily="34" charset="0"/>
              </a:rPr>
              <a:t>运行进程结束     </a:t>
            </a:r>
          </a:p>
          <a:p>
            <a:pPr>
              <a:spcBef>
                <a:spcPct val="0"/>
              </a:spcBef>
              <a:buClrTx/>
              <a:buSzTx/>
              <a:buFontTx/>
              <a:buNone/>
            </a:pPr>
            <a:r>
              <a:rPr kumimoji="0" lang="en-US" altLang="zh-CN" dirty="0">
                <a:latin typeface="Verdana" panose="020B0604030504040204" pitchFamily="34" charset="0"/>
              </a:rPr>
              <a:t>D.</a:t>
            </a:r>
            <a:r>
              <a:rPr kumimoji="0" lang="zh-CN" altLang="en-US" dirty="0">
                <a:latin typeface="Verdana" panose="020B0604030504040204" pitchFamily="34" charset="0"/>
              </a:rPr>
              <a:t>出现了比现运行进程优先权更高的进程</a:t>
            </a:r>
          </a:p>
          <a:p>
            <a:pPr>
              <a:spcBef>
                <a:spcPct val="0"/>
              </a:spcBef>
              <a:buClrTx/>
              <a:buSzTx/>
              <a:buFontTx/>
              <a:buNone/>
            </a:pPr>
            <a:endParaRPr kumimoji="0" lang="en-US" altLang="zh-CN" sz="2800" dirty="0">
              <a:latin typeface="Verdana" panose="020B0604030504040204" pitchFamily="34" charset="0"/>
            </a:endParaRPr>
          </a:p>
          <a:p>
            <a:pPr>
              <a:spcBef>
                <a:spcPct val="0"/>
              </a:spcBef>
              <a:buClrTx/>
              <a:buSzTx/>
              <a:buFontTx/>
              <a:buNone/>
            </a:pPr>
            <a:r>
              <a:rPr kumimoji="0" lang="zh-CN" altLang="en-US" sz="2800" dirty="0">
                <a:latin typeface="Verdana" panose="020B0604030504040204" pitchFamily="34" charset="0"/>
              </a:rPr>
              <a:t>答案： </a:t>
            </a:r>
            <a:r>
              <a:rPr kumimoji="0" lang="en-US" altLang="zh-CN" sz="2800" dirty="0">
                <a:latin typeface="Verdana" panose="020B0604030504040204" pitchFamily="34" charset="0"/>
              </a:rPr>
              <a:t>D</a:t>
            </a:r>
            <a:endParaRPr kumimoji="0" lang="zh-CN" altLang="en-US" dirty="0">
              <a:latin typeface="Verdana" panose="020B0604030504040204" pitchFamily="34" charset="0"/>
            </a:endParaRPr>
          </a:p>
        </p:txBody>
      </p:sp>
      <p:sp>
        <p:nvSpPr>
          <p:cNvPr id="108547" name="文本框 2">
            <a:extLst>
              <a:ext uri="{FF2B5EF4-FFF2-40B4-BE49-F238E27FC236}">
                <a16:creationId xmlns:a16="http://schemas.microsoft.com/office/drawing/2014/main" id="{926062C8-D4D3-4154-8F84-612720542C81}"/>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F388827-49EE-472B-87BD-A8C3B46C9E7F}"/>
              </a:ext>
            </a:extLst>
          </p:cNvPr>
          <p:cNvSpPr txBox="1">
            <a:spLocks noChangeArrowheads="1"/>
          </p:cNvSpPr>
          <p:nvPr/>
        </p:nvSpPr>
        <p:spPr bwMode="auto">
          <a:xfrm>
            <a:off x="358775" y="958850"/>
            <a:ext cx="83439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zh-CN">
                <a:latin typeface="Verdana" panose="020B0604030504040204" pitchFamily="34" charset="0"/>
              </a:rPr>
              <a:t>【</a:t>
            </a:r>
            <a:r>
              <a:rPr kumimoji="0" lang="zh-CN" altLang="en-US">
                <a:latin typeface="Verdana" panose="020B0604030504040204" pitchFamily="34" charset="0"/>
              </a:rPr>
              <a:t>简答</a:t>
            </a:r>
            <a:r>
              <a:rPr kumimoji="0" lang="en-US" altLang="zh-CN">
                <a:latin typeface="Verdana" panose="020B0604030504040204" pitchFamily="34" charset="0"/>
              </a:rPr>
              <a:t>】</a:t>
            </a:r>
            <a:r>
              <a:rPr kumimoji="0" lang="zh-CN" altLang="en-US">
                <a:latin typeface="Verdana" panose="020B0604030504040204" pitchFamily="34" charset="0"/>
              </a:rPr>
              <a:t>进程的阻塞操作和挂起操作有何异同？</a:t>
            </a: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阻塞：进程</a:t>
            </a:r>
            <a:r>
              <a:rPr kumimoji="0" lang="en-US" altLang="zh-CN" sz="2800">
                <a:latin typeface="Verdana" panose="020B0604030504040204" pitchFamily="34" charset="0"/>
              </a:rPr>
              <a:t>/</a:t>
            </a:r>
            <a:r>
              <a:rPr kumimoji="0" lang="zh-CN" altLang="en-US" sz="2800">
                <a:latin typeface="Verdana" panose="020B0604030504040204" pitchFamily="34" charset="0"/>
              </a:rPr>
              <a:t>线程</a:t>
            </a:r>
            <a:r>
              <a:rPr kumimoji="0" lang="zh-CN" altLang="en-US" sz="2800">
                <a:solidFill>
                  <a:srgbClr val="C00000"/>
                </a:solidFill>
                <a:latin typeface="Verdana" panose="020B0604030504040204" pitchFamily="34" charset="0"/>
              </a:rPr>
              <a:t>被动</a:t>
            </a:r>
            <a:r>
              <a:rPr kumimoji="0" lang="zh-CN" altLang="en-US" sz="2800">
                <a:latin typeface="Verdana" panose="020B0604030504040204" pitchFamily="34" charset="0"/>
              </a:rPr>
              <a:t>暂停执行，阻塞的进程仍处于</a:t>
            </a:r>
            <a:r>
              <a:rPr kumimoji="0" lang="zh-CN" altLang="en-US" sz="2800">
                <a:solidFill>
                  <a:srgbClr val="C00000"/>
                </a:solidFill>
                <a:latin typeface="Verdana" panose="020B0604030504040204" pitchFamily="34" charset="0"/>
              </a:rPr>
              <a:t>内存</a:t>
            </a:r>
            <a:r>
              <a:rPr kumimoji="0" lang="zh-CN" altLang="en-US" sz="2800">
                <a:latin typeface="Verdana" panose="020B0604030504040204" pitchFamily="34" charset="0"/>
              </a:rPr>
              <a:t>中。</a:t>
            </a: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挂起：用户</a:t>
            </a:r>
            <a:r>
              <a:rPr kumimoji="0" lang="zh-CN" altLang="en-US" sz="2800">
                <a:solidFill>
                  <a:srgbClr val="C00000"/>
                </a:solidFill>
                <a:latin typeface="Verdana" panose="020B0604030504040204" pitchFamily="34" charset="0"/>
              </a:rPr>
              <a:t>主动</a:t>
            </a:r>
            <a:r>
              <a:rPr kumimoji="0" lang="zh-CN" altLang="en-US" sz="2800">
                <a:latin typeface="Verdana" panose="020B0604030504040204" pitchFamily="34" charset="0"/>
              </a:rPr>
              <a:t>暂停执行进程</a:t>
            </a:r>
            <a:r>
              <a:rPr kumimoji="0" lang="en-US" altLang="zh-CN" sz="2800">
                <a:latin typeface="Verdana" panose="020B0604030504040204" pitchFamily="34" charset="0"/>
              </a:rPr>
              <a:t>/</a:t>
            </a:r>
            <a:r>
              <a:rPr kumimoji="0" lang="zh-CN" altLang="en-US" sz="2800">
                <a:latin typeface="Verdana" panose="020B0604030504040204" pitchFamily="34" charset="0"/>
              </a:rPr>
              <a:t>线程，挂起的进程被换出到</a:t>
            </a:r>
            <a:r>
              <a:rPr kumimoji="0" lang="zh-CN" altLang="en-US" sz="2800">
                <a:solidFill>
                  <a:srgbClr val="C00000"/>
                </a:solidFill>
                <a:latin typeface="Verdana" panose="020B0604030504040204" pitchFamily="34" charset="0"/>
              </a:rPr>
              <a:t>外存</a:t>
            </a:r>
            <a:r>
              <a:rPr kumimoji="0" lang="zh-CN" altLang="en-US" sz="2800">
                <a:latin typeface="Verdana" panose="020B0604030504040204" pitchFamily="34" charset="0"/>
              </a:rPr>
              <a:t>（磁盘）中。</a:t>
            </a:r>
            <a:endParaRPr kumimoji="0" lang="zh-CN" altLang="en-US">
              <a:latin typeface="Verdana" panose="020B0604030504040204" pitchFamily="34" charset="0"/>
            </a:endParaRPr>
          </a:p>
        </p:txBody>
      </p:sp>
      <p:sp>
        <p:nvSpPr>
          <p:cNvPr id="113667" name="文本框 2">
            <a:extLst>
              <a:ext uri="{FF2B5EF4-FFF2-40B4-BE49-F238E27FC236}">
                <a16:creationId xmlns:a16="http://schemas.microsoft.com/office/drawing/2014/main" id="{3BBDC429-2D10-4594-8163-169CED1C9117}"/>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92B66B3-7F4C-48B7-B576-52DC42A44C9A}"/>
              </a:ext>
            </a:extLst>
          </p:cNvPr>
          <p:cNvSpPr txBox="1">
            <a:spLocks noChangeArrowheads="1"/>
          </p:cNvSpPr>
          <p:nvPr/>
        </p:nvSpPr>
        <p:spPr bwMode="auto">
          <a:xfrm>
            <a:off x="358775" y="958850"/>
            <a:ext cx="85090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zh-CN">
                <a:latin typeface="Verdana" panose="020B0604030504040204" pitchFamily="34" charset="0"/>
              </a:rPr>
              <a:t>【</a:t>
            </a:r>
            <a:r>
              <a:rPr kumimoji="0" lang="zh-CN" altLang="en-US">
                <a:latin typeface="Verdana" panose="020B0604030504040204" pitchFamily="34" charset="0"/>
              </a:rPr>
              <a:t>简答</a:t>
            </a:r>
            <a:r>
              <a:rPr kumimoji="0" lang="en-US" altLang="zh-CN">
                <a:latin typeface="Verdana" panose="020B0604030504040204" pitchFamily="34" charset="0"/>
              </a:rPr>
              <a:t>】</a:t>
            </a:r>
            <a:r>
              <a:rPr kumimoji="0" lang="zh-CN" altLang="en-US">
                <a:latin typeface="Verdana" panose="020B0604030504040204" pitchFamily="34" charset="0"/>
              </a:rPr>
              <a:t>简述进程为什么不能从就绪状态直接变成阻塞状态？</a:t>
            </a: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答案：一个进程要进入阻塞状态，必须通过执行相应的程序才能实现。就绪进程当前不在</a:t>
            </a:r>
            <a:r>
              <a:rPr kumimoji="0" lang="en-US" altLang="zh-CN" sz="2800">
                <a:latin typeface="Verdana" panose="020B0604030504040204" pitchFamily="34" charset="0"/>
              </a:rPr>
              <a:t>CPU</a:t>
            </a:r>
            <a:r>
              <a:rPr kumimoji="0" lang="zh-CN" altLang="en-US" sz="2800">
                <a:latin typeface="Verdana" panose="020B0604030504040204" pitchFamily="34" charset="0"/>
              </a:rPr>
              <a:t>上运行，不能执行任何程序，当然不能直接进入阻塞状态。</a:t>
            </a:r>
            <a:endParaRPr kumimoji="0" lang="zh-CN" altLang="en-US">
              <a:latin typeface="Verdana" panose="020B0604030504040204" pitchFamily="34" charset="0"/>
            </a:endParaRPr>
          </a:p>
        </p:txBody>
      </p:sp>
      <p:sp>
        <p:nvSpPr>
          <p:cNvPr id="115715" name="文本框 2">
            <a:extLst>
              <a:ext uri="{FF2B5EF4-FFF2-40B4-BE49-F238E27FC236}">
                <a16:creationId xmlns:a16="http://schemas.microsoft.com/office/drawing/2014/main" id="{E1472C51-7E8B-40ED-B121-7ED1CAC2EFC2}"/>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92B66B3-7F4C-48B7-B576-52DC42A44C9A}"/>
              </a:ext>
            </a:extLst>
          </p:cNvPr>
          <p:cNvSpPr txBox="1">
            <a:spLocks noChangeArrowheads="1"/>
          </p:cNvSpPr>
          <p:nvPr/>
        </p:nvSpPr>
        <p:spPr bwMode="auto">
          <a:xfrm>
            <a:off x="358775" y="958850"/>
            <a:ext cx="8509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zh-CN" dirty="0">
                <a:latin typeface="Verdana" panose="020B0604030504040204" pitchFamily="34" charset="0"/>
              </a:rPr>
              <a:t>【</a:t>
            </a:r>
            <a:r>
              <a:rPr kumimoji="0" lang="zh-CN" altLang="en-US" dirty="0">
                <a:latin typeface="Verdana" panose="020B0604030504040204" pitchFamily="34" charset="0"/>
              </a:rPr>
              <a:t>简答</a:t>
            </a:r>
            <a:r>
              <a:rPr kumimoji="0" lang="en-US" altLang="zh-CN" dirty="0">
                <a:latin typeface="Verdana" panose="020B0604030504040204" pitchFamily="34" charset="0"/>
              </a:rPr>
              <a:t>】</a:t>
            </a:r>
            <a:r>
              <a:rPr kumimoji="0" lang="zh-CN" altLang="en-US" dirty="0">
                <a:latin typeface="Verdana" panose="020B0604030504040204" pitchFamily="34" charset="0"/>
              </a:rPr>
              <a:t>简述消息传递和共享内存有什么优缺点</a:t>
            </a:r>
            <a:endParaRPr kumimoji="0" lang="en-US" altLang="zh-CN" sz="2800" dirty="0">
              <a:latin typeface="Verdana" panose="020B0604030504040204" pitchFamily="34" charset="0"/>
            </a:endParaRPr>
          </a:p>
          <a:p>
            <a:pPr>
              <a:spcBef>
                <a:spcPct val="0"/>
              </a:spcBef>
              <a:buClrTx/>
              <a:buSzTx/>
              <a:buFontTx/>
              <a:buNone/>
            </a:pPr>
            <a:endParaRPr kumimoji="0" lang="en-US" altLang="zh-CN" sz="2800" dirty="0">
              <a:latin typeface="Verdana" panose="020B0604030504040204" pitchFamily="34" charset="0"/>
            </a:endParaRPr>
          </a:p>
          <a:p>
            <a:pPr>
              <a:spcBef>
                <a:spcPct val="0"/>
              </a:spcBef>
              <a:buClrTx/>
              <a:buSzTx/>
              <a:buFontTx/>
              <a:buNone/>
            </a:pPr>
            <a:r>
              <a:rPr kumimoji="0" lang="zh-CN" altLang="en-US" sz="2800" dirty="0">
                <a:latin typeface="Verdana" panose="020B0604030504040204" pitchFamily="34" charset="0"/>
              </a:rPr>
              <a:t>答案：</a:t>
            </a:r>
            <a:endParaRPr kumimoji="0" lang="en-US" altLang="zh-CN" sz="2800" dirty="0">
              <a:latin typeface="Verdana" panose="020B0604030504040204" pitchFamily="34" charset="0"/>
            </a:endParaRPr>
          </a:p>
          <a:p>
            <a:pPr>
              <a:spcBef>
                <a:spcPct val="0"/>
              </a:spcBef>
              <a:buClrTx/>
              <a:buSzTx/>
              <a:buFontTx/>
              <a:buNone/>
            </a:pPr>
            <a:endParaRPr kumimoji="0" lang="zh-CN" altLang="en-US" dirty="0">
              <a:latin typeface="Verdana" panose="020B0604030504040204" pitchFamily="34" charset="0"/>
            </a:endParaRPr>
          </a:p>
        </p:txBody>
      </p:sp>
      <p:sp>
        <p:nvSpPr>
          <p:cNvPr id="115715" name="文本框 2">
            <a:extLst>
              <a:ext uri="{FF2B5EF4-FFF2-40B4-BE49-F238E27FC236}">
                <a16:creationId xmlns:a16="http://schemas.microsoft.com/office/drawing/2014/main" id="{E1472C51-7E8B-40ED-B121-7ED1CAC2EFC2}"/>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
        <p:nvSpPr>
          <p:cNvPr id="5" name="Rectangle 3">
            <a:extLst>
              <a:ext uri="{FF2B5EF4-FFF2-40B4-BE49-F238E27FC236}">
                <a16:creationId xmlns:a16="http://schemas.microsoft.com/office/drawing/2014/main" id="{F256B6D2-B3AA-47E2-880E-BE3BA3A53E26}"/>
              </a:ext>
            </a:extLst>
          </p:cNvPr>
          <p:cNvSpPr>
            <a:spLocks noChangeArrowheads="1"/>
          </p:cNvSpPr>
          <p:nvPr/>
        </p:nvSpPr>
        <p:spPr bwMode="auto">
          <a:xfrm>
            <a:off x="419497" y="2372007"/>
            <a:ext cx="794812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zh-CN" altLang="en-US" sz="2800" b="1" dirty="0"/>
              <a:t>共享内存</a:t>
            </a:r>
            <a:r>
              <a:rPr lang="zh-CN" altLang="en-US" sz="2800" dirty="0"/>
              <a:t>的核心优势是</a:t>
            </a:r>
            <a:r>
              <a:rPr lang="zh-CN" altLang="en-US" sz="2800" b="1" dirty="0"/>
              <a:t>速度</a:t>
            </a:r>
            <a:r>
              <a:rPr lang="zh-CN" altLang="en-US" sz="2800" dirty="0"/>
              <a:t>，但其代价是程序员必须负责所有的</a:t>
            </a:r>
            <a:r>
              <a:rPr lang="zh-CN" altLang="en-US" sz="2800" b="1" dirty="0"/>
              <a:t>同步</a:t>
            </a:r>
            <a:r>
              <a:rPr lang="zh-CN" altLang="en-US" sz="2800" dirty="0"/>
              <a:t>工作，增加了程序的复杂性和风险。</a:t>
            </a:r>
          </a:p>
          <a:p>
            <a:r>
              <a:rPr lang="zh-CN" altLang="en-US" sz="2800" b="1" dirty="0"/>
              <a:t>消息传递</a:t>
            </a:r>
            <a:r>
              <a:rPr lang="zh-CN" altLang="en-US" sz="2800" dirty="0"/>
              <a:t>的核心优势是</a:t>
            </a:r>
            <a:r>
              <a:rPr lang="zh-CN" altLang="en-US" sz="2800" b="1" dirty="0"/>
              <a:t>安全性和易用性</a:t>
            </a:r>
            <a:r>
              <a:rPr lang="zh-CN" altLang="en-US" sz="2800" dirty="0"/>
              <a:t>，内核提供的同步保障降低了编程难度，但其代价是由于数据复制和系统调用带来的</a:t>
            </a:r>
            <a:r>
              <a:rPr lang="zh-CN" altLang="en-US" sz="2800" b="1" dirty="0"/>
              <a:t>性能开销</a:t>
            </a:r>
            <a:r>
              <a:rPr lang="zh-CN" altLang="en-US" sz="2800" dirty="0"/>
              <a:t>。</a:t>
            </a:r>
          </a:p>
        </p:txBody>
      </p:sp>
    </p:spTree>
    <p:extLst>
      <p:ext uri="{BB962C8B-B14F-4D97-AF65-F5344CB8AC3E}">
        <p14:creationId xmlns:p14="http://schemas.microsoft.com/office/powerpoint/2010/main" val="18935249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92B66B3-7F4C-48B7-B576-52DC42A44C9A}"/>
              </a:ext>
            </a:extLst>
          </p:cNvPr>
          <p:cNvSpPr txBox="1">
            <a:spLocks noChangeArrowheads="1"/>
          </p:cNvSpPr>
          <p:nvPr/>
        </p:nvSpPr>
        <p:spPr bwMode="auto">
          <a:xfrm>
            <a:off x="358775" y="958850"/>
            <a:ext cx="8509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zh-CN" dirty="0">
                <a:latin typeface="Verdana" panose="020B0604030504040204" pitchFamily="34" charset="0"/>
              </a:rPr>
              <a:t>【</a:t>
            </a:r>
            <a:r>
              <a:rPr kumimoji="0" lang="zh-CN" altLang="en-US" dirty="0">
                <a:latin typeface="Verdana" panose="020B0604030504040204" pitchFamily="34" charset="0"/>
              </a:rPr>
              <a:t>简答</a:t>
            </a:r>
            <a:r>
              <a:rPr kumimoji="0" lang="en-US" altLang="zh-CN" dirty="0">
                <a:latin typeface="Verdana" panose="020B0604030504040204" pitchFamily="34" charset="0"/>
              </a:rPr>
              <a:t>】</a:t>
            </a:r>
            <a:r>
              <a:rPr kumimoji="0" lang="zh-CN" altLang="en-US" dirty="0">
                <a:latin typeface="Verdana" panose="020B0604030504040204" pitchFamily="34" charset="0"/>
              </a:rPr>
              <a:t>简述创建子进程有什么优点</a:t>
            </a:r>
            <a:endParaRPr kumimoji="0" lang="en-US" altLang="zh-CN" dirty="0">
              <a:latin typeface="Verdana" panose="020B0604030504040204" pitchFamily="34" charset="0"/>
            </a:endParaRPr>
          </a:p>
          <a:p>
            <a:pPr>
              <a:spcBef>
                <a:spcPct val="0"/>
              </a:spcBef>
              <a:buClrTx/>
              <a:buSzTx/>
              <a:buFontTx/>
              <a:buNone/>
            </a:pPr>
            <a:endParaRPr kumimoji="0" lang="en-US" altLang="zh-CN" sz="2800" dirty="0">
              <a:latin typeface="Verdana" panose="020B0604030504040204" pitchFamily="34" charset="0"/>
            </a:endParaRPr>
          </a:p>
          <a:p>
            <a:pPr>
              <a:spcBef>
                <a:spcPct val="0"/>
              </a:spcBef>
              <a:buClrTx/>
              <a:buSzTx/>
              <a:buFontTx/>
              <a:buNone/>
            </a:pPr>
            <a:r>
              <a:rPr kumimoji="0" lang="zh-CN" altLang="en-US" sz="2800" dirty="0">
                <a:latin typeface="Verdana" panose="020B0604030504040204" pitchFamily="34" charset="0"/>
              </a:rPr>
              <a:t>答案：</a:t>
            </a:r>
            <a:endParaRPr kumimoji="0" lang="en-US" altLang="zh-CN" sz="2800" dirty="0">
              <a:latin typeface="Verdana" panose="020B0604030504040204" pitchFamily="34" charset="0"/>
            </a:endParaRPr>
          </a:p>
          <a:p>
            <a:pPr>
              <a:spcBef>
                <a:spcPct val="0"/>
              </a:spcBef>
              <a:buClrTx/>
              <a:buSzTx/>
              <a:buFontTx/>
              <a:buNone/>
            </a:pPr>
            <a:endParaRPr kumimoji="0" lang="zh-CN" altLang="en-US" dirty="0">
              <a:latin typeface="Verdana" panose="020B0604030504040204" pitchFamily="34" charset="0"/>
            </a:endParaRPr>
          </a:p>
        </p:txBody>
      </p:sp>
      <p:sp>
        <p:nvSpPr>
          <p:cNvPr id="115715" name="文本框 2">
            <a:extLst>
              <a:ext uri="{FF2B5EF4-FFF2-40B4-BE49-F238E27FC236}">
                <a16:creationId xmlns:a16="http://schemas.microsoft.com/office/drawing/2014/main" id="{E1472C51-7E8B-40ED-B121-7ED1CAC2EFC2}"/>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
        <p:nvSpPr>
          <p:cNvPr id="5" name="Rectangle 3">
            <a:extLst>
              <a:ext uri="{FF2B5EF4-FFF2-40B4-BE49-F238E27FC236}">
                <a16:creationId xmlns:a16="http://schemas.microsoft.com/office/drawing/2014/main" id="{F256B6D2-B3AA-47E2-880E-BE3BA3A53E26}"/>
              </a:ext>
            </a:extLst>
          </p:cNvPr>
          <p:cNvSpPr>
            <a:spLocks noChangeArrowheads="1"/>
          </p:cNvSpPr>
          <p:nvPr/>
        </p:nvSpPr>
        <p:spPr bwMode="auto">
          <a:xfrm>
            <a:off x="643783" y="2337068"/>
            <a:ext cx="369043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2800" b="0" i="0" u="none" strike="noStrike" cap="none" normalizeH="0" baseline="0" dirty="0">
                <a:ln>
                  <a:noFill/>
                </a:ln>
                <a:solidFill>
                  <a:schemeClr val="tx1"/>
                </a:solidFill>
                <a:effectLst/>
                <a:latin typeface="Arial" panose="020B0604020202020204" pitchFamily="34" charset="0"/>
              </a:rPr>
              <a:t>提高并发性</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2800" b="0" i="0" u="none" strike="noStrike" cap="none" normalizeH="0" baseline="0" dirty="0">
                <a:ln>
                  <a:noFill/>
                </a:ln>
                <a:solidFill>
                  <a:schemeClr val="tx1"/>
                </a:solidFill>
                <a:effectLst/>
                <a:latin typeface="Arial" panose="020B0604020202020204" pitchFamily="34" charset="0"/>
              </a:rPr>
              <a:t>✅同时运行多个程序</a:t>
            </a:r>
          </a:p>
          <a:p>
            <a:pPr marL="0" marR="0" lvl="0" indent="0" algn="l" defTabSz="914400" rtl="0" eaLnBrk="0" fontAlgn="base" latinLnBrk="0" hangingPunct="0">
              <a:lnSpc>
                <a:spcPct val="100000"/>
              </a:lnSpc>
              <a:spcBef>
                <a:spcPct val="0"/>
              </a:spcBef>
              <a:spcAft>
                <a:spcPct val="0"/>
              </a:spcAft>
              <a:buClrTx/>
              <a:buSzTx/>
              <a:tabLst/>
            </a:pPr>
            <a:r>
              <a:rPr kumimoji="0" lang="zh-CN" altLang="zh-CN" sz="2800" b="0" i="0" u="none" strike="noStrike" cap="none" normalizeH="0" baseline="0" dirty="0">
                <a:ln>
                  <a:noFill/>
                </a:ln>
                <a:solidFill>
                  <a:schemeClr val="tx1"/>
                </a:solidFill>
                <a:effectLst/>
                <a:latin typeface="Arial" panose="020B0604020202020204" pitchFamily="34" charset="0"/>
              </a:rPr>
              <a:t>✅ 充分利用多核CPU</a:t>
            </a:r>
          </a:p>
          <a:p>
            <a:pPr marL="0" marR="0" lvl="0" indent="0" algn="l" defTabSz="914400" rtl="0" eaLnBrk="0" fontAlgn="base" latinLnBrk="0" hangingPunct="0">
              <a:lnSpc>
                <a:spcPct val="100000"/>
              </a:lnSpc>
              <a:spcBef>
                <a:spcPct val="0"/>
              </a:spcBef>
              <a:spcAft>
                <a:spcPct val="0"/>
              </a:spcAft>
              <a:buClrTx/>
              <a:buSzTx/>
              <a:tabLst/>
            </a:pPr>
            <a:r>
              <a:rPr kumimoji="0" lang="zh-CN" altLang="zh-CN" sz="2800" b="0" i="0" u="none" strike="noStrike" cap="none" normalizeH="0" baseline="0" dirty="0">
                <a:ln>
                  <a:noFill/>
                </a:ln>
                <a:solidFill>
                  <a:schemeClr val="tx1"/>
                </a:solidFill>
                <a:effectLst/>
                <a:latin typeface="Arial" panose="020B0604020202020204" pitchFamily="34" charset="0"/>
              </a:rPr>
              <a:t>✅ 提高系统吞吐量</a:t>
            </a:r>
          </a:p>
        </p:txBody>
      </p:sp>
      <p:sp>
        <p:nvSpPr>
          <p:cNvPr id="8" name="Rectangle 3">
            <a:extLst>
              <a:ext uri="{FF2B5EF4-FFF2-40B4-BE49-F238E27FC236}">
                <a16:creationId xmlns:a16="http://schemas.microsoft.com/office/drawing/2014/main" id="{E59C766A-7743-4F81-9AF5-E6CAEAD2B2B3}"/>
              </a:ext>
            </a:extLst>
          </p:cNvPr>
          <p:cNvSpPr>
            <a:spLocks noChangeArrowheads="1"/>
          </p:cNvSpPr>
          <p:nvPr/>
        </p:nvSpPr>
        <p:spPr bwMode="auto">
          <a:xfrm>
            <a:off x="548780" y="4243217"/>
            <a:ext cx="667522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2800" b="0" i="0" u="none" strike="noStrike" cap="none" normalizeH="0" baseline="0" dirty="0">
                <a:ln>
                  <a:noFill/>
                </a:ln>
                <a:solidFill>
                  <a:schemeClr val="tx1"/>
                </a:solidFill>
                <a:effectLst/>
                <a:latin typeface="Arial" panose="020B0604020202020204" pitchFamily="34" charset="0"/>
              </a:rPr>
              <a:t>提高隔离性</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a:buFont typeface="Arial" panose="020B0604020202020204" pitchFamily="34" charset="0"/>
              <a:buChar char="•"/>
            </a:pPr>
            <a:r>
              <a:rPr lang="zh-CN" altLang="en-US" sz="2800" dirty="0"/>
              <a:t>✅ 功能分解（每个进程专注一件事）</a:t>
            </a:r>
          </a:p>
          <a:p>
            <a:pPr>
              <a:buFont typeface="Arial" panose="020B0604020202020204" pitchFamily="34" charset="0"/>
              <a:buChar char="•"/>
            </a:pPr>
            <a:r>
              <a:rPr lang="zh-CN" altLang="en-US" sz="2800" dirty="0"/>
              <a:t>✅ 错误隔离（一个进程崩溃不影响其他）</a:t>
            </a:r>
          </a:p>
          <a:p>
            <a:pPr>
              <a:buFont typeface="Arial" panose="020B0604020202020204" pitchFamily="34" charset="0"/>
              <a:buChar char="•"/>
            </a:pPr>
            <a:r>
              <a:rPr lang="zh-CN" altLang="en-US" sz="2800" dirty="0"/>
              <a:t>✅ 安全隔离（不同权限级别）</a:t>
            </a:r>
          </a:p>
        </p:txBody>
      </p:sp>
    </p:spTree>
    <p:extLst>
      <p:ext uri="{BB962C8B-B14F-4D97-AF65-F5344CB8AC3E}">
        <p14:creationId xmlns:p14="http://schemas.microsoft.com/office/powerpoint/2010/main" val="1011946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ctrTitle"/>
          </p:nvPr>
        </p:nvSpPr>
        <p:spPr>
          <a:ln/>
        </p:spPr>
        <p:txBody>
          <a:bodyPr vert="horz" wrap="square" lIns="91440" tIns="45720" rIns="91440" bIns="45720" anchor="b" anchorCtr="0"/>
          <a:lstStyle/>
          <a:p>
            <a:pPr eaLnBrk="1" hangingPunct="1">
              <a:buClrTx/>
              <a:buSzTx/>
              <a:buFontTx/>
            </a:pPr>
            <a:r>
              <a:rPr lang="en-US" altLang="zh-CN">
                <a:latin typeface="+mj-lt"/>
                <a:ea typeface="MS PGothic" panose="020B0600070205080204" pitchFamily="34" charset="-128"/>
                <a:cs typeface="MS PGothic" panose="020B0600070205080204" pitchFamily="34" charset="-128"/>
              </a:rPr>
              <a:t>End of Chapter 3</a:t>
            </a:r>
          </a:p>
        </p:txBody>
      </p:sp>
    </p:spTree>
  </p:cSld>
  <p:clrMapOvr>
    <a:masterClrMapping/>
  </p:clrMapOvr>
</p:sld>
</file>

<file path=ppt/theme/theme1.xml><?xml version="1.0" encoding="utf-8"?>
<a:theme xmlns:a="http://schemas.openxmlformats.org/drawingml/2006/main" name="1_os-8">
  <a:themeElements>
    <a:clrScheme name="1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1_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1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706</TotalTime>
  <Words>6136</Words>
  <Application>Microsoft Office PowerPoint</Application>
  <PresentationFormat>全屏显示(4:3)</PresentationFormat>
  <Paragraphs>699</Paragraphs>
  <Slides>96</Slides>
  <Notes>87</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96</vt:i4>
      </vt:variant>
    </vt:vector>
  </HeadingPairs>
  <TitlesOfParts>
    <vt:vector size="109" baseType="lpstr">
      <vt:lpstr>Arial Unicode MS</vt:lpstr>
      <vt:lpstr>Monaco</vt:lpstr>
      <vt:lpstr>等线</vt:lpstr>
      <vt:lpstr>宋体</vt:lpstr>
      <vt:lpstr>Arial</vt:lpstr>
      <vt:lpstr>Helvetica</vt:lpstr>
      <vt:lpstr>Monotype Sorts</vt:lpstr>
      <vt:lpstr>Times New Roman</vt:lpstr>
      <vt:lpstr>Verdana</vt:lpstr>
      <vt:lpstr>Webdings</vt:lpstr>
      <vt:lpstr>Wingdings</vt:lpstr>
      <vt:lpstr>1_os-8</vt:lpstr>
      <vt:lpstr>Adobe.Illustrator.7</vt:lpstr>
      <vt:lpstr>Chapter 3:  Processes</vt:lpstr>
      <vt:lpstr>Chapter 3:  Processes</vt:lpstr>
      <vt:lpstr>Objectives</vt:lpstr>
      <vt:lpstr>Process Concept</vt:lpstr>
      <vt:lpstr>Process Concept</vt:lpstr>
      <vt:lpstr>PowerPoint 演示文稿</vt:lpstr>
      <vt:lpstr>Process Concept</vt:lpstr>
      <vt:lpstr>Process Concept</vt:lpstr>
      <vt:lpstr>Process Concept</vt:lpstr>
      <vt:lpstr>Process Concept</vt:lpstr>
      <vt:lpstr>Memory Layout of a C Program</vt:lpstr>
      <vt:lpstr>Process Concept</vt:lpstr>
      <vt:lpstr>Process Concept</vt:lpstr>
      <vt:lpstr>Process Concept</vt:lpstr>
      <vt:lpstr>Process Concept</vt:lpstr>
      <vt:lpstr>Process Concept</vt:lpstr>
      <vt:lpstr>Process State</vt:lpstr>
      <vt:lpstr>Diagram of Process State</vt:lpstr>
      <vt:lpstr>Process Control Block (PCB)</vt:lpstr>
      <vt:lpstr>Process Control Block (PCB)</vt:lpstr>
      <vt:lpstr>Process Control Block (PCB)</vt:lpstr>
      <vt:lpstr>Process Control Block (PCB)</vt:lpstr>
      <vt:lpstr>Process Control Block (PCB)</vt:lpstr>
      <vt:lpstr>Process Scheduling Queues</vt:lpstr>
      <vt:lpstr>Ready Queue And Various I/O Device Queues</vt:lpstr>
      <vt:lpstr>Representation of Process Scheduling</vt:lpstr>
      <vt:lpstr>Schedulers</vt:lpstr>
      <vt:lpstr>Addition of Medium Term Scheduling</vt:lpstr>
      <vt:lpstr>Schedulers (Cont)</vt:lpstr>
      <vt:lpstr>Schedulers (Cont)</vt:lpstr>
      <vt:lpstr>Context Switch</vt:lpstr>
      <vt:lpstr>Context Switch</vt:lpstr>
      <vt:lpstr>CPU Switch From Process to Process</vt:lpstr>
      <vt:lpstr>Context Switch</vt:lpstr>
      <vt:lpstr>Context Switch</vt:lpstr>
      <vt:lpstr> Question 1</vt:lpstr>
      <vt:lpstr> Question 2</vt:lpstr>
      <vt:lpstr> Question 3</vt:lpstr>
      <vt:lpstr> Question 3</vt:lpstr>
      <vt:lpstr> Question 3</vt:lpstr>
      <vt:lpstr> Question 3</vt:lpstr>
      <vt:lpstr> Question 3</vt:lpstr>
      <vt:lpstr> Question 3</vt:lpstr>
      <vt:lpstr>Operations on processes</vt:lpstr>
      <vt:lpstr>Operations on processes</vt:lpstr>
      <vt:lpstr>Process Creation</vt:lpstr>
      <vt:lpstr>A tree of processes on a typical Solaris</vt:lpstr>
      <vt:lpstr>Process Creation (Cont)</vt:lpstr>
      <vt:lpstr>C Program Forking Separate Process</vt:lpstr>
      <vt:lpstr>Process Creation</vt:lpstr>
      <vt:lpstr>Process creation</vt:lpstr>
      <vt:lpstr>Process Creation</vt:lpstr>
      <vt:lpstr>Process Creation</vt:lpstr>
      <vt:lpstr>C Program Forking Separate Process</vt:lpstr>
      <vt:lpstr>C Program Forking Separate Process</vt:lpstr>
      <vt:lpstr>Process Creation</vt:lpstr>
      <vt:lpstr>Process Termination</vt:lpstr>
      <vt:lpstr>PowerPoint 演示文稿</vt:lpstr>
      <vt:lpstr>Process blocking and wakeup</vt:lpstr>
      <vt:lpstr>Process Blocking</vt:lpstr>
      <vt:lpstr>Process wakeup</vt:lpstr>
      <vt:lpstr>Diagram of Process State</vt:lpstr>
      <vt:lpstr>挂起状态的引入 </vt:lpstr>
      <vt:lpstr>Interprocess Communication</vt:lpstr>
      <vt:lpstr>Interprocess Communication</vt:lpstr>
      <vt:lpstr>Communications Models </vt:lpstr>
      <vt:lpstr>PowerPoint 演示文稿</vt:lpstr>
      <vt:lpstr>Producer-Consumer Problem</vt:lpstr>
      <vt:lpstr>Bounded-Buffer – Shared-Memory Solution</vt:lpstr>
      <vt:lpstr>Bounded-Buffer – Producer</vt:lpstr>
      <vt:lpstr>Bounded Buffer – Consumer</vt:lpstr>
      <vt:lpstr>Interprocess Communication – Message Passing</vt:lpstr>
      <vt:lpstr>Implementation Questions</vt:lpstr>
      <vt:lpstr>PowerPoint 演示文稿</vt:lpstr>
      <vt:lpstr>Direct Communication</vt:lpstr>
      <vt:lpstr>Indirect Communication</vt:lpstr>
      <vt:lpstr>Indirect Communication</vt:lpstr>
      <vt:lpstr>Indirect Communication</vt:lpstr>
      <vt:lpstr>直接通信与间接通信的区别</vt:lpstr>
      <vt:lpstr>Message-passing----Synchronization</vt:lpstr>
      <vt:lpstr>Buffering</vt:lpstr>
      <vt:lpstr>Local Procedure Calls in Windows XP</vt:lpstr>
      <vt:lpstr>Communications in Client-Server Systems</vt:lpstr>
      <vt:lpstr>Sockets</vt:lpstr>
      <vt:lpstr>Socket Communication</vt:lpstr>
      <vt:lpstr>Remote Procedure Calls</vt:lpstr>
      <vt:lpstr>Execution of RPC</vt:lpstr>
      <vt:lpstr>Remote Method Invocation</vt:lpstr>
      <vt:lpstr>Marshalling Parameters</vt:lpstr>
      <vt:lpstr>PowerPoint 演示文稿</vt:lpstr>
      <vt:lpstr>PowerPoint 演示文稿</vt:lpstr>
      <vt:lpstr>PowerPoint 演示文稿</vt:lpstr>
      <vt:lpstr>PowerPoint 演示文稿</vt:lpstr>
      <vt:lpstr>PowerPoint 演示文稿</vt:lpstr>
      <vt:lpstr>PowerPoint 演示文稿</vt:lpstr>
      <vt:lpstr>End of Chapter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Processes</dc:title>
  <dc:creator>Marilyn Turnamian</dc:creator>
  <cp:lastModifiedBy>鸽 王</cp:lastModifiedBy>
  <cp:revision>322</cp:revision>
  <cp:lastPrinted>2001-06-14T14:14:54Z</cp:lastPrinted>
  <dcterms:created xsi:type="dcterms:W3CDTF">2008-07-20T15:16:37Z</dcterms:created>
  <dcterms:modified xsi:type="dcterms:W3CDTF">2025-09-19T07:19:52Z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F46461BCBAF143E98F1C12A391E17C16_12</vt:lpwstr>
  </property>
  <property fmtid="{D5CDD505-2E9C-101B-9397-08002B2CF9AE}" pid="3" name="KSOProductBuildVer">
    <vt:lpwstr>2052-12.1.0.22529</vt:lpwstr>
  </property>
</Properties>
</file>