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5"/>
  </p:notesMasterIdLst>
  <p:handoutMasterIdLst>
    <p:handoutMasterId r:id="rId26"/>
  </p:handoutMasterIdLst>
  <p:sldIdLst>
    <p:sldId id="389" r:id="rId2"/>
    <p:sldId id="401" r:id="rId3"/>
    <p:sldId id="499" r:id="rId4"/>
    <p:sldId id="565" r:id="rId5"/>
    <p:sldId id="487" r:id="rId6"/>
    <p:sldId id="564" r:id="rId7"/>
    <p:sldId id="492" r:id="rId8"/>
    <p:sldId id="494" r:id="rId9"/>
    <p:sldId id="495" r:id="rId10"/>
    <p:sldId id="505" r:id="rId11"/>
    <p:sldId id="496" r:id="rId12"/>
    <p:sldId id="502" r:id="rId13"/>
    <p:sldId id="568" r:id="rId14"/>
    <p:sldId id="407" r:id="rId15"/>
    <p:sldId id="428" r:id="rId16"/>
    <p:sldId id="572" r:id="rId17"/>
    <p:sldId id="519" r:id="rId18"/>
    <p:sldId id="574" r:id="rId19"/>
    <p:sldId id="573" r:id="rId20"/>
    <p:sldId id="576" r:id="rId21"/>
    <p:sldId id="575" r:id="rId22"/>
    <p:sldId id="520" r:id="rId23"/>
    <p:sldId id="522" r:id="rId24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 userDrawn="1">
          <p15:clr>
            <a:srgbClr val="A4A3A4"/>
          </p15:clr>
        </p15:guide>
        <p15:guide id="2" pos="5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61" autoAdjust="0"/>
    <p:restoredTop sz="58676" autoAdjust="0"/>
  </p:normalViewPr>
  <p:slideViewPr>
    <p:cSldViewPr snapToGrid="0">
      <p:cViewPr varScale="1">
        <p:scale>
          <a:sx n="62" d="100"/>
          <a:sy n="62" d="100"/>
        </p:scale>
        <p:origin x="2592" y="176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E3F7ED50-653D-1A43-8E64-104BD56332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91849A2A-872E-8E4F-B2A8-C5E728A49A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9204" name="Rectangle 4">
            <a:extLst>
              <a:ext uri="{FF2B5EF4-FFF2-40B4-BE49-F238E27FC236}">
                <a16:creationId xmlns:a16="http://schemas.microsoft.com/office/drawing/2014/main" id="{24697C6A-9A89-1E47-870D-C27EB1C81B4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4B7D330E-E128-D64A-B2EB-15799894190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4CCA1C5-74F3-2448-9A05-E2FEAC7066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F4E81FA7-5A0A-D84A-9322-363FFE8BCD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729F79CC-385C-764E-8225-C00CDEC9FF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07DEAAF-43B5-1942-BAE8-29B22652965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17C86527-32B6-AB45-8CB4-1FAD3B6EC4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83784BA1-6AC3-F849-B25B-070B19DE0F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734521C1-31B9-0F43-BBCF-49C793B703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9BF2832-E68E-7241-8029-3013C2FB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4B80EBF-FFD3-0C4B-924F-2CC661B01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91D51E-D2E7-1742-AC66-2AA86ED6FA5D}" type="slidenum">
              <a:rPr lang="en-US" altLang="zh-CN" smtClean="0">
                <a:latin typeface="Helvetica" pitchFamily="2" charset="0"/>
              </a:rPr>
              <a:pPr/>
              <a:t>1</a:t>
            </a:fld>
            <a:endParaRPr lang="en-US" altLang="zh-CN">
              <a:latin typeface="Helvetica" pitchFamily="2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A2D3FB63-EF3B-5649-AFA2-C75F46CF5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89A13B7-84CF-DC4D-8215-FEDF4D991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B4738D3-57D2-744F-B0B1-C3DBAA4A64E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660" tIns="48329" rIns="96660" bIns="48329" anchor="b"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E38D48B6-5BD9-8E49-8277-E62B5A1AB11D}" type="slidenum">
              <a:rPr lang="zh-CN" altLang="en-US" sz="1300">
                <a:latin typeface="Times New Roman" panose="02020603050405020304" pitchFamily="18" charset="0"/>
                <a:ea typeface="MS PGothic" panose="020B0600070205080204" pitchFamily="34" charset="-128"/>
              </a:rPr>
              <a:pPr algn="r"/>
              <a:t>2</a:t>
            </a:fld>
            <a:endParaRPr lang="en-US" altLang="zh-CN" sz="130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37D2AE70-7853-EF4E-9E4A-8BE9ACA3C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FD436B0-17BF-B749-9625-05756A42C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虽然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覆盖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技术本身被淘汰，但其“只在内存中保留当前必需代码”的思想，在某些特定领域依然以另一种形式存在：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嵌入式系统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：在一些没有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MMU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的微控制器上，无法实现虚拟内存，程序员有时仍会使用类似覆盖的手动技术来管理内存和代码。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BF2832-E68E-7241-8029-3013C2FB2AE5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1622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BF2832-E68E-7241-8029-3013C2FB2AE5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4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>
            <a:extLst>
              <a:ext uri="{FF2B5EF4-FFF2-40B4-BE49-F238E27FC236}">
                <a16:creationId xmlns:a16="http://schemas.microsoft.com/office/drawing/2014/main" id="{FE211BAB-4D1F-E346-8199-07BB5CAB3A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1F3370D-33EC-F54F-B8C9-8FDA78DC32F1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5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ABC55126-ACCD-0344-BF8B-4C44D63BA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BCF58CF-9469-394B-8BCC-E607090E2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>
            <a:extLst>
              <a:ext uri="{FF2B5EF4-FFF2-40B4-BE49-F238E27FC236}">
                <a16:creationId xmlns:a16="http://schemas.microsoft.com/office/drawing/2014/main" id="{F2E29C8A-5925-6F46-9CC9-784E4C341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587D9F9-5E0B-9A4F-B48C-BEA17B3078A6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6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4A706B63-FFE5-E446-AF31-01E45880D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CC4DF88-5F84-E648-B859-CA4E3A994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C5D89C99-66B6-9947-A177-D2A471C0A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2B4377F-ABC9-1946-BA7A-4AECCF9AF489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7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A4EA2C72-4359-EC4D-8833-C9EEB70A58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C3C1517-262A-5942-B9F9-C8F9D1976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DCC89FC9-4369-D746-A2A4-1A484A8E56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C3BA4B-B64F-6343-8656-3A3CF0B7278A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8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6ADE7B0-522B-3B4A-8C80-439F739817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9BEDAD9-B10B-1F43-AF73-3A336642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942D7190-9F01-B749-848E-A1AA715846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8AB4892-FEF8-2947-9345-E7170190F0A5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9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9F5B88D-AC52-E846-8329-603D295E8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25AC773-A424-8841-9A2C-91B3A7A35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DA9B2A1D-D409-DA4B-A85D-139637905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2FE90DE-A3C0-674F-85FB-1B048DD0BAD4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10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DD140F3E-7FCB-F342-8703-F8B7AD778F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66524C0-57B0-9D4B-BC16-63A3154D98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309D4645-32E5-DE4D-B382-9483B25D78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DD4BB15-3F27-9A4F-8CFE-A1A90777E0B5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11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5B7E418-62EA-C246-98D8-BF23E30BF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47B15D6-D5A2-B542-8A1F-A97E91D4B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BF2832-E68E-7241-8029-3013C2FB2AE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3747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>
            <a:extLst>
              <a:ext uri="{FF2B5EF4-FFF2-40B4-BE49-F238E27FC236}">
                <a16:creationId xmlns:a16="http://schemas.microsoft.com/office/drawing/2014/main" id="{74109C82-FF32-5A44-9918-3FC7EBC4B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2" name="备注占位符 2">
            <a:extLst>
              <a:ext uri="{FF2B5EF4-FFF2-40B4-BE49-F238E27FC236}">
                <a16:creationId xmlns:a16="http://schemas.microsoft.com/office/drawing/2014/main" id="{4E5FCE00-2034-9E4A-A8EE-4AA3409DF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en-US" altLang="zh-CN" dirty="0"/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9C33F74A-164E-F343-939A-7045C98150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C36A974-9826-4942-985C-9D0EBBD7B035}" type="slidenum">
              <a:rPr lang="en-US" altLang="zh-CN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14</a:t>
            </a:fld>
            <a:endParaRPr lang="en-US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>
            <a:extLst>
              <a:ext uri="{FF2B5EF4-FFF2-40B4-BE49-F238E27FC236}">
                <a16:creationId xmlns:a16="http://schemas.microsoft.com/office/drawing/2014/main" id="{9FC3C419-A449-444A-8F9C-1F9788D3B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8674" name="备注占位符 2">
            <a:extLst>
              <a:ext uri="{FF2B5EF4-FFF2-40B4-BE49-F238E27FC236}">
                <a16:creationId xmlns:a16="http://schemas.microsoft.com/office/drawing/2014/main" id="{056CED92-65D9-4F41-9A6D-337CBF2DB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28675" name="灯片编号占位符 3">
            <a:extLst>
              <a:ext uri="{FF2B5EF4-FFF2-40B4-BE49-F238E27FC236}">
                <a16:creationId xmlns:a16="http://schemas.microsoft.com/office/drawing/2014/main" id="{35B2236E-1C0C-194A-82C9-0EA62A12BE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29AE19B-044F-F04C-ACD7-585E457AE93F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16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>
            <a:extLst>
              <a:ext uri="{FF2B5EF4-FFF2-40B4-BE49-F238E27FC236}">
                <a16:creationId xmlns:a16="http://schemas.microsoft.com/office/drawing/2014/main" id="{8ABB9973-3C8E-854F-935C-37BA031ED2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0722" name="备注占位符 2">
            <a:extLst>
              <a:ext uri="{FF2B5EF4-FFF2-40B4-BE49-F238E27FC236}">
                <a16:creationId xmlns:a16="http://schemas.microsoft.com/office/drawing/2014/main" id="{4D991275-8262-6C45-A7C1-65E3C35AE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30723" name="灯片编号占位符 3">
            <a:extLst>
              <a:ext uri="{FF2B5EF4-FFF2-40B4-BE49-F238E27FC236}">
                <a16:creationId xmlns:a16="http://schemas.microsoft.com/office/drawing/2014/main" id="{468FB43F-B070-6B49-AE43-F631AF65DA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0BB253D-2907-3C4F-B75E-45F85AEC891F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17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>
            <a:extLst>
              <a:ext uri="{FF2B5EF4-FFF2-40B4-BE49-F238E27FC236}">
                <a16:creationId xmlns:a16="http://schemas.microsoft.com/office/drawing/2014/main" id="{26CC271F-1BB9-D04E-83D9-DBD370C27D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3794" name="备注占位符 2">
            <a:extLst>
              <a:ext uri="{FF2B5EF4-FFF2-40B4-BE49-F238E27FC236}">
                <a16:creationId xmlns:a16="http://schemas.microsoft.com/office/drawing/2014/main" id="{22D99575-C536-D44E-BB08-1EA206DFD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33795" name="灯片编号占位符 3">
            <a:extLst>
              <a:ext uri="{FF2B5EF4-FFF2-40B4-BE49-F238E27FC236}">
                <a16:creationId xmlns:a16="http://schemas.microsoft.com/office/drawing/2014/main" id="{74945B03-5853-F94A-B2FA-FC0878AA93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7B422C0-C1D8-C443-A27D-6CA3657BE39F}" type="slidenum">
              <a:rPr lang="zh-CN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>
            <a:extLst>
              <a:ext uri="{FF2B5EF4-FFF2-40B4-BE49-F238E27FC236}">
                <a16:creationId xmlns:a16="http://schemas.microsoft.com/office/drawing/2014/main" id="{E0D7623B-B618-0744-9128-808632A128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0" name="备注占位符 2">
            <a:extLst>
              <a:ext uri="{FF2B5EF4-FFF2-40B4-BE49-F238E27FC236}">
                <a16:creationId xmlns:a16="http://schemas.microsoft.com/office/drawing/2014/main" id="{9D59278A-D2F0-BA46-8F23-0FFE96CE6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9863AD73-2854-4641-801D-8ABBABEE4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4A73073-E46A-0341-92E7-B51B26A8383B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22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AFDCF37D-8A76-EA45-A62E-5D7C24FFC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9938" name="备注占位符 2">
            <a:extLst>
              <a:ext uri="{FF2B5EF4-FFF2-40B4-BE49-F238E27FC236}">
                <a16:creationId xmlns:a16="http://schemas.microsoft.com/office/drawing/2014/main" id="{A5EE04F3-65C5-794F-B97E-DC98D272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9939" name="灯片编号占位符 3">
            <a:extLst>
              <a:ext uri="{FF2B5EF4-FFF2-40B4-BE49-F238E27FC236}">
                <a16:creationId xmlns:a16="http://schemas.microsoft.com/office/drawing/2014/main" id="{B0304B7A-AD02-0744-8DE3-3F3289F46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32179A7-8BA1-5E4F-A809-C7920273A0D9}" type="slidenum">
              <a:rPr lang="zh-CN" altLang="en-US" smtClean="0">
                <a:latin typeface="Helvetica" pitchFamily="2" charset="0"/>
                <a:ea typeface="MS PGothic" panose="020B0600070205080204" pitchFamily="34" charset="-128"/>
              </a:rPr>
              <a:pPr/>
              <a:t>23</a:t>
            </a:fld>
            <a:endParaRPr lang="en-US" altLang="zh-CN">
              <a:latin typeface="Helvetica" pitchFamily="2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391F46D-6E99-4B40-A59F-DC777F54177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FD01E9E7-FA73-7848-B08E-09967F611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DBF1CA3-388E-CD40-BBEF-2D9CF26A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CC7CC45-4601-5345-9C01-79BDBA8A8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AD62434-BDF4-E64B-90C2-2A8EE5C68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7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336699"/>
                </a:solidFill>
                <a:latin typeface="Helvetica" pitchFamily="34" charset="0"/>
                <a:ea typeface="宋体" pitchFamily="2" charset="-122"/>
              </a:rPr>
              <a:t>Silberschatz, Galvin and Gagne ©2009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5E9F562-9F2B-524D-8DC9-020D15BC5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9" y="6613527"/>
            <a:ext cx="2694969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336699"/>
                </a:solidFill>
                <a:latin typeface="Helvetica" pitchFamily="34" charset="0"/>
                <a:ea typeface="宋体" pitchFamily="2" charset="-122"/>
              </a:rPr>
              <a:t>Operating System Concepts – 8</a:t>
            </a:r>
            <a:r>
              <a:rPr lang="en-US" altLang="zh-CN" sz="1000" b="1" baseline="30000">
                <a:solidFill>
                  <a:srgbClr val="336699"/>
                </a:solidFill>
                <a:latin typeface="Helvetica" pitchFamily="34" charset="0"/>
                <a:ea typeface="宋体" pitchFamily="2" charset="-122"/>
              </a:rPr>
              <a:t>th</a:t>
            </a:r>
            <a:r>
              <a:rPr lang="en-US" altLang="zh-CN" sz="1000" b="1">
                <a:solidFill>
                  <a:srgbClr val="336699"/>
                </a:solidFill>
                <a:latin typeface="Helvetica" pitchFamily="34" charset="0"/>
                <a:ea typeface="宋体" pitchFamily="2" charset="-122"/>
              </a:rPr>
              <a:t> Edition,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4F9D3EE2-FA59-A942-B3D6-58538096D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17AEDB54-D531-6E47-8B2A-6E82BE2E8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4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79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2432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743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6450" y="123349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97450" y="123349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2199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9573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446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27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005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902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679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7813"/>
            <a:ext cx="6281738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0021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AC27C02C-A1EA-E04C-8205-9F1FBB2A0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CE5E9075-6406-A845-BFC0-52463EA8E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D26C34-694E-9D47-B848-91D33DBAF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9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5D4A22-CD31-5D46-AD77-E5465CCA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DB0714B5-16D4-F640-9B47-051DBF8A5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EA14001-BF82-D545-A691-5C94B12AF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FFF463F-F3C8-774F-85EF-77A701375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9F8BEC7A-3A9F-5949-B078-CBE6C3BE3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879" y="6613527"/>
            <a:ext cx="51809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006699"/>
                </a:solidFill>
                <a:latin typeface="Helvetica" pitchFamily="2" charset="0"/>
                <a:ea typeface="宋体" panose="02010600030101010101" pitchFamily="2" charset="-122"/>
              </a:rPr>
              <a:t>10.</a:t>
            </a:r>
            <a:fld id="{EC22085B-1063-0648-9B4B-C344D8A5B503}" type="slidenum">
              <a:rPr lang="en-US" altLang="zh-CN" sz="1000" b="1" smtClean="0">
                <a:solidFill>
                  <a:srgbClr val="006699"/>
                </a:solidFill>
                <a:latin typeface="Helvetica" pitchFamily="2" charset="0"/>
                <a:ea typeface="宋体" panose="02010600030101010101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zh-CN" sz="1000" b="1">
              <a:solidFill>
                <a:srgbClr val="006699"/>
              </a:solidFill>
              <a:latin typeface="Helvetica" pitchFamily="2" charset="0"/>
              <a:ea typeface="宋体" panose="02010600030101010101" pitchFamily="2" charset="-122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848D7E51-3E6B-784A-B2C1-A786FAF8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7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006699"/>
                </a:solidFill>
                <a:latin typeface="Helvetica" pitchFamily="34" charset="0"/>
                <a:ea typeface="宋体" pitchFamily="2" charset="-122"/>
              </a:rPr>
              <a:t>Silberschatz, Galvin and Gagne ©2009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9AB3F8AF-F11F-BE41-8BD8-A92ECD33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5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006699"/>
                </a:solidFill>
                <a:latin typeface="Helvetica" pitchFamily="34" charset="0"/>
                <a:ea typeface="宋体" pitchFamily="2" charset="-122"/>
              </a:rPr>
              <a:t>Operating System Concepts – 8</a:t>
            </a:r>
            <a:r>
              <a:rPr lang="en-US" altLang="zh-CN" sz="1000" b="1" baseline="30000">
                <a:solidFill>
                  <a:srgbClr val="006699"/>
                </a:solidFill>
                <a:latin typeface="Helvetica" pitchFamily="34" charset="0"/>
                <a:ea typeface="宋体" pitchFamily="2" charset="-122"/>
              </a:rPr>
              <a:t>th</a:t>
            </a:r>
            <a:r>
              <a:rPr lang="en-US" altLang="zh-CN" sz="1000" b="1">
                <a:solidFill>
                  <a:srgbClr val="006699"/>
                </a:solidFill>
                <a:latin typeface="Helvetica" pitchFamily="34" charset="0"/>
                <a:ea typeface="宋体" pitchFamily="2" charset="-122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4A2E2F0-3A76-A94B-BD4F-3507928B0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9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18" r:id="rId2"/>
    <p:sldLayoutId id="2147484219" r:id="rId3"/>
    <p:sldLayoutId id="2147484220" r:id="rId4"/>
    <p:sldLayoutId id="2147484221" r:id="rId5"/>
    <p:sldLayoutId id="2147484222" r:id="rId6"/>
    <p:sldLayoutId id="2147484223" r:id="rId7"/>
    <p:sldLayoutId id="2147484224" r:id="rId8"/>
    <p:sldLayoutId id="2147484225" r:id="rId9"/>
    <p:sldLayoutId id="2147484226" r:id="rId10"/>
    <p:sldLayoutId id="214748422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4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4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4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4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4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059E78A7-0DC6-EE41-937B-2129EAE16F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2141" y="1178711"/>
            <a:ext cx="7772400" cy="1005352"/>
          </a:xfrm>
        </p:spPr>
        <p:txBody>
          <a:bodyPr/>
          <a:lstStyle/>
          <a:p>
            <a:pPr eaLnBrk="1" hangingPunct="1"/>
            <a:r>
              <a:rPr lang="zh-CN" altLang="en-US" sz="4400" dirty="0"/>
              <a:t>第</a:t>
            </a:r>
            <a:r>
              <a:rPr lang="en-US" altLang="zh-CN" sz="4400" dirty="0"/>
              <a:t>8-9</a:t>
            </a:r>
            <a:r>
              <a:rPr lang="zh-CN" altLang="en-US" sz="4400" dirty="0"/>
              <a:t>章 内存管理</a:t>
            </a:r>
            <a:endParaRPr lang="en-US" altLang="zh-CN" sz="4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7EBA31-6DBD-5C4F-9A43-B1DDC0407204}"/>
              </a:ext>
            </a:extLst>
          </p:cNvPr>
          <p:cNvSpPr txBox="1"/>
          <p:nvPr/>
        </p:nvSpPr>
        <p:spPr>
          <a:xfrm>
            <a:off x="6188026" y="5050302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计算机学院 丁菡</a:t>
            </a:r>
            <a:endParaRPr kumimoji="1"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47BF0B-63BA-F447-B7E4-082D02452B5E}"/>
              </a:ext>
            </a:extLst>
          </p:cNvPr>
          <p:cNvSpPr txBox="1"/>
          <p:nvPr/>
        </p:nvSpPr>
        <p:spPr>
          <a:xfrm>
            <a:off x="5800100" y="5584874"/>
            <a:ext cx="26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dinghan@xjtu.edu.cn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58F2AE41-B129-8544-AA7E-42D928398C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内存管理 </a:t>
            </a:r>
            <a:r>
              <a:rPr lang="en-US" altLang="zh-CN">
                <a:ea typeface="宋体" panose="02010600030101010101" pitchFamily="2" charset="-122"/>
              </a:rPr>
              <a:t>Review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00DED7B5-7728-C14C-9156-E02FF0D45F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0850" y="942977"/>
            <a:ext cx="8693150" cy="5146675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Physical memory space is always not large enough for us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Our programs are getting larger and larger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We want to run as many as possible programs at the same time 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How to meet these requirements?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To provide an extremely large </a:t>
            </a: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logical </a:t>
            </a:r>
            <a:r>
              <a:rPr lang="en-US" altLang="zh-CN" sz="2000" dirty="0">
                <a:ea typeface="宋体" panose="02010600030101010101" pitchFamily="2" charset="-122"/>
              </a:rPr>
              <a:t>memory</a:t>
            </a:r>
          </a:p>
          <a:p>
            <a:pPr>
              <a:buFont typeface="Monotype Sorts" pitchFamily="2" charset="2"/>
              <a:buNone/>
            </a:pP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把内存和磁盘结合起来使用，从而得到一个容量很大的“内存”，即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虚存</a:t>
            </a: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虚存是对内存的抽象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，构建在存储体系之上，由</a:t>
            </a:r>
            <a:r>
              <a:rPr lang="en-US" altLang="zh-CN" sz="2000" dirty="0">
                <a:ea typeface="宋体" panose="02010600030101010101" pitchFamily="2" charset="-122"/>
              </a:rPr>
              <a:t>OS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协调各存储器的使用</a:t>
            </a:r>
            <a:endParaRPr lang="en-US" altLang="zh-CN" sz="2000" dirty="0"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资源转换技术：以                  和                 换取昂贵内存空间</a:t>
            </a:r>
          </a:p>
          <a:p>
            <a:pPr>
              <a:buFont typeface="Monotype Sorts" pitchFamily="2" charset="2"/>
              <a:buNone/>
            </a:pP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EC21D32-A3CB-F34C-95D0-9BAA94DE454B}"/>
              </a:ext>
            </a:extLst>
          </p:cNvPr>
          <p:cNvGrpSpPr>
            <a:grpSpLocks/>
          </p:cNvGrpSpPr>
          <p:nvPr/>
        </p:nvGrpSpPr>
        <p:grpSpPr bwMode="auto">
          <a:xfrm>
            <a:off x="4319588" y="2982913"/>
            <a:ext cx="4279900" cy="1325562"/>
            <a:chOff x="1586204" y="3806888"/>
            <a:chExt cx="4870580" cy="1866125"/>
          </a:xfrm>
        </p:grpSpPr>
        <p:sp>
          <p:nvSpPr>
            <p:cNvPr id="5128" name="矩形 1">
              <a:extLst>
                <a:ext uri="{FF2B5EF4-FFF2-40B4-BE49-F238E27FC236}">
                  <a16:creationId xmlns:a16="http://schemas.microsoft.com/office/drawing/2014/main" id="{CE8C9B67-55E3-C542-9D01-8BB838077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204" y="4217437"/>
              <a:ext cx="1436913" cy="145557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  <a:ea typeface="MS PGothic" panose="020B0600070205080204" pitchFamily="34" charset="-128"/>
                </a:rPr>
                <a:t>  </a:t>
              </a:r>
              <a:r>
                <a:rPr kumimoji="0"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进程的</a:t>
              </a:r>
              <a:endParaRPr kumimoji="0" lang="en-US" altLang="zh-CN" sz="180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地址空间</a:t>
              </a:r>
              <a:endParaRPr kumimoji="0" lang="en-US" altLang="zh-CN" sz="180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黑体" panose="02010609060101010101" pitchFamily="49" charset="-122"/>
                  <a:ea typeface="黑体" panose="02010609060101010101" pitchFamily="49" charset="-122"/>
                </a:rPr>
                <a:t>（虚拟内存）</a:t>
              </a:r>
            </a:p>
          </p:txBody>
        </p:sp>
        <p:sp>
          <p:nvSpPr>
            <p:cNvPr id="5129" name="右箭头 2">
              <a:extLst>
                <a:ext uri="{FF2B5EF4-FFF2-40B4-BE49-F238E27FC236}">
                  <a16:creationId xmlns:a16="http://schemas.microsoft.com/office/drawing/2014/main" id="{C76338B9-2FA7-4344-BA46-894F229F0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408" y="4945225"/>
              <a:ext cx="989045" cy="261257"/>
            </a:xfrm>
            <a:prstGeom prst="rightArrow">
              <a:avLst>
                <a:gd name="adj1" fmla="val 50000"/>
                <a:gd name="adj2" fmla="val 50003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5130" name="矩形 5">
              <a:extLst>
                <a:ext uri="{FF2B5EF4-FFF2-40B4-BE49-F238E27FC236}">
                  <a16:creationId xmlns:a16="http://schemas.microsoft.com/office/drawing/2014/main" id="{6781378A-03E2-D44F-9ABD-6ADF74EE6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032" y="5206481"/>
              <a:ext cx="1996752" cy="466531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  <a:ea typeface="MS PGothic" panose="020B0600070205080204" pitchFamily="34" charset="-128"/>
                </a:rPr>
                <a:t>磁盘</a:t>
              </a:r>
            </a:p>
          </p:txBody>
        </p:sp>
        <p:sp>
          <p:nvSpPr>
            <p:cNvPr id="5131" name="矩形 6">
              <a:extLst>
                <a:ext uri="{FF2B5EF4-FFF2-40B4-BE49-F238E27FC236}">
                  <a16:creationId xmlns:a16="http://schemas.microsoft.com/office/drawing/2014/main" id="{E5CAE476-C3E5-0444-8E39-30AF5F5D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306" y="4739950"/>
              <a:ext cx="1530221" cy="466531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  <a:ea typeface="MS PGothic" panose="020B0600070205080204" pitchFamily="34" charset="-128"/>
                </a:rPr>
                <a:t>内存</a:t>
              </a:r>
            </a:p>
          </p:txBody>
        </p:sp>
        <p:sp>
          <p:nvSpPr>
            <p:cNvPr id="5132" name="矩形 7">
              <a:extLst>
                <a:ext uri="{FF2B5EF4-FFF2-40B4-BE49-F238E27FC236}">
                  <a16:creationId xmlns:a16="http://schemas.microsoft.com/office/drawing/2014/main" id="{82DDEF1D-F7F1-614A-B3E7-ECBE8CB54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918" y="4273419"/>
              <a:ext cx="1156996" cy="466531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latin typeface="Verdana" panose="020B0604030504040204" pitchFamily="34" charset="0"/>
                  <a:ea typeface="MS PGothic" panose="020B0600070205080204" pitchFamily="34" charset="-128"/>
                </a:rPr>
                <a:t>Cache</a:t>
              </a: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5133" name="矩形 8">
              <a:extLst>
                <a:ext uri="{FF2B5EF4-FFF2-40B4-BE49-F238E27FC236}">
                  <a16:creationId xmlns:a16="http://schemas.microsoft.com/office/drawing/2014/main" id="{24E5A7A9-A444-8A48-9085-3E47092B8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869" y="3806888"/>
              <a:ext cx="839754" cy="466531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  <a:ea typeface="MS PGothic" panose="020B0600070205080204" pitchFamily="34" charset="-128"/>
                </a:rPr>
                <a:t>寄存器</a:t>
              </a:r>
            </a:p>
          </p:txBody>
        </p:sp>
      </p:grp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107EE47-EAC0-E34A-BAA8-253090C5E1B2}"/>
              </a:ext>
            </a:extLst>
          </p:cNvPr>
          <p:cNvCxnSpPr>
            <a:cxnSpLocks/>
          </p:cNvCxnSpPr>
          <p:nvPr/>
        </p:nvCxnSpPr>
        <p:spPr bwMode="auto">
          <a:xfrm>
            <a:off x="3360740" y="6326188"/>
            <a:ext cx="11715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CDC6C10-F645-3A4C-94D5-D023D551E469}"/>
              </a:ext>
            </a:extLst>
          </p:cNvPr>
          <p:cNvCxnSpPr>
            <a:cxnSpLocks/>
          </p:cNvCxnSpPr>
          <p:nvPr/>
        </p:nvCxnSpPr>
        <p:spPr bwMode="auto">
          <a:xfrm>
            <a:off x="4840290" y="6332538"/>
            <a:ext cx="106203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4597DE6-8456-0048-A535-351C330B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263" y="5886450"/>
            <a:ext cx="1116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  <a:ea typeface="MS PGothic" panose="020B0600070205080204" pitchFamily="34" charset="-128"/>
              </a:rPr>
              <a:t>CPU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3B3DE5-AE72-6047-B069-7DC2F0E7B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5861050"/>
            <a:ext cx="1116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Heiti SC Medium" pitchFamily="2" charset="-128"/>
                <a:ea typeface="Heiti SC Medium" pitchFamily="2" charset="-128"/>
              </a:rPr>
              <a:t>磁盘空间</a:t>
            </a:r>
            <a:endParaRPr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>
            <a:extLst>
              <a:ext uri="{FF2B5EF4-FFF2-40B4-BE49-F238E27FC236}">
                <a16:creationId xmlns:a16="http://schemas.microsoft.com/office/drawing/2014/main" id="{0328B8CA-3B25-FD4C-9A18-D3F33A5B6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Heiti SC Medium" pitchFamily="2" charset="-128"/>
                <a:ea typeface="Heiti SC Medium" pitchFamily="2" charset="-128"/>
              </a:rPr>
              <a:t>内存“扩充”技术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82C463-CBF3-B041-B985-50604D0C1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en" altLang="zh-CN" sz="2400" dirty="0">
                <a:latin typeface="+mn-ea"/>
                <a:ea typeface="+mn-ea"/>
              </a:rPr>
              <a:t>Compaction</a:t>
            </a: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 内存紧缩技术</a:t>
            </a:r>
            <a:endParaRPr lang="en-US" altLang="zh-CN" sz="2400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Swapping</a:t>
            </a: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 交换技术   “</a:t>
            </a:r>
            <a:r>
              <a:rPr lang="zh-CN" altLang="en-US" b="1" dirty="0"/>
              <a:t>完全由操作系统自动化管理</a:t>
            </a: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”</a:t>
            </a:r>
            <a:endParaRPr lang="en-US" altLang="zh-CN" sz="2400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Overlaying</a:t>
            </a:r>
            <a:r>
              <a:rPr lang="zh-CN" altLang="en-US" dirty="0">
                <a:latin typeface="+mn-ea"/>
              </a:rPr>
              <a:t> 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覆盖技术 “</a:t>
            </a:r>
            <a:r>
              <a:rPr lang="zh-CN" altLang="en-US" b="1" dirty="0"/>
              <a:t>只在内存中保留当前必需代码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”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Virtual</a:t>
            </a: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memory</a:t>
            </a:r>
            <a:r>
              <a:rPr lang="zh-CN" altLang="en-US" sz="2400" dirty="0">
                <a:latin typeface="Heiti SC Medium" pitchFamily="2" charset="-128"/>
                <a:ea typeface="Heiti SC Medium" pitchFamily="2" charset="-128"/>
              </a:rPr>
              <a:t> 虚拟存储技术</a:t>
            </a:r>
            <a:endParaRPr lang="en-US" altLang="zh-CN" sz="2400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sz="2400" dirty="0">
              <a:latin typeface="Heiti SC Medium" pitchFamily="2" charset="-128"/>
              <a:ea typeface="Heiti SC Medium" pitchFamily="2" charset="-128"/>
            </a:endParaRPr>
          </a:p>
          <a:p>
            <a:pPr marL="0" indent="0">
              <a:buFont typeface="Monotype Sorts" pitchFamily="2" charset="2"/>
              <a:buNone/>
              <a:defRPr/>
            </a:pPr>
            <a:endParaRPr lang="en-US" altLang="zh-CN" sz="2400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zh-CN" altLang="en-US" sz="2400" dirty="0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53251" name="云形标注 3">
            <a:extLst>
              <a:ext uri="{FF2B5EF4-FFF2-40B4-BE49-F238E27FC236}">
                <a16:creationId xmlns:a16="http://schemas.microsoft.com/office/drawing/2014/main" id="{5BC02BB6-1675-3743-843F-E6702D9C1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700463"/>
            <a:ext cx="3200400" cy="1527175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如何解决在较小的内存</a:t>
            </a:r>
            <a:endParaRPr kumimoji="0"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空间运行较大的进程呢？</a:t>
            </a:r>
          </a:p>
        </p:txBody>
      </p:sp>
      <p:sp>
        <p:nvSpPr>
          <p:cNvPr id="53252" name="矩形 4">
            <a:extLst>
              <a:ext uri="{FF2B5EF4-FFF2-40B4-BE49-F238E27FC236}">
                <a16:creationId xmlns:a16="http://schemas.microsoft.com/office/drawing/2014/main" id="{9A4FECF9-F4E9-BF43-AE03-8E344C1B6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3498850"/>
            <a:ext cx="1336675" cy="2438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800">
              <a:latin typeface="Verdana" panose="020B060403050404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800">
              <a:latin typeface="Verdana" panose="020B060403050404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进程</a:t>
            </a:r>
            <a:endParaRPr kumimoji="0"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  <a:endParaRPr kumimoji="0"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空间</a:t>
            </a:r>
          </a:p>
        </p:txBody>
      </p:sp>
      <p:sp>
        <p:nvSpPr>
          <p:cNvPr id="53253" name="矩形 6">
            <a:extLst>
              <a:ext uri="{FF2B5EF4-FFF2-40B4-BE49-F238E27FC236}">
                <a16:creationId xmlns:a16="http://schemas.microsoft.com/office/drawing/2014/main" id="{7672BB71-51B3-FB46-AE45-D3F7A214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175" y="4040188"/>
            <a:ext cx="1011238" cy="1355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800">
              <a:latin typeface="Verdana" panose="020B060403050404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物理</a:t>
            </a:r>
            <a:endParaRPr kumimoji="0"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内存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D5B6CB38-8E76-6846-BDC9-32717E46A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基本内存管理方案总结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B3C825C-11F9-C145-8BE6-2080DADB1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712482"/>
              </p:ext>
            </p:extLst>
          </p:nvPr>
        </p:nvGraphicFramePr>
        <p:xfrm>
          <a:off x="457201" y="970732"/>
          <a:ext cx="8578850" cy="42383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512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固定分区</a:t>
                      </a:r>
                    </a:p>
                  </a:txBody>
                  <a:tcPr marL="91460" marR="91460" marT="45683" marB="4568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把可分配的内存空间分割成</a:t>
                      </a:r>
                      <a:r>
                        <a:rPr lang="zh-CN" altLang="en-US" sz="1800" b="0" u="sng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若干个连续区域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，每一区域称为分区。每个分区的大小可以相同也可不同，</a:t>
                      </a:r>
                      <a:r>
                        <a:rPr lang="zh-CN" altLang="en-US" sz="1800" b="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分区大小固定不变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，</a:t>
                      </a:r>
                      <a:r>
                        <a:rPr lang="zh-CN" altLang="en-US" sz="1800" b="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每个分区装一个且只能装一个进程</a:t>
                      </a:r>
                    </a:p>
                  </a:txBody>
                  <a:tcPr marL="91460" marR="91460" marT="45683" marB="4568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0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可变分区</a:t>
                      </a:r>
                    </a:p>
                  </a:txBody>
                  <a:tcPr marL="91460" marR="91460" marT="45683" marB="45683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根据进程的需求，把可分配的内存空间分割出一个分区，分配给该进程</a:t>
                      </a:r>
                    </a:p>
                  </a:txBody>
                  <a:tcPr marL="91460" marR="91460" marT="45683" marB="4568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段式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（将可变分区应用于单个进程）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Heiti SC Medium" pitchFamily="2" charset="-128"/>
                        <a:ea typeface="Heiti SC Medium" pitchFamily="2" charset="-128"/>
                        <a:cs typeface="+mn-cs"/>
                      </a:endParaRPr>
                    </a:p>
                  </a:txBody>
                  <a:tcPr marL="91460" marR="91460" marT="45683" marB="45683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用户程序地址空间按进程自身的逻辑关系划分为若干段，内存空间被动态得划分为长度不相同的区域（</a:t>
                      </a:r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可变分区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）。</a:t>
                      </a:r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以段为单位分配内存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，每个段在内存中占据连续空间，各段之间可以不连续存放。</a:t>
                      </a:r>
                    </a:p>
                  </a:txBody>
                  <a:tcPr marL="91460" marR="91460" marT="45683" marB="456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53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页式</a:t>
                      </a:r>
                    </a:p>
                  </a:txBody>
                  <a:tcPr marL="91460" marR="91460" marT="45683" marB="45683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把用户程序地址空间分为大小相等的部分，称为</a:t>
                      </a:r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页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。内存空间按页大小划分为大小相同的区域，称为</a:t>
                      </a:r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帧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（内存块，物理页面，页框）。</a:t>
                      </a:r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以页为单位进行分配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，逻辑上相邻的页，物理上不一定相邻</a:t>
                      </a:r>
                    </a:p>
                  </a:txBody>
                  <a:tcPr marL="91460" marR="91460" marT="45683" marB="45683"/>
                </a:tc>
                <a:extLst>
                  <a:ext uri="{0D108BD9-81ED-4DB2-BD59-A6C34878D82A}">
                    <a16:rowId xmlns:a16="http://schemas.microsoft.com/office/drawing/2014/main" val="410791201"/>
                  </a:ext>
                </a:extLst>
              </a:tr>
              <a:tr h="9767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段页式</a:t>
                      </a:r>
                    </a:p>
                    <a:p>
                      <a:pPr algn="l"/>
                      <a:endParaRPr lang="zh-CN" altLang="en-US" sz="1800" b="1" kern="1200" dirty="0">
                        <a:solidFill>
                          <a:schemeClr val="tx1"/>
                        </a:solidFill>
                        <a:latin typeface="Heiti SC Medium" pitchFamily="2" charset="-128"/>
                        <a:ea typeface="Heiti SC Medium" pitchFamily="2" charset="-128"/>
                        <a:cs typeface="+mn-cs"/>
                      </a:endParaRPr>
                    </a:p>
                  </a:txBody>
                  <a:tcPr marL="91460" marR="91460" marT="45683" marB="45683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用户程序地址空间：段式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Heiti SC Medium" pitchFamily="2" charset="-128"/>
                        <a:ea typeface="Heiti SC Medium" pitchFamily="2" charset="-128"/>
                        <a:cs typeface="+mn-cs"/>
                      </a:endParaRPr>
                    </a:p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内存空间：页式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Heiti SC Medium" pitchFamily="2" charset="-128"/>
                        <a:ea typeface="Heiti SC Medium" pitchFamily="2" charset="-128"/>
                        <a:cs typeface="+mn-cs"/>
                      </a:endParaRPr>
                    </a:p>
                    <a:p>
                      <a:pPr algn="l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分配单位：页</a:t>
                      </a:r>
                    </a:p>
                  </a:txBody>
                  <a:tcPr marL="91460" marR="91460" marT="45683" marB="4568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848F820-2237-AF43-BD6F-39329661DB1F}"/>
              </a:ext>
            </a:extLst>
          </p:cNvPr>
          <p:cNvSpPr txBox="1"/>
          <p:nvPr/>
        </p:nvSpPr>
        <p:spPr>
          <a:xfrm>
            <a:off x="457200" y="5189032"/>
            <a:ext cx="85788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0F1115"/>
                </a:solidFill>
                <a:latin typeface="quote-cjk-patch"/>
              </a:rPr>
              <a:t>所有现代的通用操作系统（</a:t>
            </a:r>
            <a:r>
              <a:rPr lang="en-US" altLang="zh-CN" sz="1600" dirty="0">
                <a:solidFill>
                  <a:srgbClr val="0F1115"/>
                </a:solidFill>
                <a:latin typeface="quote-cjk-patch"/>
              </a:rPr>
              <a:t>Windows, Linux, macOS, Android, iOS </a:t>
            </a:r>
            <a:r>
              <a:rPr lang="zh-CN" altLang="en-US" sz="1600" dirty="0">
                <a:solidFill>
                  <a:srgbClr val="0F1115"/>
                </a:solidFill>
                <a:latin typeface="quote-cjk-patch"/>
              </a:rPr>
              <a:t>等）都基于分页机制来管理物理内存</a:t>
            </a:r>
            <a:endParaRPr lang="en-US" altLang="zh-CN" sz="160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在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x86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等架构上，操作系统以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段页式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的形式存在，但这是一种 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“形式上结合，实质上偏向分页”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 的模式</a:t>
            </a:r>
            <a:endParaRPr lang="en-US" altLang="zh-CN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在其他架构（如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ARMv8-A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）中，其内存管理模型从一开始就是基于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纯分页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的</a:t>
            </a:r>
            <a:endParaRPr kumimoji="1"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050">
            <a:extLst>
              <a:ext uri="{FF2B5EF4-FFF2-40B4-BE49-F238E27FC236}">
                <a16:creationId xmlns:a16="http://schemas.microsoft.com/office/drawing/2014/main" id="{7852574A-6233-6449-BC9F-73DECC167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8194" name="Rectangle 2051">
            <a:extLst>
              <a:ext uri="{FF2B5EF4-FFF2-40B4-BE49-F238E27FC236}">
                <a16:creationId xmlns:a16="http://schemas.microsoft.com/office/drawing/2014/main" id="{249B5B5C-EB5C-9E4E-B857-883398383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397875" cy="4911725"/>
          </a:xfrm>
        </p:spPr>
        <p:txBody>
          <a:bodyPr/>
          <a:lstStyle/>
          <a:p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虚拟地址（逻辑地址、程序地址）以十六进制、八进制、二进制形式给出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将虚地址转换为二进制数</a:t>
            </a:r>
            <a:endParaRPr lang="en-US" altLang="zh-CN" sz="2000"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分离出页号和位移量</a:t>
            </a:r>
            <a:endParaRPr lang="en-US" altLang="zh-CN" sz="2000">
              <a:latin typeface="Heiti SC Medium" pitchFamily="2" charset="-128"/>
              <a:ea typeface="Heiti SC Medium" pitchFamily="2" charset="-128"/>
            </a:endParaRPr>
          </a:p>
          <a:p>
            <a:pPr lvl="2"/>
            <a:r>
              <a:rPr lang="zh-CN" altLang="en-US" sz="1600">
                <a:latin typeface="Heiti SC Medium" pitchFamily="2" charset="-128"/>
                <a:ea typeface="Heiti SC Medium" pitchFamily="2" charset="-128"/>
              </a:rPr>
              <a:t>低位部分：位移量</a:t>
            </a:r>
            <a:endParaRPr lang="en-US" altLang="zh-CN" sz="1600">
              <a:latin typeface="Heiti SC Medium" pitchFamily="2" charset="-128"/>
              <a:ea typeface="Heiti SC Medium" pitchFamily="2" charset="-128"/>
            </a:endParaRPr>
          </a:p>
          <a:p>
            <a:pPr lvl="2"/>
            <a:r>
              <a:rPr lang="zh-CN" altLang="en-US" sz="1600">
                <a:latin typeface="Heiti SC Medium" pitchFamily="2" charset="-128"/>
                <a:ea typeface="Heiti SC Medium" pitchFamily="2" charset="-128"/>
              </a:rPr>
              <a:t>高位部分：页号</a:t>
            </a:r>
            <a:endParaRPr lang="en-US" altLang="zh-CN" sz="1600"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将</a:t>
            </a:r>
            <a:r>
              <a:rPr lang="zh-CN" altLang="en-US" sz="200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位移量</a:t>
            </a:r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直接复制到</a:t>
            </a:r>
            <a:r>
              <a:rPr lang="zh-CN" altLang="en-US" sz="200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内存地址寄存器的低位部分</a:t>
            </a:r>
            <a:endParaRPr lang="en-US" altLang="zh-CN" sz="200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 lvl="1"/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以页号查页表，得到对应页装入内存的块号，并将</a:t>
            </a:r>
            <a:r>
              <a:rPr lang="zh-CN" altLang="en-US" sz="200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块号</a:t>
            </a:r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转换为二进制数填入</a:t>
            </a:r>
            <a:r>
              <a:rPr lang="zh-CN" altLang="en-US" sz="200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地址寄存器的高位部分</a:t>
            </a:r>
            <a:r>
              <a:rPr lang="zh-CN" altLang="en-US" sz="2000">
                <a:latin typeface="Heiti SC Medium" pitchFamily="2" charset="-128"/>
                <a:ea typeface="Heiti SC Medium" pitchFamily="2" charset="-128"/>
              </a:rPr>
              <a:t>，从而形成内存地址</a:t>
            </a:r>
            <a:endParaRPr lang="en-US" altLang="zh-CN" sz="2000">
              <a:latin typeface="Heiti SC Medium" pitchFamily="2" charset="-128"/>
              <a:ea typeface="Heiti SC Medium" pitchFamily="2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050">
            <a:extLst>
              <a:ext uri="{FF2B5EF4-FFF2-40B4-BE49-F238E27FC236}">
                <a16:creationId xmlns:a16="http://schemas.microsoft.com/office/drawing/2014/main" id="{6D14DA2A-43FF-174D-9FB4-BB1DF07AA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5474" name="Rectangle 2051">
            <a:extLst>
              <a:ext uri="{FF2B5EF4-FFF2-40B4-BE49-F238E27FC236}">
                <a16:creationId xmlns:a16="http://schemas.microsoft.com/office/drawing/2014/main" id="{C7F52927-ECA4-E44C-99AD-7F5844687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397875" cy="4911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虚拟地址以十进制给出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页号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 err="1">
                <a:latin typeface="Heiti SC Medium" pitchFamily="2" charset="-128"/>
                <a:ea typeface="Heiti SC Medium" pitchFamily="2" charset="-128"/>
              </a:rPr>
              <a:t>int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(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虚地址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/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页大小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)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           </a:t>
            </a:r>
            <a:r>
              <a:rPr lang="zh-CN" altLang="en-US" sz="2000" u="sng" dirty="0">
                <a:latin typeface="Heiti SC Medium" pitchFamily="2" charset="-128"/>
                <a:ea typeface="Heiti SC Medium" pitchFamily="2" charset="-128"/>
              </a:rPr>
              <a:t>取整</a:t>
            </a:r>
            <a:endParaRPr lang="en-US" altLang="zh-CN" sz="2000" u="sng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位移量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虚地址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mod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页大小      </a:t>
            </a:r>
            <a:r>
              <a:rPr lang="zh-CN" altLang="en-US" sz="2000" u="sng" dirty="0">
                <a:latin typeface="Heiti SC Medium" pitchFamily="2" charset="-128"/>
                <a:ea typeface="Heiti SC Medium" pitchFamily="2" charset="-128"/>
              </a:rPr>
              <a:t>取余</a:t>
            </a:r>
            <a:endParaRPr lang="en-US" altLang="zh-CN" sz="2000" u="sng" dirty="0">
              <a:latin typeface="Heiti SC Medium" pitchFamily="2" charset="-128"/>
              <a:ea typeface="Heiti SC Medium" pitchFamily="2" charset="-128"/>
            </a:endParaRPr>
          </a:p>
          <a:p>
            <a:pPr marL="342900" lvl="1" indent="-342900">
              <a:buClr>
                <a:srgbClr val="993300"/>
              </a:buClr>
              <a:buSzPct val="90000"/>
              <a:buFont typeface="Monotype Sorts" pitchFamily="2" charset="2"/>
              <a:buChar char="n"/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  <a:cs typeface="+mn-cs"/>
              </a:rPr>
              <a:t>以页号查页表，得到对应页装入内存的块号</a:t>
            </a:r>
            <a:endParaRPr lang="en-US" altLang="zh-CN" dirty="0">
              <a:latin typeface="Heiti SC Medium" pitchFamily="2" charset="-128"/>
              <a:ea typeface="Heiti SC Medium" pitchFamily="2" charset="-128"/>
              <a:cs typeface="+mn-cs"/>
            </a:endParaRPr>
          </a:p>
          <a:p>
            <a:pPr marL="342900" lvl="1" indent="-342900">
              <a:buClr>
                <a:srgbClr val="993300"/>
              </a:buClr>
              <a:buSzPct val="90000"/>
              <a:buFont typeface="Monotype Sorts" pitchFamily="2" charset="2"/>
              <a:buChar char="n"/>
              <a:defRPr/>
            </a:pP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n-cs"/>
              </a:rPr>
              <a:t>内存地址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n-cs"/>
              </a:rPr>
              <a:t>=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n-cs"/>
              </a:rPr>
              <a:t> 块号 * 页大小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n-cs"/>
              </a:rPr>
              <a:t>+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cs typeface="+mn-cs"/>
              </a:rPr>
              <a:t> 位移量</a:t>
            </a:r>
            <a:endParaRPr lang="en-US" altLang="zh-CN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050">
            <a:extLst>
              <a:ext uri="{FF2B5EF4-FFF2-40B4-BE49-F238E27FC236}">
                <a16:creationId xmlns:a16="http://schemas.microsoft.com/office/drawing/2014/main" id="{1EEFF26D-9DEC-024A-9835-F329BCB26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5474" name="Rectangle 2051">
            <a:extLst>
              <a:ext uri="{FF2B5EF4-FFF2-40B4-BE49-F238E27FC236}">
                <a16:creationId xmlns:a16="http://schemas.microsoft.com/office/drawing/2014/main" id="{2BE7F59D-7C52-9F4C-BABA-07B00BC9B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123237" cy="4911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例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1.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 一个系统采用页式存储管理，有一个作业大小是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8KB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，页大小为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2KB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，依次装入内存的第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7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9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A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5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块，试将虚地址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0AFEH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1ADDH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转换为内存地址。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虚地址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0AFEH</a:t>
            </a:r>
          </a:p>
          <a:p>
            <a:pPr lvl="1">
              <a:defRPr/>
            </a:pP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0000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1110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页内偏移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1110</a:t>
            </a:r>
            <a:endParaRPr lang="en-US" altLang="zh-CN" sz="2000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块号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0100</a:t>
            </a:r>
            <a:r>
              <a:rPr lang="zh-CN" altLang="en-US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0100</a:t>
            </a:r>
            <a:r>
              <a:rPr lang="zh-CN" altLang="en-US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 marL="457200" lvl="1" indent="0">
              <a:buNone/>
              <a:defRPr/>
            </a:pP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                    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4AFEH</a:t>
            </a:r>
          </a:p>
          <a:p>
            <a:pPr lvl="1">
              <a:defRPr/>
            </a:pP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E9B63BB-029E-404C-8413-569D19B1FCFE}"/>
              </a:ext>
            </a:extLst>
          </p:cNvPr>
          <p:cNvGraphicFramePr>
            <a:graphicFrameLocks noGrp="1"/>
          </p:cNvGraphicFramePr>
          <p:nvPr/>
        </p:nvGraphicFramePr>
        <p:xfrm>
          <a:off x="6121402" y="2832100"/>
          <a:ext cx="1700214" cy="24463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页号</a:t>
                      </a: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块号</a:t>
                      </a: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0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7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9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A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5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050">
            <a:extLst>
              <a:ext uri="{FF2B5EF4-FFF2-40B4-BE49-F238E27FC236}">
                <a16:creationId xmlns:a16="http://schemas.microsoft.com/office/drawing/2014/main" id="{68CA55D9-BFB2-9247-8A14-21A393EE2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5474" name="Rectangle 2051">
            <a:extLst>
              <a:ext uri="{FF2B5EF4-FFF2-40B4-BE49-F238E27FC236}">
                <a16:creationId xmlns:a16="http://schemas.microsoft.com/office/drawing/2014/main" id="{F6E9D33A-7716-1F46-9D61-D8D29B2A5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123237" cy="4911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例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1.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 有一个系统采用页式存储管理，有一个作业大小是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8KB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，页大小为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2KB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，依次装入内存的第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7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9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A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5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块，试将虚地址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0AFEH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、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1ADDH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转换为内存地址。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虚地址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1ADDH</a:t>
            </a:r>
          </a:p>
          <a:p>
            <a:pPr lvl="1">
              <a:defRPr/>
            </a:pP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0001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页内偏移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  <a:endParaRPr lang="en-US" altLang="zh-CN" sz="2000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块号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0010</a:t>
            </a:r>
            <a:r>
              <a:rPr lang="zh-CN" altLang="en-US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0010</a:t>
            </a:r>
            <a:r>
              <a:rPr lang="zh-CN" altLang="en-US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010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1101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 marL="457200" lvl="1" indent="0">
              <a:buNone/>
              <a:defRPr/>
            </a:pP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                    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2ADDH</a:t>
            </a:r>
          </a:p>
          <a:p>
            <a:pPr lvl="1">
              <a:defRPr/>
            </a:pP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0233AF1-5524-194B-9CAB-E873C3EB77A3}"/>
              </a:ext>
            </a:extLst>
          </p:cNvPr>
          <p:cNvGraphicFramePr>
            <a:graphicFrameLocks noGrp="1"/>
          </p:cNvGraphicFramePr>
          <p:nvPr/>
        </p:nvGraphicFramePr>
        <p:xfrm>
          <a:off x="6121402" y="2832100"/>
          <a:ext cx="1700214" cy="24463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页号</a:t>
                      </a: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块号</a:t>
                      </a: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0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7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9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A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5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050">
            <a:extLst>
              <a:ext uri="{FF2B5EF4-FFF2-40B4-BE49-F238E27FC236}">
                <a16:creationId xmlns:a16="http://schemas.microsoft.com/office/drawing/2014/main" id="{58296E2D-B2BE-F74A-AE49-CDBD054DE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6386" name="Rectangle 2051">
            <a:extLst>
              <a:ext uri="{FF2B5EF4-FFF2-40B4-BE49-F238E27FC236}">
                <a16:creationId xmlns:a16="http://schemas.microsoft.com/office/drawing/2014/main" id="{AE8C81E9-B99C-DA48-B4B9-D07B316BD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123237" cy="4911725"/>
          </a:xfrm>
        </p:spPr>
        <p:txBody>
          <a:bodyPr/>
          <a:lstStyle/>
          <a:p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例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2.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 若在一分页存储管理系统中，某作业的页表如下所示。已知页面大小为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1024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字节，试将逻辑地址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1011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2148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4000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>
                <a:latin typeface="Heiti SC Medium" pitchFamily="2" charset="-128"/>
                <a:ea typeface="Heiti SC Medium" pitchFamily="2" charset="-128"/>
              </a:rPr>
              <a:t>5012</a:t>
            </a:r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转化为相应的物理地址。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  <a:p>
            <a:endParaRPr lang="en-US" altLang="zh-CN">
              <a:latin typeface="Heiti SC Medium" pitchFamily="2" charset="-128"/>
              <a:ea typeface="Heiti SC Medium" pitchFamily="2" charset="-128"/>
            </a:endParaRPr>
          </a:p>
          <a:p>
            <a:pPr lvl="1"/>
            <a:endParaRPr lang="en-US" altLang="zh-CN" sz="200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A45885-F769-B64D-9AD1-F36320E6EC4E}"/>
              </a:ext>
            </a:extLst>
          </p:cNvPr>
          <p:cNvGraphicFramePr>
            <a:graphicFrameLocks noGrp="1"/>
          </p:cNvGraphicFramePr>
          <p:nvPr/>
        </p:nvGraphicFramePr>
        <p:xfrm>
          <a:off x="6121402" y="2832100"/>
          <a:ext cx="1700214" cy="24463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页号</a:t>
                      </a: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块号</a:t>
                      </a: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0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6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050">
            <a:extLst>
              <a:ext uri="{FF2B5EF4-FFF2-40B4-BE49-F238E27FC236}">
                <a16:creationId xmlns:a16="http://schemas.microsoft.com/office/drawing/2014/main" id="{D4064F2F-3B84-904B-A011-F33644139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5474" name="Rectangle 2051">
            <a:extLst>
              <a:ext uri="{FF2B5EF4-FFF2-40B4-BE49-F238E27FC236}">
                <a16:creationId xmlns:a16="http://schemas.microsoft.com/office/drawing/2014/main" id="{2CFE607B-51A9-B942-AB67-B2E90A0C5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1117602"/>
            <a:ext cx="8123237" cy="4911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例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2.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 若在一分页存储管理系统中，某作业的页表如下所示。已知页面大小为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1024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字节，试将逻辑地址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1011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2148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4000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5012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转化为相应的物理地址。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块号 * 页大小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+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位移量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虚地址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1011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页号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p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 err="1">
                <a:latin typeface="Heiti SC Medium" pitchFamily="2" charset="-128"/>
                <a:ea typeface="Heiti SC Medium" pitchFamily="2" charset="-128"/>
              </a:rPr>
              <a:t>int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(1011/1024)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0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页内偏移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d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1011%1024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1011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块号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1024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*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2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＋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1011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＝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3059</a:t>
            </a:r>
          </a:p>
          <a:p>
            <a:pPr lvl="1">
              <a:defRPr/>
            </a:pP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4C7D05-0E44-BE43-BBB3-C1A59D509723}"/>
              </a:ext>
            </a:extLst>
          </p:cNvPr>
          <p:cNvGraphicFramePr>
            <a:graphicFrameLocks noGrp="1"/>
          </p:cNvGraphicFramePr>
          <p:nvPr/>
        </p:nvGraphicFramePr>
        <p:xfrm>
          <a:off x="6121402" y="2832100"/>
          <a:ext cx="1700214" cy="24463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页号</a:t>
                      </a: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块号</a:t>
                      </a: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0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6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050">
            <a:extLst>
              <a:ext uri="{FF2B5EF4-FFF2-40B4-BE49-F238E27FC236}">
                <a16:creationId xmlns:a16="http://schemas.microsoft.com/office/drawing/2014/main" id="{3A2962B3-3770-5D4A-8654-44C58F24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页式地址变换</a:t>
            </a:r>
            <a:endParaRPr lang="en-US" altLang="zh-CN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105474" name="Rectangle 2051">
            <a:extLst>
              <a:ext uri="{FF2B5EF4-FFF2-40B4-BE49-F238E27FC236}">
                <a16:creationId xmlns:a16="http://schemas.microsoft.com/office/drawing/2014/main" id="{A0A308B0-8F48-C94A-8087-EFFE24C70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565" y="976315"/>
            <a:ext cx="8123237" cy="4911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例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2.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 若在一分页存储管理系统中，某作业的页表如下所示。已知页面大小为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1024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字节，试将逻辑地址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1011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2148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4000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-US" altLang="zh-CN" dirty="0">
                <a:latin typeface="Heiti SC Medium" pitchFamily="2" charset="-128"/>
                <a:ea typeface="Heiti SC Medium" pitchFamily="2" charset="-128"/>
              </a:rPr>
              <a:t>5012</a:t>
            </a: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转化为相应的物理地址。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块号 * 页大小 </a:t>
            </a:r>
            <a:r>
              <a:rPr lang="en-US" altLang="zh-CN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+</a:t>
            </a:r>
            <a:r>
              <a:rPr lang="zh-CN" altLang="en-US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位移量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虚地址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2148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页号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p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 err="1">
                <a:latin typeface="Heiti SC Medium" pitchFamily="2" charset="-128"/>
                <a:ea typeface="Heiti SC Medium" pitchFamily="2" charset="-128"/>
              </a:rPr>
              <a:t>int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(2148/1024)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2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页内偏移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d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2148%1024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100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块号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Heiti SC Medium" pitchFamily="2" charset="-128"/>
                <a:ea typeface="Heiti SC Medium" pitchFamily="2" charset="-128"/>
              </a:rPr>
              <a:t>1</a:t>
            </a:r>
          </a:p>
          <a:p>
            <a:pPr lvl="1">
              <a:defRPr/>
            </a:pP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内存地址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=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1024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*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＋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100</a:t>
            </a:r>
            <a:r>
              <a:rPr lang="zh-CN" altLang="en-US" sz="2000" dirty="0">
                <a:latin typeface="Heiti SC Medium" pitchFamily="2" charset="-128"/>
                <a:ea typeface="Heiti SC Medium" pitchFamily="2" charset="-128"/>
              </a:rPr>
              <a:t>＝</a:t>
            </a:r>
            <a:r>
              <a:rPr lang="en-US" altLang="zh-CN" sz="2000" dirty="0">
                <a:latin typeface="Heiti SC Medium" pitchFamily="2" charset="-128"/>
                <a:ea typeface="Heiti SC Medium" pitchFamily="2" charset="-128"/>
              </a:rPr>
              <a:t>1124</a:t>
            </a:r>
          </a:p>
          <a:p>
            <a:pPr marL="457200" lvl="1" indent="0">
              <a:buNone/>
              <a:defRPr/>
            </a:pP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 marL="457200" lvl="1" indent="0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4000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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7072</a:t>
            </a:r>
          </a:p>
          <a:p>
            <a:pPr marL="457200" lvl="1" indent="0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5012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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 </a:t>
            </a:r>
            <a:r>
              <a:rPr lang="en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p</a:t>
            </a:r>
            <a:r>
              <a:rPr lang="zh-CN" altLang="e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＝</a:t>
            </a:r>
            <a:r>
              <a:rPr lang="en" altLang="zh-CN" sz="2000" dirty="0" err="1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int</a:t>
            </a:r>
            <a:r>
              <a:rPr lang="zh-CN" altLang="e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（</a:t>
            </a:r>
            <a:r>
              <a:rPr lang="en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5012/1024</a:t>
            </a:r>
            <a:r>
              <a:rPr lang="zh-CN" altLang="e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）＝</a:t>
            </a:r>
            <a:r>
              <a:rPr lang="en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4</a:t>
            </a:r>
            <a:r>
              <a:rPr lang="en-US" altLang="zh-CN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,</a:t>
            </a:r>
            <a:r>
              <a:rPr lang="zh-CN" altLang="en-US" sz="200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Wingdings" pitchFamily="2" charset="2"/>
              </a:rPr>
              <a:t>因页号超过页表长度，该逻辑地址非法。</a:t>
            </a:r>
            <a:endParaRPr lang="en-US" altLang="zh-CN" sz="2000" dirty="0">
              <a:solidFill>
                <a:srgbClr val="C00000"/>
              </a:solidFill>
              <a:latin typeface="Heiti SC Medium" pitchFamily="2" charset="-128"/>
              <a:ea typeface="Heiti SC Medium" pitchFamily="2" charset="-128"/>
            </a:endParaRPr>
          </a:p>
          <a:p>
            <a:pPr>
              <a:defRPr/>
            </a:pP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85C2CF0-A168-B94A-B4F7-BDD1B735020F}"/>
              </a:ext>
            </a:extLst>
          </p:cNvPr>
          <p:cNvGraphicFramePr>
            <a:graphicFrameLocks noGrp="1"/>
          </p:cNvGraphicFramePr>
          <p:nvPr/>
        </p:nvGraphicFramePr>
        <p:xfrm>
          <a:off x="6121402" y="2832100"/>
          <a:ext cx="1700214" cy="24463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页号</a:t>
                      </a: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块号</a:t>
                      </a: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0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2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1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3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6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L="91471" marR="91471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D7AE5C01-034A-984D-81E5-6B48F04C9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Heiti SC Medium" pitchFamily="2" charset="-128"/>
                <a:ea typeface="Heiti SC Medium" pitchFamily="2" charset="-128"/>
              </a:rPr>
              <a:t>例题</a:t>
            </a:r>
          </a:p>
        </p:txBody>
      </p:sp>
      <p:pic>
        <p:nvPicPr>
          <p:cNvPr id="22530" name="内容占位符 5">
            <a:extLst>
              <a:ext uri="{FF2B5EF4-FFF2-40B4-BE49-F238E27FC236}">
                <a16:creationId xmlns:a16="http://schemas.microsoft.com/office/drawing/2014/main" id="{6FA1CBE8-5F43-0B40-B054-1D3FB8F735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1877" y="1095377"/>
            <a:ext cx="6670675" cy="4530725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271B74-2C30-7640-BEC8-269B218EA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63" y="3983038"/>
            <a:ext cx="49149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圆角矩形 3">
            <a:extLst>
              <a:ext uri="{FF2B5EF4-FFF2-40B4-BE49-F238E27FC236}">
                <a16:creationId xmlns:a16="http://schemas.microsoft.com/office/drawing/2014/main" id="{8BF80FB6-2ED8-9B41-87C1-DCE8F8732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7" y="917575"/>
            <a:ext cx="2168525" cy="34925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54" name="文本框 4">
            <a:extLst>
              <a:ext uri="{FF2B5EF4-FFF2-40B4-BE49-F238E27FC236}">
                <a16:creationId xmlns:a16="http://schemas.microsoft.com/office/drawing/2014/main" id="{9029BAFE-E7F2-1941-811E-934D95D4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915990"/>
            <a:ext cx="2344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开始（程序请求访问一页）</a:t>
            </a:r>
          </a:p>
        </p:txBody>
      </p:sp>
      <p:grpSp>
        <p:nvGrpSpPr>
          <p:cNvPr id="23555" name="组合 8">
            <a:extLst>
              <a:ext uri="{FF2B5EF4-FFF2-40B4-BE49-F238E27FC236}">
                <a16:creationId xmlns:a16="http://schemas.microsoft.com/office/drawing/2014/main" id="{007E451D-7B73-194F-9506-5FAF1F6D96EB}"/>
              </a:ext>
            </a:extLst>
          </p:cNvPr>
          <p:cNvGrpSpPr>
            <a:grpSpLocks/>
          </p:cNvGrpSpPr>
          <p:nvPr/>
        </p:nvGrpSpPr>
        <p:grpSpPr bwMode="auto">
          <a:xfrm>
            <a:off x="1687513" y="1536702"/>
            <a:ext cx="2432050" cy="398463"/>
            <a:chOff x="1624522" y="1721795"/>
            <a:chExt cx="2675103" cy="418290"/>
          </a:xfrm>
        </p:grpSpPr>
        <p:sp>
          <p:nvSpPr>
            <p:cNvPr id="23660" name="矩形 5">
              <a:extLst>
                <a:ext uri="{FF2B5EF4-FFF2-40B4-BE49-F238E27FC236}">
                  <a16:creationId xmlns:a16="http://schemas.microsoft.com/office/drawing/2014/main" id="{5BE3E597-F461-3647-9DBE-51D8EA8DC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277" y="1721796"/>
              <a:ext cx="1157591" cy="4182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61" name="等腰三角形 6">
              <a:extLst>
                <a:ext uri="{FF2B5EF4-FFF2-40B4-BE49-F238E27FC236}">
                  <a16:creationId xmlns:a16="http://schemas.microsoft.com/office/drawing/2014/main" id="{FFE42E7C-CD8E-5D47-9DE3-3CF378006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94755" y="1551562"/>
              <a:ext cx="418289" cy="758756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62" name="等腰三角形 7">
              <a:extLst>
                <a:ext uri="{FF2B5EF4-FFF2-40B4-BE49-F238E27FC236}">
                  <a16:creationId xmlns:a16="http://schemas.microsoft.com/office/drawing/2014/main" id="{7410535E-4B36-F545-A761-9730918012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11102" y="1551562"/>
              <a:ext cx="418289" cy="758756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3556" name="文本框 9">
            <a:extLst>
              <a:ext uri="{FF2B5EF4-FFF2-40B4-BE49-F238E27FC236}">
                <a16:creationId xmlns:a16="http://schemas.microsoft.com/office/drawing/2014/main" id="{CF680D51-87B4-2447-812C-913756F73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5" y="1574802"/>
            <a:ext cx="1685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页号 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 页表长度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0"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4FE3B95-6F16-294C-8912-56FD6949B994}"/>
              </a:ext>
            </a:extLst>
          </p:cNvPr>
          <p:cNvCxnSpPr>
            <a:stCxn id="23661" idx="0"/>
          </p:cNvCxnSpPr>
          <p:nvPr/>
        </p:nvCxnSpPr>
        <p:spPr bwMode="auto">
          <a:xfrm flipH="1" flipV="1">
            <a:off x="1322390" y="1736725"/>
            <a:ext cx="365125" cy="63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58" name="圆角矩形 12">
            <a:extLst>
              <a:ext uri="{FF2B5EF4-FFF2-40B4-BE49-F238E27FC236}">
                <a16:creationId xmlns:a16="http://schemas.microsoft.com/office/drawing/2014/main" id="{2333C703-C2E3-FD47-8ECD-995589315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40" y="1574800"/>
            <a:ext cx="808037" cy="34925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59" name="文本框 13">
            <a:extLst>
              <a:ext uri="{FF2B5EF4-FFF2-40B4-BE49-F238E27FC236}">
                <a16:creationId xmlns:a16="http://schemas.microsoft.com/office/drawing/2014/main" id="{C31A9AB7-1FEB-5F4F-B07F-08678CAC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7" y="1574800"/>
            <a:ext cx="957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越界中断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C60A6D8-B7F3-C94B-95AC-27C8DF7DACE6}"/>
              </a:ext>
            </a:extLst>
          </p:cNvPr>
          <p:cNvCxnSpPr>
            <a:stCxn id="23553" idx="2"/>
            <a:endCxn id="23660" idx="0"/>
          </p:cNvCxnSpPr>
          <p:nvPr/>
        </p:nvCxnSpPr>
        <p:spPr bwMode="auto">
          <a:xfrm>
            <a:off x="2903538" y="1266827"/>
            <a:ext cx="0" cy="269875"/>
          </a:xfrm>
          <a:prstGeom prst="straightConnector1">
            <a:avLst/>
          </a:prstGeom>
          <a:ln w="127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61" name="矩形 17">
            <a:extLst>
              <a:ext uri="{FF2B5EF4-FFF2-40B4-BE49-F238E27FC236}">
                <a16:creationId xmlns:a16="http://schemas.microsoft.com/office/drawing/2014/main" id="{19AC941F-0DBA-EC4D-8945-F26B49836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2278065"/>
            <a:ext cx="1371600" cy="3079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62" name="文本框 18">
            <a:extLst>
              <a:ext uri="{FF2B5EF4-FFF2-40B4-BE49-F238E27FC236}">
                <a16:creationId xmlns:a16="http://schemas.microsoft.com/office/drawing/2014/main" id="{470C091C-A393-8243-8561-0971C2D66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9177" y="2278065"/>
            <a:ext cx="12303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检索快表</a:t>
            </a:r>
          </a:p>
        </p:txBody>
      </p:sp>
      <p:sp>
        <p:nvSpPr>
          <p:cNvPr id="23563" name="文本框 19">
            <a:extLst>
              <a:ext uri="{FF2B5EF4-FFF2-40B4-BE49-F238E27FC236}">
                <a16:creationId xmlns:a16="http://schemas.microsoft.com/office/drawing/2014/main" id="{9CEE36F8-6251-9044-9338-8FF97EF68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90" y="1971677"/>
            <a:ext cx="338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grpSp>
        <p:nvGrpSpPr>
          <p:cNvPr id="23564" name="组合 26">
            <a:extLst>
              <a:ext uri="{FF2B5EF4-FFF2-40B4-BE49-F238E27FC236}">
                <a16:creationId xmlns:a16="http://schemas.microsoft.com/office/drawing/2014/main" id="{90EE11E4-D7C5-4E44-87F6-F7AE1E444469}"/>
              </a:ext>
            </a:extLst>
          </p:cNvPr>
          <p:cNvGrpSpPr>
            <a:grpSpLocks/>
          </p:cNvGrpSpPr>
          <p:nvPr/>
        </p:nvGrpSpPr>
        <p:grpSpPr bwMode="auto">
          <a:xfrm>
            <a:off x="1866902" y="2855913"/>
            <a:ext cx="2092325" cy="400050"/>
            <a:chOff x="1736386" y="2943979"/>
            <a:chExt cx="2092958" cy="398834"/>
          </a:xfrm>
        </p:grpSpPr>
        <p:sp>
          <p:nvSpPr>
            <p:cNvPr id="23657" name="矩形 21">
              <a:extLst>
                <a:ext uri="{FF2B5EF4-FFF2-40B4-BE49-F238E27FC236}">
                  <a16:creationId xmlns:a16="http://schemas.microsoft.com/office/drawing/2014/main" id="{5D801237-796D-6944-A204-740FFD05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567" y="2943980"/>
              <a:ext cx="1328595" cy="3988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58" name="等腰三角形 22">
              <a:extLst>
                <a:ext uri="{FF2B5EF4-FFF2-40B4-BE49-F238E27FC236}">
                  <a16:creationId xmlns:a16="http://schemas.microsoft.com/office/drawing/2014/main" id="{4B82807A-9A19-D341-9DDC-1AC12239D3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28060" y="2952305"/>
              <a:ext cx="398833" cy="382182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59" name="等腰三角形 25">
              <a:extLst>
                <a:ext uri="{FF2B5EF4-FFF2-40B4-BE49-F238E27FC236}">
                  <a16:creationId xmlns:a16="http://schemas.microsoft.com/office/drawing/2014/main" id="{F9D83A43-D443-1147-9B8E-DF32EDBC40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38836" y="2952306"/>
              <a:ext cx="398833" cy="382182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3565" name="文本框 24">
            <a:extLst>
              <a:ext uri="{FF2B5EF4-FFF2-40B4-BE49-F238E27FC236}">
                <a16:creationId xmlns:a16="http://schemas.microsoft.com/office/drawing/2014/main" id="{6AED6969-E07C-0C43-945E-50BE1B0AB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188" y="2901952"/>
            <a:ext cx="18780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页表项是否在快表中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0"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06F095C-6287-4542-B8F3-9A358C8A5669}"/>
              </a:ext>
            </a:extLst>
          </p:cNvPr>
          <p:cNvCxnSpPr>
            <a:stCxn id="23660" idx="2"/>
            <a:endCxn id="23561" idx="0"/>
          </p:cNvCxnSpPr>
          <p:nvPr/>
        </p:nvCxnSpPr>
        <p:spPr bwMode="auto">
          <a:xfrm>
            <a:off x="2903538" y="1935163"/>
            <a:ext cx="0" cy="342900"/>
          </a:xfrm>
          <a:prstGeom prst="straightConnector1">
            <a:avLst/>
          </a:prstGeom>
          <a:ln w="127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67" name="文本框 32">
            <a:extLst>
              <a:ext uri="{FF2B5EF4-FFF2-40B4-BE49-F238E27FC236}">
                <a16:creationId xmlns:a16="http://schemas.microsoft.com/office/drawing/2014/main" id="{56F0DB2C-0124-1041-AF82-367ACFD0D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1763713"/>
            <a:ext cx="3381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sp>
        <p:nvSpPr>
          <p:cNvPr id="23568" name="矩形 33">
            <a:extLst>
              <a:ext uri="{FF2B5EF4-FFF2-40B4-BE49-F238E27FC236}">
                <a16:creationId xmlns:a16="http://schemas.microsoft.com/office/drawing/2014/main" id="{487C158D-3D05-D941-8B13-08138C58D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777" y="3495675"/>
            <a:ext cx="792163" cy="304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69" name="文本框 34">
            <a:extLst>
              <a:ext uri="{FF2B5EF4-FFF2-40B4-BE49-F238E27FC236}">
                <a16:creationId xmlns:a16="http://schemas.microsoft.com/office/drawing/2014/main" id="{2E9550AF-C753-9042-8956-3F2897DBA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15" y="3495675"/>
            <a:ext cx="9286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访问页表</a:t>
            </a:r>
          </a:p>
        </p:txBody>
      </p:sp>
      <p:sp>
        <p:nvSpPr>
          <p:cNvPr id="23570" name="文本框 35">
            <a:extLst>
              <a:ext uri="{FF2B5EF4-FFF2-40B4-BE49-F238E27FC236}">
                <a16:creationId xmlns:a16="http://schemas.microsoft.com/office/drawing/2014/main" id="{1FDD5019-E00C-124E-B6F7-173BC4E12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075" y="3205165"/>
            <a:ext cx="338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EE6AB07-05CB-2340-8056-6C400933DAD2}"/>
              </a:ext>
            </a:extLst>
          </p:cNvPr>
          <p:cNvCxnSpPr>
            <a:stCxn id="23562" idx="2"/>
            <a:endCxn id="23657" idx="0"/>
          </p:cNvCxnSpPr>
          <p:nvPr/>
        </p:nvCxnSpPr>
        <p:spPr bwMode="auto">
          <a:xfrm>
            <a:off x="2903540" y="2586040"/>
            <a:ext cx="9525" cy="269875"/>
          </a:xfrm>
          <a:prstGeom prst="straightConnector1">
            <a:avLst/>
          </a:prstGeom>
          <a:ln w="127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572" name="组合 46">
            <a:extLst>
              <a:ext uri="{FF2B5EF4-FFF2-40B4-BE49-F238E27FC236}">
                <a16:creationId xmlns:a16="http://schemas.microsoft.com/office/drawing/2014/main" id="{35D500E6-4D7F-0C48-BD3B-FBB623131BFF}"/>
              </a:ext>
            </a:extLst>
          </p:cNvPr>
          <p:cNvGrpSpPr>
            <a:grpSpLocks/>
          </p:cNvGrpSpPr>
          <p:nvPr/>
        </p:nvGrpSpPr>
        <p:grpSpPr bwMode="auto">
          <a:xfrm>
            <a:off x="1633540" y="4005265"/>
            <a:ext cx="2560637" cy="407987"/>
            <a:chOff x="1856472" y="4090510"/>
            <a:chExt cx="2560103" cy="408093"/>
          </a:xfrm>
        </p:grpSpPr>
        <p:sp>
          <p:nvSpPr>
            <p:cNvPr id="23654" name="矩形 41">
              <a:extLst>
                <a:ext uri="{FF2B5EF4-FFF2-40B4-BE49-F238E27FC236}">
                  <a16:creationId xmlns:a16="http://schemas.microsoft.com/office/drawing/2014/main" id="{AE9A53C6-B26E-A242-91E1-533B2120E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120" y="4095140"/>
              <a:ext cx="1328595" cy="3988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55" name="等腰三角形 42">
              <a:extLst>
                <a:ext uri="{FF2B5EF4-FFF2-40B4-BE49-F238E27FC236}">
                  <a16:creationId xmlns:a16="http://schemas.microsoft.com/office/drawing/2014/main" id="{EC393A17-57A0-E548-BDBA-56F160E408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67880" y="3979102"/>
              <a:ext cx="398833" cy="621650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56" name="等腰三角形 45">
              <a:extLst>
                <a:ext uri="{FF2B5EF4-FFF2-40B4-BE49-F238E27FC236}">
                  <a16:creationId xmlns:a16="http://schemas.microsoft.com/office/drawing/2014/main" id="{B0527398-B074-D344-BD87-268D4FFFA3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06333" y="3988362"/>
              <a:ext cx="398833" cy="621650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3573" name="文本框 44">
            <a:extLst>
              <a:ext uri="{FF2B5EF4-FFF2-40B4-BE49-F238E27FC236}">
                <a16:creationId xmlns:a16="http://schemas.microsoft.com/office/drawing/2014/main" id="{80FCB3A4-2E8A-9E49-861F-129C8D4D4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4051302"/>
            <a:ext cx="15351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页是否在内存中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0"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34E4141-2CEA-8245-8A03-375832C3E53A}"/>
              </a:ext>
            </a:extLst>
          </p:cNvPr>
          <p:cNvCxnSpPr>
            <a:stCxn id="23657" idx="2"/>
            <a:endCxn id="23569" idx="0"/>
          </p:cNvCxnSpPr>
          <p:nvPr/>
        </p:nvCxnSpPr>
        <p:spPr bwMode="auto">
          <a:xfrm flipH="1">
            <a:off x="2913063" y="3255963"/>
            <a:ext cx="0" cy="2397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75" name="直接箭头连接符 53">
            <a:extLst>
              <a:ext uri="{FF2B5EF4-FFF2-40B4-BE49-F238E27FC236}">
                <a16:creationId xmlns:a16="http://schemas.microsoft.com/office/drawing/2014/main" id="{0CD0D382-381E-BF47-85A6-5D0DEAB1C174}"/>
              </a:ext>
            </a:extLst>
          </p:cNvPr>
          <p:cNvCxnSpPr>
            <a:cxnSpLocks noChangeShapeType="1"/>
            <a:stCxn id="23569" idx="2"/>
            <a:endCxn id="23654" idx="0"/>
          </p:cNvCxnSpPr>
          <p:nvPr/>
        </p:nvCxnSpPr>
        <p:spPr bwMode="auto">
          <a:xfrm>
            <a:off x="2913063" y="3800477"/>
            <a:ext cx="6350" cy="2079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6" name="矩形 57">
            <a:extLst>
              <a:ext uri="{FF2B5EF4-FFF2-40B4-BE49-F238E27FC236}">
                <a16:creationId xmlns:a16="http://schemas.microsoft.com/office/drawing/2014/main" id="{32BEE6B2-8915-964A-8FF2-DA9CCB43E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2" y="4629150"/>
            <a:ext cx="792163" cy="304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77" name="文本框 58">
            <a:extLst>
              <a:ext uri="{FF2B5EF4-FFF2-40B4-BE49-F238E27FC236}">
                <a16:creationId xmlns:a16="http://schemas.microsoft.com/office/drawing/2014/main" id="{82FBBADF-6E0A-8446-96B6-3C27507C6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5" y="4627565"/>
            <a:ext cx="928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修改快表</a:t>
            </a:r>
          </a:p>
        </p:txBody>
      </p:sp>
      <p:cxnSp>
        <p:nvCxnSpPr>
          <p:cNvPr id="23578" name="直接箭头连接符 64">
            <a:extLst>
              <a:ext uri="{FF2B5EF4-FFF2-40B4-BE49-F238E27FC236}">
                <a16:creationId xmlns:a16="http://schemas.microsoft.com/office/drawing/2014/main" id="{94DFA78B-8B3C-8248-B78C-760286071061}"/>
              </a:ext>
            </a:extLst>
          </p:cNvPr>
          <p:cNvCxnSpPr>
            <a:cxnSpLocks noChangeShapeType="1"/>
            <a:stCxn id="23654" idx="2"/>
            <a:endCxn id="23576" idx="0"/>
          </p:cNvCxnSpPr>
          <p:nvPr/>
        </p:nvCxnSpPr>
        <p:spPr bwMode="auto">
          <a:xfrm>
            <a:off x="2919415" y="4408488"/>
            <a:ext cx="3175" cy="2206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9" name="矩形 65">
            <a:extLst>
              <a:ext uri="{FF2B5EF4-FFF2-40B4-BE49-F238E27FC236}">
                <a16:creationId xmlns:a16="http://schemas.microsoft.com/office/drawing/2014/main" id="{2B13A3E7-033A-1842-BB8D-A876AFABA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477" y="5127627"/>
            <a:ext cx="1820863" cy="3079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80" name="文本框 66">
            <a:extLst>
              <a:ext uri="{FF2B5EF4-FFF2-40B4-BE49-F238E27FC236}">
                <a16:creationId xmlns:a16="http://schemas.microsoft.com/office/drawing/2014/main" id="{8733EDE2-CB1E-C34D-8318-F6E0B6F4D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990" y="5113340"/>
            <a:ext cx="18240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修改访问位和修改位</a:t>
            </a:r>
          </a:p>
        </p:txBody>
      </p:sp>
      <p:cxnSp>
        <p:nvCxnSpPr>
          <p:cNvPr id="23581" name="直接箭头连接符 68">
            <a:extLst>
              <a:ext uri="{FF2B5EF4-FFF2-40B4-BE49-F238E27FC236}">
                <a16:creationId xmlns:a16="http://schemas.microsoft.com/office/drawing/2014/main" id="{FBCD273E-548F-4D48-9F9E-00E5ACD01F25}"/>
              </a:ext>
            </a:extLst>
          </p:cNvPr>
          <p:cNvCxnSpPr>
            <a:cxnSpLocks noChangeShapeType="1"/>
            <a:stCxn id="23577" idx="2"/>
            <a:endCxn id="23579" idx="0"/>
          </p:cNvCxnSpPr>
          <p:nvPr/>
        </p:nvCxnSpPr>
        <p:spPr bwMode="auto">
          <a:xfrm>
            <a:off x="2932115" y="4935540"/>
            <a:ext cx="1587" cy="1920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2" name="矩形 71">
            <a:extLst>
              <a:ext uri="{FF2B5EF4-FFF2-40B4-BE49-F238E27FC236}">
                <a16:creationId xmlns:a16="http://schemas.microsoft.com/office/drawing/2014/main" id="{FBA406DD-3E13-0644-9982-4CD1BCA30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8" y="5664200"/>
            <a:ext cx="1263650" cy="2921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83" name="文本框 72">
            <a:extLst>
              <a:ext uri="{FF2B5EF4-FFF2-40B4-BE49-F238E27FC236}">
                <a16:creationId xmlns:a16="http://schemas.microsoft.com/office/drawing/2014/main" id="{20F9A53A-FDDC-F845-85F9-5113652E6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5" y="5637215"/>
            <a:ext cx="1271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形成物理地址</a:t>
            </a:r>
          </a:p>
        </p:txBody>
      </p:sp>
      <p:cxnSp>
        <p:nvCxnSpPr>
          <p:cNvPr id="23584" name="直接箭头连接符 74">
            <a:extLst>
              <a:ext uri="{FF2B5EF4-FFF2-40B4-BE49-F238E27FC236}">
                <a16:creationId xmlns:a16="http://schemas.microsoft.com/office/drawing/2014/main" id="{F5C62C5C-2257-0242-9BA6-FD54C49BC6F9}"/>
              </a:ext>
            </a:extLst>
          </p:cNvPr>
          <p:cNvCxnSpPr>
            <a:cxnSpLocks noChangeShapeType="1"/>
            <a:stCxn id="23579" idx="2"/>
            <a:endCxn id="23582" idx="0"/>
          </p:cNvCxnSpPr>
          <p:nvPr/>
        </p:nvCxnSpPr>
        <p:spPr bwMode="auto">
          <a:xfrm flipH="1">
            <a:off x="2932115" y="5435600"/>
            <a:ext cx="1587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5" name="圆角矩形 80">
            <a:extLst>
              <a:ext uri="{FF2B5EF4-FFF2-40B4-BE49-F238E27FC236}">
                <a16:creationId xmlns:a16="http://schemas.microsoft.com/office/drawing/2014/main" id="{4ACEB851-F7FE-0F4C-A25F-2F27D8270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6184902"/>
            <a:ext cx="1303338" cy="352425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86" name="文本框 81">
            <a:extLst>
              <a:ext uri="{FF2B5EF4-FFF2-40B4-BE49-F238E27FC236}">
                <a16:creationId xmlns:a16="http://schemas.microsoft.com/office/drawing/2014/main" id="{69924DFF-A82C-C04D-98E3-42C2946A4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988" y="6194427"/>
            <a:ext cx="1270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地址变换结束</a:t>
            </a:r>
          </a:p>
        </p:txBody>
      </p:sp>
      <p:cxnSp>
        <p:nvCxnSpPr>
          <p:cNvPr id="23587" name="直接箭头连接符 83">
            <a:extLst>
              <a:ext uri="{FF2B5EF4-FFF2-40B4-BE49-F238E27FC236}">
                <a16:creationId xmlns:a16="http://schemas.microsoft.com/office/drawing/2014/main" id="{E1022EB4-FA63-A041-9CBB-CF1C91CAB94E}"/>
              </a:ext>
            </a:extLst>
          </p:cNvPr>
          <p:cNvCxnSpPr>
            <a:cxnSpLocks noChangeShapeType="1"/>
            <a:stCxn id="23582" idx="2"/>
            <a:endCxn id="23585" idx="0"/>
          </p:cNvCxnSpPr>
          <p:nvPr/>
        </p:nvCxnSpPr>
        <p:spPr bwMode="auto">
          <a:xfrm>
            <a:off x="2932115" y="5956300"/>
            <a:ext cx="7937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3588" name="组合 242">
            <a:extLst>
              <a:ext uri="{FF2B5EF4-FFF2-40B4-BE49-F238E27FC236}">
                <a16:creationId xmlns:a16="http://schemas.microsoft.com/office/drawing/2014/main" id="{00A12E86-E5EE-8D49-8303-2CB2FBC8F348}"/>
              </a:ext>
            </a:extLst>
          </p:cNvPr>
          <p:cNvGrpSpPr>
            <a:grpSpLocks/>
          </p:cNvGrpSpPr>
          <p:nvPr/>
        </p:nvGrpSpPr>
        <p:grpSpPr bwMode="auto">
          <a:xfrm>
            <a:off x="912815" y="3041650"/>
            <a:ext cx="2014537" cy="1963738"/>
            <a:chOff x="913113" y="3042377"/>
            <a:chExt cx="2013811" cy="1962186"/>
          </a:xfrm>
        </p:grpSpPr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96FEBF0A-B13C-ED48-B034-CAF64B314A1C}"/>
                </a:ext>
              </a:extLst>
            </p:cNvPr>
            <p:cNvCxnSpPr/>
            <p:nvPr/>
          </p:nvCxnSpPr>
          <p:spPr bwMode="auto">
            <a:xfrm flipH="1">
              <a:off x="921047" y="3042377"/>
              <a:ext cx="945809" cy="951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52" name="直接连接符 105">
              <a:extLst>
                <a:ext uri="{FF2B5EF4-FFF2-40B4-BE49-F238E27FC236}">
                  <a16:creationId xmlns:a16="http://schemas.microsoft.com/office/drawing/2014/main" id="{CD306494-FCAD-2241-B277-DC7A178D26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16378" y="3043145"/>
              <a:ext cx="1496" cy="196141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53" name="直接箭头连接符 107">
              <a:extLst>
                <a:ext uri="{FF2B5EF4-FFF2-40B4-BE49-F238E27FC236}">
                  <a16:creationId xmlns:a16="http://schemas.microsoft.com/office/drawing/2014/main" id="{C6CA3419-3DC9-D045-AAC5-E9769AF02C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3113" y="5004563"/>
              <a:ext cx="2013811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89" name="文本框 108">
            <a:extLst>
              <a:ext uri="{FF2B5EF4-FFF2-40B4-BE49-F238E27FC236}">
                <a16:creationId xmlns:a16="http://schemas.microsoft.com/office/drawing/2014/main" id="{C5829DD6-5261-184E-B6CE-FC56D7D15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5" y="3375027"/>
            <a:ext cx="338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sp>
        <p:nvSpPr>
          <p:cNvPr id="23590" name="矩形 109">
            <a:extLst>
              <a:ext uri="{FF2B5EF4-FFF2-40B4-BE49-F238E27FC236}">
                <a16:creationId xmlns:a16="http://schemas.microsoft.com/office/drawing/2014/main" id="{1C1925DF-C328-824E-B65D-001022C9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7" y="1219202"/>
            <a:ext cx="1285875" cy="3079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91" name="文本框 110">
            <a:extLst>
              <a:ext uri="{FF2B5EF4-FFF2-40B4-BE49-F238E27FC236}">
                <a16:creationId xmlns:a16="http://schemas.microsoft.com/office/drawing/2014/main" id="{A4D5918D-AC19-0F4C-BC90-97F2321A0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2" y="1189040"/>
            <a:ext cx="12303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保留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现场</a:t>
            </a:r>
          </a:p>
        </p:txBody>
      </p:sp>
      <p:sp>
        <p:nvSpPr>
          <p:cNvPr id="23592" name="矩形 111">
            <a:extLst>
              <a:ext uri="{FF2B5EF4-FFF2-40B4-BE49-F238E27FC236}">
                <a16:creationId xmlns:a16="http://schemas.microsoft.com/office/drawing/2014/main" id="{2B30B395-A6CE-B544-B9FE-F270B6188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7" y="1730377"/>
            <a:ext cx="1641475" cy="3079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93" name="文本框 112">
            <a:extLst>
              <a:ext uri="{FF2B5EF4-FFF2-40B4-BE49-F238E27FC236}">
                <a16:creationId xmlns:a16="http://schemas.microsoft.com/office/drawing/2014/main" id="{F4D755B3-6F36-BA49-BFC8-EE9185863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1719265"/>
            <a:ext cx="163988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从外存中找到缺页</a:t>
            </a:r>
          </a:p>
        </p:txBody>
      </p:sp>
      <p:cxnSp>
        <p:nvCxnSpPr>
          <p:cNvPr id="23594" name="直接箭头连接符 114">
            <a:extLst>
              <a:ext uri="{FF2B5EF4-FFF2-40B4-BE49-F238E27FC236}">
                <a16:creationId xmlns:a16="http://schemas.microsoft.com/office/drawing/2014/main" id="{16CB69BD-39CC-FF45-9F98-8746AB160D7A}"/>
              </a:ext>
            </a:extLst>
          </p:cNvPr>
          <p:cNvCxnSpPr>
            <a:cxnSpLocks noChangeShapeType="1"/>
            <a:stCxn id="23590" idx="2"/>
            <a:endCxn id="23592" idx="0"/>
          </p:cNvCxnSpPr>
          <p:nvPr/>
        </p:nvCxnSpPr>
        <p:spPr bwMode="auto">
          <a:xfrm flipH="1">
            <a:off x="7021513" y="1527175"/>
            <a:ext cx="0" cy="203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3595" name="组合 115">
            <a:extLst>
              <a:ext uri="{FF2B5EF4-FFF2-40B4-BE49-F238E27FC236}">
                <a16:creationId xmlns:a16="http://schemas.microsoft.com/office/drawing/2014/main" id="{FF729982-3B2B-FB43-AFB4-C1EBED6806E3}"/>
              </a:ext>
            </a:extLst>
          </p:cNvPr>
          <p:cNvGrpSpPr>
            <a:grpSpLocks/>
          </p:cNvGrpSpPr>
          <p:nvPr/>
        </p:nvGrpSpPr>
        <p:grpSpPr bwMode="auto">
          <a:xfrm>
            <a:off x="6091238" y="2262188"/>
            <a:ext cx="1858962" cy="398462"/>
            <a:chOff x="1624522" y="1721795"/>
            <a:chExt cx="2675103" cy="418290"/>
          </a:xfrm>
        </p:grpSpPr>
        <p:sp>
          <p:nvSpPr>
            <p:cNvPr id="23648" name="矩形 116">
              <a:extLst>
                <a:ext uri="{FF2B5EF4-FFF2-40B4-BE49-F238E27FC236}">
                  <a16:creationId xmlns:a16="http://schemas.microsoft.com/office/drawing/2014/main" id="{265EC823-3E80-E34D-A242-D668B55C3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277" y="1721796"/>
              <a:ext cx="1157591" cy="4182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49" name="等腰三角形 117">
              <a:extLst>
                <a:ext uri="{FF2B5EF4-FFF2-40B4-BE49-F238E27FC236}">
                  <a16:creationId xmlns:a16="http://schemas.microsoft.com/office/drawing/2014/main" id="{A11B47C4-B7F3-2744-A520-964D6CAD66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94755" y="1551562"/>
              <a:ext cx="418289" cy="758756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50" name="等腰三角形 118">
              <a:extLst>
                <a:ext uri="{FF2B5EF4-FFF2-40B4-BE49-F238E27FC236}">
                  <a16:creationId xmlns:a16="http://schemas.microsoft.com/office/drawing/2014/main" id="{8026A206-2104-5840-B439-147CD15175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11102" y="1551562"/>
              <a:ext cx="418289" cy="758756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3596" name="文本框 119">
            <a:extLst>
              <a:ext uri="{FF2B5EF4-FFF2-40B4-BE49-F238E27FC236}">
                <a16:creationId xmlns:a16="http://schemas.microsoft.com/office/drawing/2014/main" id="{621B1CE7-007D-854D-AFCB-FE875A88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2292352"/>
            <a:ext cx="1049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是否满存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0"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3597" name="直接箭头连接符 121">
            <a:extLst>
              <a:ext uri="{FF2B5EF4-FFF2-40B4-BE49-F238E27FC236}">
                <a16:creationId xmlns:a16="http://schemas.microsoft.com/office/drawing/2014/main" id="{620FE6B8-E7F5-854E-BEEA-B6CB437D7580}"/>
              </a:ext>
            </a:extLst>
          </p:cNvPr>
          <p:cNvCxnSpPr>
            <a:cxnSpLocks noChangeShapeType="1"/>
            <a:stCxn id="23592" idx="2"/>
            <a:endCxn id="23648" idx="0"/>
          </p:cNvCxnSpPr>
          <p:nvPr/>
        </p:nvCxnSpPr>
        <p:spPr bwMode="auto">
          <a:xfrm flipH="1">
            <a:off x="7021513" y="2038350"/>
            <a:ext cx="0" cy="2238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98" name="矩形 122">
            <a:extLst>
              <a:ext uri="{FF2B5EF4-FFF2-40B4-BE49-F238E27FC236}">
                <a16:creationId xmlns:a16="http://schemas.microsoft.com/office/drawing/2014/main" id="{0C95AD2D-7319-BC45-966A-DEC4ADAA2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7" y="2914650"/>
            <a:ext cx="1374775" cy="3190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99" name="文本框 123">
            <a:extLst>
              <a:ext uri="{FF2B5EF4-FFF2-40B4-BE49-F238E27FC236}">
                <a16:creationId xmlns:a16="http://schemas.microsoft.com/office/drawing/2014/main" id="{673455D8-AB31-EC44-AF60-7E05646D3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900365"/>
            <a:ext cx="1327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选择一页换出</a:t>
            </a:r>
          </a:p>
        </p:txBody>
      </p:sp>
      <p:cxnSp>
        <p:nvCxnSpPr>
          <p:cNvPr id="23600" name="直接箭头连接符 125">
            <a:extLst>
              <a:ext uri="{FF2B5EF4-FFF2-40B4-BE49-F238E27FC236}">
                <a16:creationId xmlns:a16="http://schemas.microsoft.com/office/drawing/2014/main" id="{C619EEE2-88A3-3743-915B-2C3B1659F9D0}"/>
              </a:ext>
            </a:extLst>
          </p:cNvPr>
          <p:cNvCxnSpPr>
            <a:cxnSpLocks noChangeShapeType="1"/>
            <a:stCxn id="23648" idx="2"/>
            <a:endCxn id="23598" idx="0"/>
          </p:cNvCxnSpPr>
          <p:nvPr/>
        </p:nvCxnSpPr>
        <p:spPr bwMode="auto">
          <a:xfrm flipH="1">
            <a:off x="7021513" y="2660650"/>
            <a:ext cx="0" cy="254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3601" name="组合 131">
            <a:extLst>
              <a:ext uri="{FF2B5EF4-FFF2-40B4-BE49-F238E27FC236}">
                <a16:creationId xmlns:a16="http://schemas.microsoft.com/office/drawing/2014/main" id="{4BDB9C99-433B-8A43-A564-FB42C3F8785E}"/>
              </a:ext>
            </a:extLst>
          </p:cNvPr>
          <p:cNvGrpSpPr>
            <a:grpSpLocks/>
          </p:cNvGrpSpPr>
          <p:nvPr/>
        </p:nvGrpSpPr>
        <p:grpSpPr bwMode="auto">
          <a:xfrm>
            <a:off x="6075363" y="3397252"/>
            <a:ext cx="1892300" cy="398463"/>
            <a:chOff x="1736386" y="2943979"/>
            <a:chExt cx="2092958" cy="398834"/>
          </a:xfrm>
        </p:grpSpPr>
        <p:sp>
          <p:nvSpPr>
            <p:cNvPr id="23645" name="矩形 132">
              <a:extLst>
                <a:ext uri="{FF2B5EF4-FFF2-40B4-BE49-F238E27FC236}">
                  <a16:creationId xmlns:a16="http://schemas.microsoft.com/office/drawing/2014/main" id="{F6559A88-CD63-A24C-BF36-40583AB8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567" y="2943980"/>
              <a:ext cx="1328595" cy="3988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46" name="等腰三角形 133">
              <a:extLst>
                <a:ext uri="{FF2B5EF4-FFF2-40B4-BE49-F238E27FC236}">
                  <a16:creationId xmlns:a16="http://schemas.microsoft.com/office/drawing/2014/main" id="{1C2A13B8-69D4-0B4E-BBD0-6C29A2E4A9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28060" y="2952305"/>
              <a:ext cx="398833" cy="382182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647" name="等腰三角形 134">
              <a:extLst>
                <a:ext uri="{FF2B5EF4-FFF2-40B4-BE49-F238E27FC236}">
                  <a16:creationId xmlns:a16="http://schemas.microsoft.com/office/drawing/2014/main" id="{EF440FA0-E204-FC40-80F5-FED121F1C2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38836" y="2952306"/>
              <a:ext cx="398833" cy="382182"/>
            </a:xfrm>
            <a:prstGeom prst="triangle">
              <a:avLst>
                <a:gd name="adj" fmla="val 48306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2" charset="2"/>
                <a:buChar char="n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itchFamily="2" charset="2"/>
                <a:buChar char="4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 sz="2400">
                  <a:solidFill>
                    <a:schemeClr val="tx1"/>
                  </a:solidFill>
                  <a:latin typeface="Helvetica" pitchFamily="2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800">
                <a:latin typeface="Verdan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3602" name="文本框 135">
            <a:extLst>
              <a:ext uri="{FF2B5EF4-FFF2-40B4-BE49-F238E27FC236}">
                <a16:creationId xmlns:a16="http://schemas.microsoft.com/office/drawing/2014/main" id="{5E321A34-53B1-2840-BB4F-F13245636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5" y="3424240"/>
            <a:ext cx="15700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该页是否被修改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0"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3603" name="直接箭头连接符 137">
            <a:extLst>
              <a:ext uri="{FF2B5EF4-FFF2-40B4-BE49-F238E27FC236}">
                <a16:creationId xmlns:a16="http://schemas.microsoft.com/office/drawing/2014/main" id="{CBB2734A-E830-8047-92C2-2EC1F1E74374}"/>
              </a:ext>
            </a:extLst>
          </p:cNvPr>
          <p:cNvCxnSpPr>
            <a:cxnSpLocks noChangeShapeType="1"/>
            <a:stCxn id="23598" idx="2"/>
            <a:endCxn id="23645" idx="0"/>
          </p:cNvCxnSpPr>
          <p:nvPr/>
        </p:nvCxnSpPr>
        <p:spPr bwMode="auto">
          <a:xfrm flipH="1">
            <a:off x="7021513" y="3233738"/>
            <a:ext cx="0" cy="1635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4" name="矩形 138">
            <a:extLst>
              <a:ext uri="{FF2B5EF4-FFF2-40B4-BE49-F238E27FC236}">
                <a16:creationId xmlns:a16="http://schemas.microsoft.com/office/drawing/2014/main" id="{DCEF9230-7BBA-EE47-BF09-5B4228FE3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994150"/>
            <a:ext cx="1420812" cy="2682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05" name="文本框 139">
            <a:extLst>
              <a:ext uri="{FF2B5EF4-FFF2-40B4-BE49-F238E27FC236}">
                <a16:creationId xmlns:a16="http://schemas.microsoft.com/office/drawing/2014/main" id="{10DE97CF-D5F4-784C-9E1F-7C2458538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2" y="3963990"/>
            <a:ext cx="1482725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将该页写回外存</a:t>
            </a:r>
          </a:p>
        </p:txBody>
      </p:sp>
      <p:cxnSp>
        <p:nvCxnSpPr>
          <p:cNvPr id="23606" name="直接箭头连接符 141">
            <a:extLst>
              <a:ext uri="{FF2B5EF4-FFF2-40B4-BE49-F238E27FC236}">
                <a16:creationId xmlns:a16="http://schemas.microsoft.com/office/drawing/2014/main" id="{FF7DB9FA-F9A0-0F4E-B79F-0E2EDB4D0B27}"/>
              </a:ext>
            </a:extLst>
          </p:cNvPr>
          <p:cNvCxnSpPr>
            <a:cxnSpLocks noChangeShapeType="1"/>
            <a:stCxn id="23645" idx="2"/>
            <a:endCxn id="23604" idx="0"/>
          </p:cNvCxnSpPr>
          <p:nvPr/>
        </p:nvCxnSpPr>
        <p:spPr bwMode="auto">
          <a:xfrm>
            <a:off x="7021513" y="3795715"/>
            <a:ext cx="0" cy="198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7" name="矩形 145">
            <a:extLst>
              <a:ext uri="{FF2B5EF4-FFF2-40B4-BE49-F238E27FC236}">
                <a16:creationId xmlns:a16="http://schemas.microsoft.com/office/drawing/2014/main" id="{3795D801-E11A-2349-9322-A5C8541F6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540" y="4508502"/>
            <a:ext cx="1641475" cy="3079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08" name="文本框 146">
            <a:extLst>
              <a:ext uri="{FF2B5EF4-FFF2-40B4-BE49-F238E27FC236}">
                <a16:creationId xmlns:a16="http://schemas.microsoft.com/office/drawing/2014/main" id="{1A023EF2-67D8-3849-9136-6C6C21583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4524377"/>
            <a:ext cx="16779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从外存读缺页</a:t>
            </a:r>
          </a:p>
        </p:txBody>
      </p:sp>
      <p:cxnSp>
        <p:nvCxnSpPr>
          <p:cNvPr id="23609" name="直接箭头连接符 148">
            <a:extLst>
              <a:ext uri="{FF2B5EF4-FFF2-40B4-BE49-F238E27FC236}">
                <a16:creationId xmlns:a16="http://schemas.microsoft.com/office/drawing/2014/main" id="{BFF45D39-E565-9F45-BF07-BAC4CC4C1981}"/>
              </a:ext>
            </a:extLst>
          </p:cNvPr>
          <p:cNvCxnSpPr>
            <a:cxnSpLocks noChangeShapeType="1"/>
            <a:stCxn id="23604" idx="2"/>
            <a:endCxn id="23607" idx="0"/>
          </p:cNvCxnSpPr>
          <p:nvPr/>
        </p:nvCxnSpPr>
        <p:spPr bwMode="auto">
          <a:xfrm>
            <a:off x="7021513" y="4262438"/>
            <a:ext cx="4762" cy="2460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0" name="矩形 150">
            <a:extLst>
              <a:ext uri="{FF2B5EF4-FFF2-40B4-BE49-F238E27FC236}">
                <a16:creationId xmlns:a16="http://schemas.microsoft.com/office/drawing/2014/main" id="{6AB58DE9-611B-CE4B-A8BB-428835ECC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2" y="5080000"/>
            <a:ext cx="1285875" cy="3063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11" name="文本框 151">
            <a:extLst>
              <a:ext uri="{FF2B5EF4-FFF2-40B4-BE49-F238E27FC236}">
                <a16:creationId xmlns:a16="http://schemas.microsoft.com/office/drawing/2014/main" id="{15C64242-318D-3B49-B4C6-6603B3664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538" y="5078415"/>
            <a:ext cx="12303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启动</a:t>
            </a:r>
            <a:r>
              <a:rPr kumimoji="0"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I/O</a:t>
            </a: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</a:p>
        </p:txBody>
      </p:sp>
      <p:cxnSp>
        <p:nvCxnSpPr>
          <p:cNvPr id="23612" name="直接箭头连接符 153">
            <a:extLst>
              <a:ext uri="{FF2B5EF4-FFF2-40B4-BE49-F238E27FC236}">
                <a16:creationId xmlns:a16="http://schemas.microsoft.com/office/drawing/2014/main" id="{6513CD42-A94E-714A-9925-47FCA19DDE5A}"/>
              </a:ext>
            </a:extLst>
          </p:cNvPr>
          <p:cNvCxnSpPr>
            <a:cxnSpLocks noChangeShapeType="1"/>
            <a:stCxn id="23607" idx="2"/>
            <a:endCxn id="23610" idx="0"/>
          </p:cNvCxnSpPr>
          <p:nvPr/>
        </p:nvCxnSpPr>
        <p:spPr bwMode="auto">
          <a:xfrm>
            <a:off x="7026277" y="4816477"/>
            <a:ext cx="4763" cy="263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3" name="矩形 155">
            <a:extLst>
              <a:ext uri="{FF2B5EF4-FFF2-40B4-BE49-F238E27FC236}">
                <a16:creationId xmlns:a16="http://schemas.microsoft.com/office/drawing/2014/main" id="{DC734961-05F8-2C43-A812-26A637CD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5" y="5588002"/>
            <a:ext cx="1944687" cy="3524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14" name="文本框 156">
            <a:extLst>
              <a:ext uri="{FF2B5EF4-FFF2-40B4-BE49-F238E27FC236}">
                <a16:creationId xmlns:a16="http://schemas.microsoft.com/office/drawing/2014/main" id="{409826BF-800F-C044-9785-6DA538888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5610227"/>
            <a:ext cx="1985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将一页从外存换入内存</a:t>
            </a:r>
          </a:p>
        </p:txBody>
      </p:sp>
      <p:cxnSp>
        <p:nvCxnSpPr>
          <p:cNvPr id="23615" name="直接箭头连接符 158">
            <a:extLst>
              <a:ext uri="{FF2B5EF4-FFF2-40B4-BE49-F238E27FC236}">
                <a16:creationId xmlns:a16="http://schemas.microsoft.com/office/drawing/2014/main" id="{AF42D26C-334D-4D4D-99D6-5368287ED860}"/>
              </a:ext>
            </a:extLst>
          </p:cNvPr>
          <p:cNvCxnSpPr>
            <a:cxnSpLocks noChangeShapeType="1"/>
            <a:stCxn id="23610" idx="2"/>
            <a:endCxn id="23613" idx="0"/>
          </p:cNvCxnSpPr>
          <p:nvPr/>
        </p:nvCxnSpPr>
        <p:spPr bwMode="auto">
          <a:xfrm>
            <a:off x="7031038" y="5386388"/>
            <a:ext cx="4762" cy="2016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6" name="矩形 159">
            <a:extLst>
              <a:ext uri="{FF2B5EF4-FFF2-40B4-BE49-F238E27FC236}">
                <a16:creationId xmlns:a16="http://schemas.microsoft.com/office/drawing/2014/main" id="{B0617442-C523-7941-BA05-88EC7C005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6086475"/>
            <a:ext cx="793750" cy="3063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800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17" name="文本框 160">
            <a:extLst>
              <a:ext uri="{FF2B5EF4-FFF2-40B4-BE49-F238E27FC236}">
                <a16:creationId xmlns:a16="http://schemas.microsoft.com/office/drawing/2014/main" id="{30CACE4F-A971-244B-9794-AF11DA144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6080127"/>
            <a:ext cx="928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修改页表</a:t>
            </a:r>
          </a:p>
        </p:txBody>
      </p:sp>
      <p:cxnSp>
        <p:nvCxnSpPr>
          <p:cNvPr id="23618" name="直接箭头连接符 162">
            <a:extLst>
              <a:ext uri="{FF2B5EF4-FFF2-40B4-BE49-F238E27FC236}">
                <a16:creationId xmlns:a16="http://schemas.microsoft.com/office/drawing/2014/main" id="{675B2D9B-EAF7-7540-88CB-DD1166D4AC06}"/>
              </a:ext>
            </a:extLst>
          </p:cNvPr>
          <p:cNvCxnSpPr>
            <a:cxnSpLocks noChangeShapeType="1"/>
            <a:stCxn id="23613" idx="2"/>
            <a:endCxn id="23616" idx="0"/>
          </p:cNvCxnSpPr>
          <p:nvPr/>
        </p:nvCxnSpPr>
        <p:spPr bwMode="auto">
          <a:xfrm>
            <a:off x="7035802" y="5940425"/>
            <a:ext cx="4763" cy="1460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9" name="直接连接符 177">
            <a:extLst>
              <a:ext uri="{FF2B5EF4-FFF2-40B4-BE49-F238E27FC236}">
                <a16:creationId xmlns:a16="http://schemas.microsoft.com/office/drawing/2014/main" id="{709B4D23-0A76-074B-A812-27EB7BC3116F}"/>
              </a:ext>
            </a:extLst>
          </p:cNvPr>
          <p:cNvCxnSpPr>
            <a:cxnSpLocks noChangeShapeType="1"/>
            <a:stCxn id="23656" idx="0"/>
          </p:cNvCxnSpPr>
          <p:nvPr/>
        </p:nvCxnSpPr>
        <p:spPr bwMode="auto">
          <a:xfrm flipV="1">
            <a:off x="4194175" y="4184650"/>
            <a:ext cx="630238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0" name="直接连接符 179">
            <a:extLst>
              <a:ext uri="{FF2B5EF4-FFF2-40B4-BE49-F238E27FC236}">
                <a16:creationId xmlns:a16="http://schemas.microsoft.com/office/drawing/2014/main" id="{C685666B-4DDB-154F-8030-72027A411F6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18063" y="915990"/>
            <a:ext cx="23812" cy="32781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1" name="直接连接符 181">
            <a:extLst>
              <a:ext uri="{FF2B5EF4-FFF2-40B4-BE49-F238E27FC236}">
                <a16:creationId xmlns:a16="http://schemas.microsoft.com/office/drawing/2014/main" id="{574E8C18-DB0C-C049-8340-799AC0C97E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13302" y="915988"/>
            <a:ext cx="2208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2" name="直接箭头连接符 183">
            <a:extLst>
              <a:ext uri="{FF2B5EF4-FFF2-40B4-BE49-F238E27FC236}">
                <a16:creationId xmlns:a16="http://schemas.microsoft.com/office/drawing/2014/main" id="{C97C9B2F-DC5D-F242-82B8-8FE361AFF4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37388" y="914400"/>
            <a:ext cx="0" cy="3063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23" name="文本框 194">
            <a:extLst>
              <a:ext uri="{FF2B5EF4-FFF2-40B4-BE49-F238E27FC236}">
                <a16:creationId xmlns:a16="http://schemas.microsoft.com/office/drawing/2014/main" id="{1C25BBC4-0F91-4B48-9AEE-540A2ABD5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2" y="2408240"/>
            <a:ext cx="339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sp>
        <p:nvSpPr>
          <p:cNvPr id="23624" name="文本框 195">
            <a:extLst>
              <a:ext uri="{FF2B5EF4-FFF2-40B4-BE49-F238E27FC236}">
                <a16:creationId xmlns:a16="http://schemas.microsoft.com/office/drawing/2014/main" id="{7F68C463-200A-944D-B0A6-FA91CD6D7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402" y="930277"/>
            <a:ext cx="110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缺页中断处理</a:t>
            </a:r>
          </a:p>
        </p:txBody>
      </p: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B2E436-288D-734A-B297-D68E88859EB6}"/>
              </a:ext>
            </a:extLst>
          </p:cNvPr>
          <p:cNvCxnSpPr>
            <a:stCxn id="23649" idx="0"/>
          </p:cNvCxnSpPr>
          <p:nvPr/>
        </p:nvCxnSpPr>
        <p:spPr bwMode="auto">
          <a:xfrm flipH="1">
            <a:off x="5121277" y="2439988"/>
            <a:ext cx="969963" cy="111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626" name="组合 241">
            <a:extLst>
              <a:ext uri="{FF2B5EF4-FFF2-40B4-BE49-F238E27FC236}">
                <a16:creationId xmlns:a16="http://schemas.microsoft.com/office/drawing/2014/main" id="{0DF76E24-8631-A44E-9781-B2AA25A20A7D}"/>
              </a:ext>
            </a:extLst>
          </p:cNvPr>
          <p:cNvGrpSpPr>
            <a:grpSpLocks/>
          </p:cNvGrpSpPr>
          <p:nvPr/>
        </p:nvGrpSpPr>
        <p:grpSpPr bwMode="auto">
          <a:xfrm>
            <a:off x="5130802" y="2451100"/>
            <a:ext cx="1890713" cy="1900238"/>
            <a:chOff x="5033086" y="2450504"/>
            <a:chExt cx="1890973" cy="1900074"/>
          </a:xfrm>
        </p:grpSpPr>
        <p:cxnSp>
          <p:nvCxnSpPr>
            <p:cNvPr id="23643" name="直接连接符 198">
              <a:extLst>
                <a:ext uri="{FF2B5EF4-FFF2-40B4-BE49-F238E27FC236}">
                  <a16:creationId xmlns:a16="http://schemas.microsoft.com/office/drawing/2014/main" id="{9879DDBA-DA81-8748-B5A6-32AE5685BF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33086" y="2450504"/>
              <a:ext cx="0" cy="18961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44" name="直接箭头连接符 199">
              <a:extLst>
                <a:ext uri="{FF2B5EF4-FFF2-40B4-BE49-F238E27FC236}">
                  <a16:creationId xmlns:a16="http://schemas.microsoft.com/office/drawing/2014/main" id="{A3D568CB-3A61-6D49-B47C-E9DB1717B2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33086" y="4346643"/>
              <a:ext cx="1890973" cy="393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627" name="文本框 204">
            <a:extLst>
              <a:ext uri="{FF2B5EF4-FFF2-40B4-BE49-F238E27FC236}">
                <a16:creationId xmlns:a16="http://schemas.microsoft.com/office/drawing/2014/main" id="{04C351C6-3D7C-4548-B18C-626C8E382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5" y="3286127"/>
            <a:ext cx="338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grpSp>
        <p:nvGrpSpPr>
          <p:cNvPr id="23628" name="组合 244">
            <a:extLst>
              <a:ext uri="{FF2B5EF4-FFF2-40B4-BE49-F238E27FC236}">
                <a16:creationId xmlns:a16="http://schemas.microsoft.com/office/drawing/2014/main" id="{55F274E0-A419-6B46-BE94-454E96F2A79E}"/>
              </a:ext>
            </a:extLst>
          </p:cNvPr>
          <p:cNvGrpSpPr>
            <a:grpSpLocks/>
          </p:cNvGrpSpPr>
          <p:nvPr/>
        </p:nvGrpSpPr>
        <p:grpSpPr bwMode="auto">
          <a:xfrm>
            <a:off x="7038977" y="3575050"/>
            <a:ext cx="1789113" cy="774700"/>
            <a:chOff x="7038307" y="3575678"/>
            <a:chExt cx="1789799" cy="774154"/>
          </a:xfrm>
        </p:grpSpPr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53E0DBE-C836-E942-B987-E1E2BD4E6D26}"/>
                </a:ext>
              </a:extLst>
            </p:cNvPr>
            <p:cNvCxnSpPr>
              <a:endCxn id="23647" idx="0"/>
            </p:cNvCxnSpPr>
            <p:nvPr/>
          </p:nvCxnSpPr>
          <p:spPr bwMode="auto">
            <a:xfrm flipH="1">
              <a:off x="7967351" y="3575678"/>
              <a:ext cx="860755" cy="1427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41" name="直接连接符 207">
              <a:extLst>
                <a:ext uri="{FF2B5EF4-FFF2-40B4-BE49-F238E27FC236}">
                  <a16:creationId xmlns:a16="http://schemas.microsoft.com/office/drawing/2014/main" id="{20DEBA42-4501-044D-BD7A-0314801C76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23432" y="3578867"/>
              <a:ext cx="0" cy="76777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42" name="直接箭头连接符 208">
              <a:extLst>
                <a:ext uri="{FF2B5EF4-FFF2-40B4-BE49-F238E27FC236}">
                  <a16:creationId xmlns:a16="http://schemas.microsoft.com/office/drawing/2014/main" id="{926E3ED3-94A9-364F-8233-D8260BD84A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38307" y="4346643"/>
              <a:ext cx="1780452" cy="318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629" name="文本框 215">
            <a:extLst>
              <a:ext uri="{FF2B5EF4-FFF2-40B4-BE49-F238E27FC236}">
                <a16:creationId xmlns:a16="http://schemas.microsoft.com/office/drawing/2014/main" id="{BF167CAC-9453-BF4E-BC78-F6C0CF668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3824290"/>
            <a:ext cx="338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grpSp>
        <p:nvGrpSpPr>
          <p:cNvPr id="23630" name="组合 237">
            <a:extLst>
              <a:ext uri="{FF2B5EF4-FFF2-40B4-BE49-F238E27FC236}">
                <a16:creationId xmlns:a16="http://schemas.microsoft.com/office/drawing/2014/main" id="{F5E744F0-6FB1-5449-9F65-48B2170404BB}"/>
              </a:ext>
            </a:extLst>
          </p:cNvPr>
          <p:cNvGrpSpPr>
            <a:grpSpLocks/>
          </p:cNvGrpSpPr>
          <p:nvPr/>
        </p:nvGrpSpPr>
        <p:grpSpPr bwMode="auto">
          <a:xfrm>
            <a:off x="485777" y="3895725"/>
            <a:ext cx="6562725" cy="2738438"/>
            <a:chOff x="388072" y="3904726"/>
            <a:chExt cx="6562687" cy="2739265"/>
          </a:xfrm>
        </p:grpSpPr>
        <p:cxnSp>
          <p:nvCxnSpPr>
            <p:cNvPr id="23636" name="直接连接符 217">
              <a:extLst>
                <a:ext uri="{FF2B5EF4-FFF2-40B4-BE49-F238E27FC236}">
                  <a16:creationId xmlns:a16="http://schemas.microsoft.com/office/drawing/2014/main" id="{58AF3F87-2923-634C-BA5F-E5F325736E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0759" y="6397549"/>
              <a:ext cx="0" cy="24644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37" name="直接连接符 220">
              <a:extLst>
                <a:ext uri="{FF2B5EF4-FFF2-40B4-BE49-F238E27FC236}">
                  <a16:creationId xmlns:a16="http://schemas.microsoft.com/office/drawing/2014/main" id="{AA7A7E47-3115-4D46-9712-3246503B5F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072" y="6643991"/>
              <a:ext cx="656268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38" name="直接连接符 228">
              <a:extLst>
                <a:ext uri="{FF2B5EF4-FFF2-40B4-BE49-F238E27FC236}">
                  <a16:creationId xmlns:a16="http://schemas.microsoft.com/office/drawing/2014/main" id="{DCEC4A23-F126-6345-BFA4-7C04BD70AF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8072" y="3904726"/>
              <a:ext cx="0" cy="273926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39" name="直接箭头连接符 234">
              <a:extLst>
                <a:ext uri="{FF2B5EF4-FFF2-40B4-BE49-F238E27FC236}">
                  <a16:creationId xmlns:a16="http://schemas.microsoft.com/office/drawing/2014/main" id="{3EE203A6-46FC-6147-97EE-24E8249B3C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072" y="3904726"/>
              <a:ext cx="2418355" cy="1011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631" name="标题 1">
            <a:extLst>
              <a:ext uri="{FF2B5EF4-FFF2-40B4-BE49-F238E27FC236}">
                <a16:creationId xmlns:a16="http://schemas.microsoft.com/office/drawing/2014/main" id="{EB8A0B3A-9F0B-0245-8AEF-556C4B650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Heiti SC Medium" pitchFamily="2" charset="-128"/>
                <a:ea typeface="Heiti SC Medium" pitchFamily="2" charset="-128"/>
              </a:rPr>
              <a:t>虚拟存储过程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23632" name="文本框 215">
            <a:extLst>
              <a:ext uri="{FF2B5EF4-FFF2-40B4-BE49-F238E27FC236}">
                <a16:creationId xmlns:a16="http://schemas.microsoft.com/office/drawing/2014/main" id="{06433CCC-0E1F-E140-AE02-913A34834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690" y="3730627"/>
            <a:ext cx="338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sp>
        <p:nvSpPr>
          <p:cNvPr id="23633" name="文本框 32">
            <a:extLst>
              <a:ext uri="{FF2B5EF4-FFF2-40B4-BE49-F238E27FC236}">
                <a16:creationId xmlns:a16="http://schemas.microsoft.com/office/drawing/2014/main" id="{60892D36-DDDC-934F-A8A1-BC5475ECC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7" y="947738"/>
            <a:ext cx="12747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kumimoji="0" lang="zh-CN" altLang="en-US" sz="1200">
                <a:latin typeface="Verdana" panose="020B0604030504040204" pitchFamily="34" charset="0"/>
                <a:ea typeface="宋体" panose="02010600030101010101" pitchFamily="2" charset="-122"/>
              </a:rPr>
              <a:t>请求调页</a:t>
            </a:r>
            <a:endParaRPr kumimoji="0" lang="en-US" altLang="zh-CN" sz="120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kumimoji="0" lang="en-US" altLang="zh-CN" sz="1200">
                <a:latin typeface="Verdana" panose="020B0604030504040204" pitchFamily="34" charset="0"/>
                <a:ea typeface="宋体" panose="02010600030101010101" pitchFamily="2" charset="-122"/>
              </a:rPr>
              <a:t>Page</a:t>
            </a:r>
            <a:r>
              <a:rPr kumimoji="0" lang="zh-CN" altLang="en-US" sz="120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200">
                <a:latin typeface="Verdana" panose="020B0604030504040204" pitchFamily="34" charset="0"/>
                <a:ea typeface="宋体" panose="02010600030101010101" pitchFamily="2" charset="-122"/>
              </a:rPr>
              <a:t>fault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kumimoji="0" lang="en-US" altLang="zh-CN" sz="1200">
                <a:latin typeface="Verdana" panose="020B0604030504040204" pitchFamily="34" charset="0"/>
                <a:ea typeface="宋体" panose="02010600030101010101" pitchFamily="2" charset="-122"/>
              </a:rPr>
              <a:t>TLB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kumimoji="0" lang="zh-CN" altLang="en-US" sz="1200">
                <a:latin typeface="Verdana" panose="020B0604030504040204" pitchFamily="34" charset="0"/>
                <a:ea typeface="宋体" panose="02010600030101010101" pitchFamily="2" charset="-122"/>
              </a:rPr>
              <a:t>页式地址变换</a:t>
            </a:r>
            <a:endParaRPr kumimoji="0" lang="en-US" altLang="zh-CN" sz="120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kumimoji="0" lang="zh-CN" altLang="en-US" sz="1200">
                <a:latin typeface="Verdana" panose="020B0604030504040204" pitchFamily="34" charset="0"/>
                <a:ea typeface="宋体" panose="02010600030101010101" pitchFamily="2" charset="-122"/>
              </a:rPr>
              <a:t>页面置换</a:t>
            </a:r>
            <a:endParaRPr kumimoji="0" lang="en-US" altLang="zh-CN" sz="120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endParaRPr kumimoji="0" lang="zh-CN" altLang="en-US" sz="12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634" name="文本框 108">
            <a:extLst>
              <a:ext uri="{FF2B5EF4-FFF2-40B4-BE49-F238E27FC236}">
                <a16:creationId xmlns:a16="http://schemas.microsoft.com/office/drawing/2014/main" id="{17EF00F7-E9F5-7A43-A9C2-0901AC976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4364038"/>
            <a:ext cx="3381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sp>
        <p:nvSpPr>
          <p:cNvPr id="23635" name="文本框 108">
            <a:extLst>
              <a:ext uri="{FF2B5EF4-FFF2-40B4-BE49-F238E27FC236}">
                <a16:creationId xmlns:a16="http://schemas.microsoft.com/office/drawing/2014/main" id="{8BD0E813-C77B-2140-9B0D-B611B145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584452"/>
            <a:ext cx="3381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3FBD6BB5-86BD-DB4B-B8B1-233DE1D14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346AC1-E015-9D4D-8B8E-37D7DDB866D2}"/>
              </a:ext>
            </a:extLst>
          </p:cNvPr>
          <p:cNvSpPr txBox="1">
            <a:spLocks noChangeArrowheads="1"/>
          </p:cNvSpPr>
          <p:nvPr/>
        </p:nvSpPr>
        <p:spPr>
          <a:xfrm>
            <a:off x="498477" y="965200"/>
            <a:ext cx="8535635" cy="37123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altLang="zh-CN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- </a:t>
            </a:r>
            <a:r>
              <a:rPr lang="zh-CN" altLang="en-US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缺页中断机制</a:t>
            </a:r>
            <a:endParaRPr lang="en-US" altLang="zh-CN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zh-CN" altLang="en-US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在请求分页系统中，每当所要访问的页面不在内存时，便要产生一缺页中断，请求</a:t>
            </a:r>
            <a:r>
              <a:rPr lang="en-US" altLang="zh-CN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OS</a:t>
            </a:r>
            <a:r>
              <a:rPr lang="zh-CN" altLang="en-US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将所缺页调入内存。</a:t>
            </a:r>
            <a:endParaRPr lang="en-US" altLang="zh-CN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kern="0" dirty="0">
                <a:solidFill>
                  <a:srgbClr val="C00000"/>
                </a:solidFill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与一般中断的主要区别在于</a:t>
            </a:r>
            <a:r>
              <a:rPr lang="zh-CN" altLang="en-US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：</a:t>
            </a:r>
            <a:endParaRPr lang="en-US" altLang="zh-CN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lvl="2">
              <a:defRPr/>
            </a:pPr>
            <a:r>
              <a:rPr lang="zh-CN" altLang="en-US" sz="2000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缺页中断在该指令执行期间产生和处理中断信号，而一般中断在一条指令执行完后检查和处理中断信号</a:t>
            </a:r>
            <a:endParaRPr lang="en-US" altLang="zh-CN" sz="2000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lvl="2">
              <a:defRPr/>
            </a:pPr>
            <a:r>
              <a:rPr lang="zh-CN" altLang="en-US" sz="2000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缺页中断返回到该指令的开始重新执行该指令，而一般中断返回到该指令的下一条指令执行。</a:t>
            </a:r>
            <a:endParaRPr lang="en-US" altLang="zh-CN" sz="2000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lvl="2">
              <a:lnSpc>
                <a:spcPct val="90000"/>
              </a:lnSpc>
              <a:defRPr/>
            </a:pPr>
            <a:r>
              <a:rPr lang="zh-CN" altLang="en-US" sz="2000" kern="0" dirty="0">
                <a:latin typeface="Heiti SC Medium" pitchFamily="2" charset="-128"/>
                <a:ea typeface="Heiti SC Medium" pitchFamily="2" charset="-128"/>
                <a:sym typeface="Symbol" pitchFamily="2" charset="2"/>
              </a:rPr>
              <a:t>一条指令在执行期间，可能产生多次缺页中断。</a:t>
            </a:r>
            <a:endParaRPr lang="en-US" altLang="zh-CN" sz="2000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 lvl="2">
              <a:lnSpc>
                <a:spcPct val="90000"/>
              </a:lnSpc>
              <a:defRPr/>
            </a:pPr>
            <a:r>
              <a:rPr lang="zh-CN" altLang="en-US" sz="2000" kern="0" dirty="0">
                <a:latin typeface="Heiti SC Medium" pitchFamily="2" charset="-128"/>
                <a:ea typeface="Heiti SC Medium" pitchFamily="2" charset="-128"/>
              </a:rPr>
              <a:t>缺页中断为了实现虚拟内存，按需调页，保证程序的正确执行；而一般中断是为了响应外部事件</a:t>
            </a:r>
            <a:endParaRPr lang="en-US" altLang="zh-CN" sz="2000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  <a:p>
            <a:pPr>
              <a:lnSpc>
                <a:spcPct val="90000"/>
              </a:lnSpc>
              <a:defRPr/>
            </a:pPr>
            <a:endParaRPr lang="en-US" altLang="zh-CN" sz="2000" kern="0" dirty="0">
              <a:latin typeface="Heiti SC Medium" pitchFamily="2" charset="-128"/>
              <a:ea typeface="Heiti SC Medium" pitchFamily="2" charset="-128"/>
              <a:sym typeface="Symbol" pitchFamily="2" charset="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02FF9-120A-9048-9B14-2ECEB7EA67A1}"/>
              </a:ext>
            </a:extLst>
          </p:cNvPr>
          <p:cNvSpPr txBox="1"/>
          <p:nvPr/>
        </p:nvSpPr>
        <p:spPr>
          <a:xfrm>
            <a:off x="839681" y="5224901"/>
            <a:ext cx="8194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kumimoji="1" lang="zh-CN" altLang="en-US" dirty="0"/>
              <a:t>标准的指令周期：取指，译码，执行，</a:t>
            </a:r>
            <a:r>
              <a:rPr kumimoji="1" lang="zh-CN" altLang="en-US" dirty="0">
                <a:solidFill>
                  <a:srgbClr val="C00000"/>
                </a:solidFill>
              </a:rPr>
              <a:t>中断检查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CN" altLang="en-US" dirty="0"/>
              <a:t>在执行阶段结束之后、下一条指令取指之前，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的控制单元会自动进行一次中断查询，检查一个内部的“中断请求触发器”或状态寄存器，而这个标志的状态，是由外部设备通过</a:t>
            </a:r>
            <a:r>
              <a:rPr kumimoji="1" lang="zh-CN" altLang="en-US" dirty="0">
                <a:solidFill>
                  <a:srgbClr val="C00000"/>
                </a:solidFill>
              </a:rPr>
              <a:t>中断请求线</a:t>
            </a:r>
            <a:r>
              <a:rPr kumimoji="1" lang="zh-CN" altLang="en-US" dirty="0"/>
              <a:t>来置位的。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6062FFCC-FD68-7349-98CD-D1FC8C780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50FB4B-8940-694E-9161-7334D880E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988" y="1012827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Heiti SC Medium" pitchFamily="2" charset="-128"/>
                <a:ea typeface="Heiti SC Medium" pitchFamily="2" charset="-128"/>
              </a:rPr>
              <a:t>页面置换算法小结</a:t>
            </a:r>
            <a:endParaRPr lang="en-US" altLang="zh-CN" dirty="0">
              <a:latin typeface="Heiti SC Medium" pitchFamily="2" charset="-128"/>
              <a:ea typeface="Heiti SC Medium" pitchFamily="2" charset="-128"/>
            </a:endParaRPr>
          </a:p>
          <a:p>
            <a:pPr marL="0" indent="0">
              <a:buNone/>
              <a:defRPr/>
            </a:pPr>
            <a:endParaRPr lang="zh-CN" altLang="en-US" dirty="0">
              <a:latin typeface="Heiti SC Medium" pitchFamily="2" charset="-128"/>
              <a:ea typeface="Heiti SC Medium" pitchFamily="2" charset="-128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0A092AD-1998-224F-9600-9F239F96E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748171"/>
              </p:ext>
            </p:extLst>
          </p:nvPr>
        </p:nvGraphicFramePr>
        <p:xfrm>
          <a:off x="1647648" y="1611315"/>
          <a:ext cx="6096000" cy="37798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算法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评价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FIFO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可能置换出重要页面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OPT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不可实现，但可作为基准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LRU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很优秀，但很难实现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Second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 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Chance/Clock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比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FIFO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有很大改善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kern="1200" dirty="0">
                          <a:solidFill>
                            <a:schemeClr val="dk1"/>
                          </a:solidFill>
                          <a:latin typeface="Heiti SC Medium" pitchFamily="2" charset="-128"/>
                          <a:ea typeface="Heiti SC Medium" pitchFamily="2" charset="-128"/>
                          <a:cs typeface="+mn-cs"/>
                        </a:rPr>
                        <a:t>Reference-Bit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比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FIFO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有很大改善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Counting Algorithms</a:t>
                      </a:r>
                    </a:p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（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LFU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、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MFU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）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昂贵，不常使用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Working</a:t>
                      </a:r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 </a:t>
                      </a:r>
                      <a:r>
                        <a:rPr lang="en-US" altLang="zh-CN" sz="1800" dirty="0">
                          <a:latin typeface="Heiti SC Medium" pitchFamily="2" charset="-128"/>
                          <a:ea typeface="Heiti SC Medium" pitchFamily="2" charset="-128"/>
                        </a:rPr>
                        <a:t>set</a:t>
                      </a:r>
                      <a:endParaRPr lang="zh-CN" altLang="en-US" sz="1800" dirty="0">
                        <a:latin typeface="Heiti SC Medium" pitchFamily="2" charset="-128"/>
                        <a:ea typeface="Heiti SC Medium" pitchFamily="2" charset="-128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Heiti SC Medium" pitchFamily="2" charset="-128"/>
                          <a:ea typeface="Heiti SC Medium" pitchFamily="2" charset="-128"/>
                        </a:rPr>
                        <a:t>实现起来开销较大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656" name="文本框 1">
            <a:extLst>
              <a:ext uri="{FF2B5EF4-FFF2-40B4-BE49-F238E27FC236}">
                <a16:creationId xmlns:a16="http://schemas.microsoft.com/office/drawing/2014/main" id="{A9FB66B1-4D5C-CA43-9521-2A84B974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0" y="5535615"/>
            <a:ext cx="6994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注意： 置换策略设计得越精致、越复杂，实现的软硬件开销也越大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704B2EB7-D73B-C441-97C3-9F4F33FDC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456F60FA-6EAE-6545-8430-F950BBFA38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5" y="998540"/>
            <a:ext cx="8639175" cy="1385887"/>
          </a:xfrm>
        </p:spPr>
        <p:txBody>
          <a:bodyPr/>
          <a:lstStyle/>
          <a:p>
            <a:pPr eaLnBrk="1"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）假设系统使用纯页式存储，则要采用多少级页表，页内偏移多少位？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）假设系统采用一级页表，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命中率为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98%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，内存访问时间为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，并假设当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访问失败后才开始访问内存，问平均页面访问时间是多少？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）假设采用二级页表，如果要满足访问时间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&lt;=120ns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，那么命中率需要至少多少？（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，内存访问时间为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95614EF-0AEA-9149-9017-7EAD41CD8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528890"/>
            <a:ext cx="82296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02A3943E-A5F3-5248-ABEE-9E9D53789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A4331637-F609-ED45-885B-819AEC6C3E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5" y="998540"/>
            <a:ext cx="8639175" cy="1385887"/>
          </a:xfrm>
        </p:spPr>
        <p:txBody>
          <a:bodyPr/>
          <a:lstStyle/>
          <a:p>
            <a:pPr eaLnBrk="1"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）假设系统使用纯页式存储，则要采用多少级页表，页内偏移多少位？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A18C895-703B-8E4E-9D28-14CDE4104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0" y="2528890"/>
            <a:ext cx="8229600" cy="2441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解答：</a:t>
            </a:r>
            <a:endParaRPr lang="en-US" altLang="zh-CN" sz="2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）已知页面大小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4KB=2</a:t>
            </a:r>
            <a:r>
              <a:rPr lang="en-US" altLang="zh-CN" sz="20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，即页内偏移量的位数为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。采用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位虚拟地址，故虚页号为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48-12=36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页表项的大小为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，则每页可容纳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4KB/8B=512=2</a:t>
            </a:r>
            <a:r>
              <a:rPr lang="en-US" altLang="zh-CN" sz="20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项，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位可以覆盖一个页表页保存的记录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，每个页表索引或页目录索引占虚拟地址的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那么所需多级页表的级数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=[36/9]=4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，故应采用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级页表。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B0DEAF-77C8-8240-9E76-0BD1068D1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5114925"/>
            <a:ext cx="2309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48=9+9+9+9+12</a:t>
            </a: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B41C7D-2ABA-C748-B82F-04538712D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45127"/>
            <a:ext cx="83708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当前，智能手机、个人电脑、服务器等平台主要使用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64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，一种常见配置是</a:t>
            </a:r>
            <a:endParaRPr lang="en-US" altLang="zh-CN" sz="180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使用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48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位物理地址和虚拟地址，此时页表为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10201951-7E9A-C742-A215-9BD531A41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多级页表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F505217E-BBB2-6440-B4CC-990E43A22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52915" y="1743075"/>
            <a:ext cx="4891087" cy="3862388"/>
          </a:xfrm>
        </p:spPr>
        <p:txBody>
          <a:bodyPr/>
          <a:lstStyle/>
          <a:p>
            <a:r>
              <a:rPr lang="zh-CN" altLang="en-US" sz="1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组织</a:t>
            </a:r>
            <a:endParaRPr lang="en-US" altLang="zh-CN" sz="16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级页表（顶级）页表有且仅有一个页表页，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页表基地址寄存器存储的就是该页的物理地址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其余每一级页表拥有若干个离散的页表页，每个页表页占用物理内存中的一个物理页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(4KB) </a:t>
            </a:r>
          </a:p>
          <a:p>
            <a:endParaRPr lang="en-US" altLang="zh-CN" sz="16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地址翻译过程</a:t>
            </a:r>
            <a:endParaRPr lang="en-US" altLang="zh-CN" sz="16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根据页表基地址寄存器找到第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级页表页，将虚拟地址的虚拟页号</a:t>
            </a:r>
            <a:r>
              <a:rPr lang="en-US" altLang="zh-CN" sz="16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47-39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作为页表项索引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页表内偏移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，读取第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级页表页的相应页表项；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该页表项存储着下一级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页表页的物理地址，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MMU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按照类似方式将虚拟地址的虚拟页号</a:t>
            </a:r>
            <a:r>
              <a:rPr lang="en-US" altLang="zh-CN" sz="16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38-30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作为页表项索引，读取第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级页表页中的相应页表项。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以此类推，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MMU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将在第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级页表页中的一个页表项中找到该虚拟地址的物理页号，结合页内偏移获得最终物理地址。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935815F-B3BF-2E46-A8CF-388984C27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5" y="998540"/>
            <a:ext cx="8639175" cy="7445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9pPr>
          </a:lstStyle>
          <a:p>
            <a:pPr eaLnBrk="1"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）假设系统使用纯页式存储，则要采用多少级页表，页内偏移多少位？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2772" name="图片 4">
            <a:extLst>
              <a:ext uri="{FF2B5EF4-FFF2-40B4-BE49-F238E27FC236}">
                <a16:creationId xmlns:a16="http://schemas.microsoft.com/office/drawing/2014/main" id="{D38FF895-F282-3A45-A142-223AD510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455863"/>
            <a:ext cx="400050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7C61BEA5-39B2-CF40-BAAB-F06866B24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1760538"/>
            <a:ext cx="7369175" cy="2270125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思考：</a:t>
            </a:r>
            <a:endParaRPr kumimoji="0"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AutoNum type="arabicPeriod"/>
            </a:pPr>
            <a:r>
              <a:rPr kumimoji="0"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 多级页表一定能减少页表占用的空间吗？</a:t>
            </a:r>
            <a:endParaRPr kumimoji="0"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2.</a:t>
            </a:r>
            <a:r>
              <a:rPr kumimoji="0"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 多级页表与单级页表有哪些区别与优势？</a:t>
            </a:r>
            <a:endParaRPr kumimoji="0"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A025DF3E-D7C0-4D4F-91F1-8082564BA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多级页表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98F69878-AC53-4442-AD69-42ABEB9F78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576846"/>
            <a:ext cx="8578850" cy="915988"/>
          </a:xfrm>
        </p:spPr>
        <p:txBody>
          <a:bodyPr/>
          <a:lstStyle/>
          <a:p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若采用单级页表，这个页表有多大？</a:t>
            </a:r>
            <a:endParaRPr lang="en-US" altLang="zh-CN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/4K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512GB,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且这张页表占据的物理内存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还必须连续</a:t>
            </a:r>
            <a:endParaRPr lang="en-US" altLang="zh-CN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zh-CN" altLang="en-US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70126EC-A1C8-B541-A665-AEE398E91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5" y="998540"/>
            <a:ext cx="8639175" cy="13858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9pPr>
          </a:lstStyle>
          <a:p>
            <a:pPr eaLnBrk="1">
              <a:defRPr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kern="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）假设系统使用纯页式存储，则要采用多少级页表，页内偏移多少位？</a:t>
            </a:r>
            <a:endParaRPr lang="en-US" altLang="zh-CN" sz="20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748" name="图片 4">
            <a:extLst>
              <a:ext uri="{FF2B5EF4-FFF2-40B4-BE49-F238E27FC236}">
                <a16:creationId xmlns:a16="http://schemas.microsoft.com/office/drawing/2014/main" id="{B57592F3-C466-C14C-8A02-C64B091C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97" y="3437063"/>
            <a:ext cx="400050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A4AD9D0-EB40-D94E-9E3D-AD0C722E8368}"/>
              </a:ext>
            </a:extLst>
          </p:cNvPr>
          <p:cNvSpPr txBox="1">
            <a:spLocks/>
          </p:cNvSpPr>
          <p:nvPr/>
        </p:nvSpPr>
        <p:spPr bwMode="auto">
          <a:xfrm>
            <a:off x="4746625" y="5401466"/>
            <a:ext cx="3100388" cy="9159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buNone/>
              <a:defRPr/>
            </a:pPr>
            <a:r>
              <a:rPr lang="zh-CN" altLang="en-US" sz="2000" kern="0" dirty="0">
                <a:latin typeface="SimHei" panose="02010609060101010101" pitchFamily="49" charset="-122"/>
                <a:ea typeface="SimHei" panose="02010609060101010101" pitchFamily="49" charset="-122"/>
              </a:rPr>
              <a:t>为了压缩页表大小，</a:t>
            </a:r>
            <a:r>
              <a:rPr lang="en-US" altLang="zh-CN" sz="2000" kern="0" dirty="0">
                <a:latin typeface="SimHei" panose="02010609060101010101" pitchFamily="49" charset="-122"/>
                <a:ea typeface="SimHei" panose="02010609060101010101" pitchFamily="49" charset="-122"/>
              </a:rPr>
              <a:t>MMU</a:t>
            </a:r>
            <a:r>
              <a:rPr lang="zh-CN" altLang="en-US" sz="2000" kern="0" dirty="0">
                <a:latin typeface="SimHei" panose="02010609060101010101" pitchFamily="49" charset="-122"/>
                <a:ea typeface="SimHei" panose="02010609060101010101" pitchFamily="49" charset="-122"/>
              </a:rPr>
              <a:t>采用多级页表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6AAE74-7649-D544-AA19-37BA2511A39A}"/>
              </a:ext>
            </a:extLst>
          </p:cNvPr>
          <p:cNvSpPr txBox="1"/>
          <p:nvPr/>
        </p:nvSpPr>
        <p:spPr>
          <a:xfrm>
            <a:off x="817470" y="2255982"/>
            <a:ext cx="6063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多级页表是一种 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“用时间换空间”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的经典权衡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D7FD5CCD-1AA5-374A-9ED4-852BC8086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多级页表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F031C4C-EA67-3346-B5B0-6C30D1FB6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5" y="998540"/>
            <a:ext cx="8639175" cy="7445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9pPr>
          </a:lstStyle>
          <a:p>
            <a:pPr eaLnBrk="1"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多级页表能减少页表占用的空间吗？</a:t>
            </a:r>
          </a:p>
          <a:p>
            <a:pPr eaLnBrk="1">
              <a:defRPr/>
            </a:pPr>
            <a:endParaRPr lang="zh-CN" altLang="en-US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回答：能，但不一定。</a:t>
            </a: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buFont typeface="Wingdings" pitchFamily="2" charset="2"/>
              <a:buChar char="Ø"/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多级页表能减少页表占用空间，是建立在“应用进程使用的虚拟地址</a:t>
            </a:r>
            <a:r>
              <a:rPr lang="zh-CN" altLang="en-US" sz="1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远小于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总的虚拟地址空间”这个</a:t>
            </a:r>
            <a:r>
              <a:rPr lang="zh-CN" altLang="en-US" sz="1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上。如果假设不成立，则多级页表可能比单级页表占用更多的内存。（在虚拟内存“用满”的情况下，多级页表最末级页表和单级页表使用的内存大小是一样的，而其他级页表就是多出来的）</a:t>
            </a: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buFont typeface="Wingdings" pitchFamily="2" charset="2"/>
              <a:buChar char="Ø"/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一个极端例子</a:t>
            </a: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4025" lvl="1" eaLnBrk="1"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假设整个应用进程的虚拟地址空间中只有两个虚拟页被使用，分别位于最低和最高两个虚拟地址。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4025" lvl="1" eaLnBrk="1"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级页表后，整个页表只需要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个第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级页表页、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个第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级页表页、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个第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级页表页、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个第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级页表页，合计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个页表页，仅仅占用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28KB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物理内存空间。（单页表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512GB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4025" lvl="1" eaLnBrk="1">
              <a:buFont typeface="Arial" panose="020B0604020202020204" pitchFamily="34" charset="0"/>
              <a:buChar char="•"/>
              <a:defRPr/>
            </a:pP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E04A5DA2-11D9-894B-A74A-BBF3FD8AD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多级页表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59DC317-9334-7F42-8136-2FDB4D21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5" y="998540"/>
            <a:ext cx="8639175" cy="7445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+mn-lt"/>
              </a:defRPr>
            </a:lvl9pPr>
          </a:lstStyle>
          <a:p>
            <a:pPr eaLnBrk="1">
              <a:defRPr/>
            </a:pPr>
            <a:r>
              <a:rPr lang="zh-CN" altLang="en-US" sz="1800" kern="0" dirty="0">
                <a:latin typeface="黑体" panose="02010609060101010101" pitchFamily="49" charset="-122"/>
                <a:ea typeface="黑体" panose="02010609060101010101" pitchFamily="49" charset="-122"/>
              </a:rPr>
              <a:t>多级页表与单级页表有哪些区别与优势？</a:t>
            </a:r>
          </a:p>
          <a:p>
            <a:pPr eaLnBrk="1">
              <a:defRPr/>
            </a:pPr>
            <a:endParaRPr lang="zh-CN" altLang="en-US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回答：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）多级页表允许整个页表结构中出现</a:t>
            </a:r>
            <a:r>
              <a:rPr lang="zh-CN" altLang="en-US" sz="16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“空洞”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lang="zh-CN" altLang="en-US" sz="16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单级页表则需要每一项都实际存在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6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How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当多级页表中任意一级页表中的某一个条目为空时，该条目对应的下一级页表不需要存在，以此类推，接下里的页表同样不需要存在。因此，多级页表能极大减少页表所占用的物理空间大小。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6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Why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单级页表可被看成虚拟地址的虚页号作为索引的数组，整个数组的起始地址存在页表基地址寄存器中。翻译某个虚拟地址集根据其虚拟页号找到对应的数组项，因此整个页表必须在物理内存上连续，其中没有被用到的数组项也需要预留（不能出现“空洞”）。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kern="0" dirty="0">
                <a:latin typeface="黑体" panose="02010609060101010101" pitchFamily="49" charset="-122"/>
                <a:ea typeface="黑体" panose="02010609060101010101" pitchFamily="49" charset="-122"/>
              </a:rPr>
              <a:t>）多级页表优势在于不依赖内存页的连续页，因此能够在应用使用虚拟地址较少时大幅度降低页表占用的内存。</a:t>
            </a: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4025" lvl="1" eaLnBrk="1">
              <a:buFont typeface="Arial" panose="020B0604020202020204" pitchFamily="34" charset="0"/>
              <a:buChar char="•"/>
              <a:defRPr/>
            </a:pPr>
            <a:endParaRPr lang="en-US" altLang="zh-CN" sz="16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endParaRPr lang="en-US" altLang="zh-CN" sz="1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6FBBCA74-B2B3-CC4C-9D05-97728D4ED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4755" name="内容占位符 2">
            <a:extLst>
              <a:ext uri="{FF2B5EF4-FFF2-40B4-BE49-F238E27FC236}">
                <a16:creationId xmlns:a16="http://schemas.microsoft.com/office/drawing/2014/main" id="{49CD11AD-1E5D-6D4B-9A58-BCB198D0FB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5" y="998538"/>
            <a:ext cx="8639175" cy="1839912"/>
          </a:xfrm>
        </p:spPr>
        <p:txBody>
          <a:bodyPr/>
          <a:lstStyle/>
          <a:p>
            <a:pPr eaLnBrk="1"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）假设系统采用一级页表，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命中率为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98%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，内存访问时间为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，并假设当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访问失败后才开始访问内存，问平均页面访问时间是多少？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708900D-42E3-2F41-8749-727CF9758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38450"/>
            <a:ext cx="8229600" cy="42481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解答：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tabLst>
                <a:tab pos="2063750" algn="l"/>
                <a:tab pos="2568575" algn="l"/>
              </a:tabLst>
              <a:defRPr/>
            </a:pPr>
            <a:r>
              <a:rPr lang="en-US" altLang="zh-CN" sz="1600" dirty="0">
                <a:sym typeface="Symbol" pitchFamily="2" charset="2"/>
              </a:rPr>
              <a:t>Hit ratio = </a:t>
            </a:r>
          </a:p>
          <a:p>
            <a:pPr>
              <a:tabLst>
                <a:tab pos="2063750" algn="l"/>
                <a:tab pos="2568575" algn="l"/>
              </a:tabLst>
              <a:defRPr/>
            </a:pPr>
            <a:r>
              <a:rPr lang="en-US" altLang="zh-CN" sz="1600" b="1" dirty="0">
                <a:solidFill>
                  <a:srgbClr val="3366FF"/>
                </a:solidFill>
                <a:sym typeface="Symbol" pitchFamily="2" charset="2"/>
              </a:rPr>
              <a:t>Effective Access Time</a:t>
            </a:r>
            <a:r>
              <a:rPr lang="en-US" altLang="zh-CN" sz="1600" dirty="0">
                <a:solidFill>
                  <a:srgbClr val="3366FF"/>
                </a:solidFill>
                <a:sym typeface="Symbol" pitchFamily="2" charset="2"/>
              </a:rPr>
              <a:t> </a:t>
            </a:r>
            <a:r>
              <a:rPr lang="en-US" altLang="zh-CN" sz="1600" dirty="0">
                <a:sym typeface="Symbol" pitchFamily="2" charset="2"/>
              </a:rPr>
              <a:t>(EAT)</a:t>
            </a:r>
          </a:p>
          <a:p>
            <a:pPr>
              <a:buNone/>
              <a:tabLst>
                <a:tab pos="2063750" algn="l"/>
                <a:tab pos="2568575" algn="l"/>
              </a:tabLst>
              <a:defRPr/>
            </a:pPr>
            <a:r>
              <a:rPr lang="en-US" altLang="zh-CN" sz="1600" dirty="0"/>
              <a:t>		EAT = (1 + </a:t>
            </a:r>
            <a:r>
              <a:rPr lang="en-US" altLang="zh-CN" sz="1600" dirty="0">
                <a:sym typeface="Symbol" pitchFamily="2" charset="2"/>
              </a:rPr>
              <a:t>)  + (2 + )(1 – )</a:t>
            </a:r>
          </a:p>
          <a:p>
            <a:pPr>
              <a:buNone/>
              <a:tabLst>
                <a:tab pos="2063750" algn="l"/>
                <a:tab pos="2568575" algn="l"/>
              </a:tabLst>
              <a:defRPr/>
            </a:pPr>
            <a:r>
              <a:rPr lang="en-US" altLang="zh-CN" sz="1600" dirty="0">
                <a:sym typeface="Symbol" pitchFamily="2" charset="2"/>
              </a:rPr>
              <a:t>			= 2 +  – 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）系统进行页面访问操作时，首先读取页面对应的页表项，有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98%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的概率可以在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中直接读取到（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），然后进行地址变换，访问内存读取页面（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），所需时间为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10ns+100ns+100ns=210ns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。页表平均访问时间为：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[98% * 110 + (1 – 98%) * 210]ns = 112ns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E39907BF-DCF6-3C4E-A6FF-0A65584C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78851" name="内容占位符 2">
            <a:extLst>
              <a:ext uri="{FF2B5EF4-FFF2-40B4-BE49-F238E27FC236}">
                <a16:creationId xmlns:a16="http://schemas.microsoft.com/office/drawing/2014/main" id="{90957B1A-F343-834F-954B-7C590953AE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5" y="998538"/>
            <a:ext cx="8639175" cy="1581150"/>
          </a:xfrm>
        </p:spPr>
        <p:txBody>
          <a:bodyPr/>
          <a:lstStyle/>
          <a:p>
            <a:pPr eaLnBrk="1"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已知系统为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位实地址，采用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位虚拟地址，页面大小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4KB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，页表项大小为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8B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）假设采用二级页表，如果要满足访问时间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&lt;=120ns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，那么命中率需要至少多少？（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TLB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，内存访问时间为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100ns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29E51E7-2F07-A647-A096-1D5A9414B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579690"/>
            <a:ext cx="8229600" cy="42497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4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解答：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）假设快表命中率为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，则应满足：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>
              <a:buNone/>
              <a:defRPr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[p * 110 + (1 – p) * 310]ns &lt;= 120ns</a:t>
            </a:r>
          </a:p>
          <a:p>
            <a:pPr marL="0" indent="0" eaLnBrk="1">
              <a:buNone/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求解不等式，得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p&lt;=95%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12586</TotalTime>
  <Words>3177</Words>
  <Application>Microsoft Macintosh PowerPoint</Application>
  <PresentationFormat>全屏显示(4:3)</PresentationFormat>
  <Paragraphs>325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黑体</vt:lpstr>
      <vt:lpstr>黑体</vt:lpstr>
      <vt:lpstr>宋体</vt:lpstr>
      <vt:lpstr>Microsoft YaHei</vt:lpstr>
      <vt:lpstr>Heiti SC Medium</vt:lpstr>
      <vt:lpstr>quote-cjk-patch</vt:lpstr>
      <vt:lpstr>Arial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第8-9章 内存管理</vt:lpstr>
      <vt:lpstr>内存管理 Review</vt:lpstr>
      <vt:lpstr>内存“扩充”技术</vt:lpstr>
      <vt:lpstr>基本内存管理方案总结</vt:lpstr>
      <vt:lpstr>页式地址变换</vt:lpstr>
      <vt:lpstr>页式地址变换</vt:lpstr>
      <vt:lpstr>页式地址变换</vt:lpstr>
      <vt:lpstr>页式地址变换</vt:lpstr>
      <vt:lpstr>页式地址变换</vt:lpstr>
      <vt:lpstr>页式地址变换</vt:lpstr>
      <vt:lpstr>页式地址变换</vt:lpstr>
      <vt:lpstr>例题</vt:lpstr>
      <vt:lpstr>虚拟存储过程</vt:lpstr>
      <vt:lpstr>PowerPoint 演示文稿</vt:lpstr>
      <vt:lpstr>PowerPoint 演示文稿</vt:lpstr>
      <vt:lpstr>PowerPoint 演示文稿</vt:lpstr>
      <vt:lpstr>PowerPoint 演示文稿</vt:lpstr>
      <vt:lpstr>多级页表</vt:lpstr>
      <vt:lpstr>多级页表</vt:lpstr>
      <vt:lpstr>多级页表</vt:lpstr>
      <vt:lpstr>多级页表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Microsoft Office User</cp:lastModifiedBy>
  <cp:revision>709</cp:revision>
  <dcterms:created xsi:type="dcterms:W3CDTF">2004-10-07T18:29:30Z</dcterms:created>
  <dcterms:modified xsi:type="dcterms:W3CDTF">2025-11-06T08:10:25Z</dcterms:modified>
</cp:coreProperties>
</file>