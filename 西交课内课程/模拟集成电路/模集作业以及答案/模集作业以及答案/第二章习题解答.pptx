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0" r:id="rId2"/>
    <p:sldId id="454" r:id="rId3"/>
    <p:sldId id="456" r:id="rId4"/>
    <p:sldId id="457" r:id="rId5"/>
    <p:sldId id="458" r:id="rId6"/>
    <p:sldId id="461" r:id="rId7"/>
    <p:sldId id="459" r:id="rId8"/>
    <p:sldId id="464" r:id="rId9"/>
    <p:sldId id="465" r:id="rId10"/>
    <p:sldId id="469" r:id="rId11"/>
    <p:sldId id="470" r:id="rId12"/>
    <p:sldId id="466" r:id="rId13"/>
    <p:sldId id="471" r:id="rId14"/>
    <p:sldId id="467" r:id="rId15"/>
    <p:sldId id="473" r:id="rId16"/>
    <p:sldId id="468" r:id="rId17"/>
    <p:sldId id="477" r:id="rId18"/>
    <p:sldId id="474" r:id="rId19"/>
    <p:sldId id="475" r:id="rId20"/>
    <p:sldId id="478" r:id="rId21"/>
    <p:sldId id="479" r:id="rId22"/>
    <p:sldId id="481" r:id="rId23"/>
    <p:sldId id="480" r:id="rId24"/>
    <p:sldId id="482" r:id="rId25"/>
    <p:sldId id="483" r:id="rId26"/>
    <p:sldId id="486" r:id="rId27"/>
    <p:sldId id="488" r:id="rId28"/>
    <p:sldId id="487" r:id="rId29"/>
    <p:sldId id="489" r:id="rId30"/>
    <p:sldId id="485" r:id="rId31"/>
    <p:sldId id="490" r:id="rId32"/>
    <p:sldId id="484" r:id="rId33"/>
    <p:sldId id="455" r:id="rId34"/>
    <p:sldId id="498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55" autoAdjust="0"/>
    <p:restoredTop sz="94660"/>
  </p:normalViewPr>
  <p:slideViewPr>
    <p:cSldViewPr snapToGrid="0">
      <p:cViewPr varScale="1">
        <p:scale>
          <a:sx n="86" d="100"/>
          <a:sy n="86" d="100"/>
        </p:scale>
        <p:origin x="71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3AB13D-5246-4C17-B0C4-04DBBCC489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5EFA94B-40AB-49EB-9CE9-8DDC917DB9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B3CC15-BEB8-477B-A3A8-64D34A2AB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D0DE2-D099-4C79-B1C9-89DC81250F33}" type="datetimeFigureOut">
              <a:rPr lang="zh-CN" altLang="en-US" smtClean="0"/>
              <a:t>2022/1/1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C0BF6D-36B9-4C28-A42F-C11FD505F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9650E8-5BBE-4951-9F49-C06F174B5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D560-35CA-4CA4-ACDA-B749EAEB13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1195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4A50C8-0568-4A91-B9BC-7C3B05931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5E4A4F-4E40-48EE-B782-C15857548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3CEFEB-F965-4BF6-9A7B-88442D6CA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D0DE2-D099-4C79-B1C9-89DC81250F33}" type="datetimeFigureOut">
              <a:rPr lang="zh-CN" altLang="en-US" smtClean="0"/>
              <a:t>2022/1/1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3B625D-E729-4167-A1CC-D7DC6C87E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E98035-DFC2-4B09-9172-196BD19D7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D560-35CA-4CA4-ACDA-B749EAEB13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726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77F30B-8771-4B30-B989-B812700DA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CE6F77-DE02-4655-9E69-8B50EFF0F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8DA371-FBEE-495D-ADF9-6C1415262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D0DE2-D099-4C79-B1C9-89DC81250F33}" type="datetimeFigureOut">
              <a:rPr lang="zh-CN" altLang="en-US" smtClean="0"/>
              <a:t>2022/1/1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960BA6-8597-41D3-ACFC-B0A8A1A37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B8D250-29A5-4145-B972-D6C46B74A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D560-35CA-4CA4-ACDA-B749EAEB13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922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CC09DE-F2C3-4051-ADC7-1AA46D46C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866D75-2B20-46DD-BCAA-69827EFFDE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DE8664D-7B75-47E0-911B-E8BCE485F5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5DB580-5EB6-45BE-AED7-3F0F9A240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D0DE2-D099-4C79-B1C9-89DC81250F33}" type="datetimeFigureOut">
              <a:rPr lang="zh-CN" altLang="en-US" smtClean="0"/>
              <a:t>2022/1/1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25E804-32BA-4647-AB26-209C77061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64C18A-547F-4736-A13C-17AA06C7D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D560-35CA-4CA4-ACDA-B749EAEB13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039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F74547-3759-4819-98BB-A60A7BD3F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F2F807-64B2-4068-BF39-2CA127D9C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F50A7D-E96C-4B07-8D28-6DC4215436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2AB2B13-714B-4D88-8479-5AEA7D345D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159EBFB-417A-40A1-919C-8A3BDA57D2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005300E-2A82-4EE6-85DF-839A0D1DA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D0DE2-D099-4C79-B1C9-89DC81250F33}" type="datetimeFigureOut">
              <a:rPr lang="zh-CN" altLang="en-US" smtClean="0"/>
              <a:t>2022/1/1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D56E0B3-BDD0-4B0D-B33E-45223B530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DA284B1-97CD-42D2-8132-123849790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D560-35CA-4CA4-ACDA-B749EAEB13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2645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28AA3E-6BC1-4491-AD62-B05D3C870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BB8FD34-EB74-4910-A887-4381BB43F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D0DE2-D099-4C79-B1C9-89DC81250F33}" type="datetimeFigureOut">
              <a:rPr lang="zh-CN" altLang="en-US" smtClean="0"/>
              <a:t>2022/1/1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D8D0004-EE26-4EF4-A106-876781462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97C057E-F905-4F6C-AF8C-58AEA567A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D560-35CA-4CA4-ACDA-B749EAEB13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121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BC8E773-4643-4DF6-992E-015D806D9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D0DE2-D099-4C79-B1C9-89DC81250F33}" type="datetimeFigureOut">
              <a:rPr lang="zh-CN" altLang="en-US" smtClean="0"/>
              <a:t>2022/1/1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AE60A2F-E215-44FB-8007-22810692D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B2500D-539D-4039-825C-7998D9B48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D560-35CA-4CA4-ACDA-B749EAEB13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6909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646CB9-D543-4320-877A-A0925FA88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06A49C-D83D-46F1-84B0-B5ADD159F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40034C2-4406-4691-8875-2D6EE76FE0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C85160-3CF5-4D14-B14C-BF51AA1C9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D0DE2-D099-4C79-B1C9-89DC81250F33}" type="datetimeFigureOut">
              <a:rPr lang="zh-CN" altLang="en-US" smtClean="0"/>
              <a:t>2022/1/1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977FA4-DBC1-4A94-8842-932176A4E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0250E4-FEC9-47BA-8557-71ECB5085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D560-35CA-4CA4-ACDA-B749EAEB13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042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7D0BD4-2818-4488-BDD5-A7ED3B57A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DD13698-2696-4778-97E8-BCEFDF8787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105E95-DCDE-49DC-8C61-7F06B2E06B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2DE4E7-74E4-4144-8674-CD879991A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D0DE2-D099-4C79-B1C9-89DC81250F33}" type="datetimeFigureOut">
              <a:rPr lang="zh-CN" altLang="en-US" smtClean="0"/>
              <a:t>2022/1/1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208923-FCF0-42FA-A46C-A9BDAD3A9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1D678D-4958-47D4-8EAE-558A60ED6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D560-35CA-4CA4-ACDA-B749EAEB13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89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2A687A-AB19-4EB3-AEDD-AC18D9B97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7D3602-810B-49B8-A605-BD234E438A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78949D-AF4C-45A2-A16B-49E796D31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D0DE2-D099-4C79-B1C9-89DC81250F33}" type="datetimeFigureOut">
              <a:rPr lang="zh-CN" altLang="en-US" smtClean="0"/>
              <a:t>2022/1/1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03696F-4B0B-42A8-918A-B3973CC61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F4E912-0D1A-448D-8D4C-8D2A67B37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D560-35CA-4CA4-ACDA-B749EAEB13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2318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790063F-3D0C-4FCD-87FC-889E3C7089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C3A952D-50CD-46E6-9F05-08BC9F52F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3D7D48-AFCF-400E-A600-50620AB39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D0DE2-D099-4C79-B1C9-89DC81250F33}" type="datetimeFigureOut">
              <a:rPr lang="zh-CN" altLang="en-US" smtClean="0"/>
              <a:t>2022/1/1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1D78FA-CB91-4C97-AB8A-4FEF31CE7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2F88E2-62CB-431A-91B1-0A20CB97E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D560-35CA-4CA4-ACDA-B749EAEB13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2109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 bwMode="auto">
          <a:xfrm>
            <a:off x="2" y="6400425"/>
            <a:ext cx="12192001" cy="457574"/>
          </a:xfrm>
          <a:prstGeom prst="rect">
            <a:avLst/>
          </a:prstGeom>
          <a:gradFill>
            <a:gsLst>
              <a:gs pos="80000">
                <a:srgbClr val="026DCE">
                  <a:alpha val="70000"/>
                </a:srgbClr>
              </a:gs>
              <a:gs pos="26000">
                <a:schemeClr val="tx2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/>
          </a:p>
        </p:txBody>
      </p:sp>
      <p:sp>
        <p:nvSpPr>
          <p:cNvPr id="4" name="矩形 3"/>
          <p:cNvSpPr/>
          <p:nvPr userDrawn="1"/>
        </p:nvSpPr>
        <p:spPr bwMode="auto">
          <a:xfrm flipH="1">
            <a:off x="0" y="0"/>
            <a:ext cx="12192000" cy="9536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6000">
                <a:schemeClr val="tx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/>
          </a:p>
        </p:txBody>
      </p:sp>
      <p:sp>
        <p:nvSpPr>
          <p:cNvPr id="5" name="灯片编号占位符 3"/>
          <p:cNvSpPr txBox="1">
            <a:spLocks/>
          </p:cNvSpPr>
          <p:nvPr userDrawn="1"/>
        </p:nvSpPr>
        <p:spPr>
          <a:xfrm>
            <a:off x="239184" y="6486526"/>
            <a:ext cx="1919816" cy="284163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de-DE" altLang="en-US" sz="12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fld id="{EAF88779-B601-4826-9F2D-F06989FDF2C4}" type="slidenum">
              <a:rPr lang="zh-CN" altLang="en-US" sz="12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eaLnBrk="1" hangingPunct="1"/>
              <a:t>‹#›</a:t>
            </a:fld>
            <a:endParaRPr lang="en-US" altLang="zh-CN" sz="12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392170" y="145882"/>
            <a:ext cx="7776633" cy="777240"/>
          </a:xfrm>
        </p:spPr>
        <p:txBody>
          <a:bodyPr/>
          <a:lstStyle>
            <a:lvl1pPr algn="l">
              <a:defRPr sz="2200" b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endParaRPr lang="zh-CN" altLang="en-US" dirty="0"/>
          </a:p>
        </p:txBody>
      </p:sp>
      <p:pic>
        <p:nvPicPr>
          <p:cNvPr id="8" name="图片 4" descr="logo_pic001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1" y="60326"/>
            <a:ext cx="3721100" cy="79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28869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A61C3B5-51AF-4C06-A19B-2CCB050FB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B66FB2-92AA-4299-8B9F-FA3EE1EC2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E177FA-844C-4E0F-B978-56F0C5A692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D0DE2-D099-4C79-B1C9-89DC81250F33}" type="datetimeFigureOut">
              <a:rPr lang="zh-CN" altLang="en-US" smtClean="0"/>
              <a:t>2022/1/1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06A1FD-6BCF-40FE-BFD6-0BD2F811A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C518FB-3D12-4000-BDDF-0AFCDAACE5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22D560-35CA-4CA4-ACDA-B749EAEB13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6626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3.png"/><Relationship Id="rId7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3.png"/><Relationship Id="rId7" Type="http://schemas.openxmlformats.org/officeDocument/2006/relationships/image" Target="../media/image3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13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13.png"/><Relationship Id="rId7" Type="http://schemas.openxmlformats.org/officeDocument/2006/relationships/image" Target="../media/image53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7.png"/><Relationship Id="rId7" Type="http://schemas.openxmlformats.org/officeDocument/2006/relationships/image" Target="../media/image6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13.png"/><Relationship Id="rId7" Type="http://schemas.openxmlformats.org/officeDocument/2006/relationships/image" Target="../media/image67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0.png"/><Relationship Id="rId4" Type="http://schemas.openxmlformats.org/officeDocument/2006/relationships/image" Target="../media/image7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7.png"/><Relationship Id="rId4" Type="http://schemas.openxmlformats.org/officeDocument/2006/relationships/image" Target="../media/image8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7" Type="http://schemas.openxmlformats.org/officeDocument/2006/relationships/image" Target="../media/image106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9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115.png"/><Relationship Id="rId7" Type="http://schemas.openxmlformats.org/officeDocument/2006/relationships/image" Target="../media/image119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3" Type="http://schemas.openxmlformats.org/officeDocument/2006/relationships/image" Target="../media/image1200.png"/><Relationship Id="rId7" Type="http://schemas.openxmlformats.org/officeDocument/2006/relationships/image" Target="../media/image123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4" Type="http://schemas.openxmlformats.org/officeDocument/2006/relationships/image" Target="../media/image115.png"/><Relationship Id="rId9" Type="http://schemas.openxmlformats.org/officeDocument/2006/relationships/image" Target="../media/image1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0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6.png"/><Relationship Id="rId4" Type="http://schemas.openxmlformats.org/officeDocument/2006/relationships/image" Target="../media/image11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127.png"/><Relationship Id="rId7" Type="http://schemas.openxmlformats.org/officeDocument/2006/relationships/image" Target="../media/image129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8.png"/><Relationship Id="rId5" Type="http://schemas.openxmlformats.org/officeDocument/2006/relationships/image" Target="../media/image1270.png"/><Relationship Id="rId4" Type="http://schemas.openxmlformats.org/officeDocument/2006/relationships/image" Target="../media/image11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0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1.png"/><Relationship Id="rId4" Type="http://schemas.openxmlformats.org/officeDocument/2006/relationships/image" Target="../media/image11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3" Type="http://schemas.openxmlformats.org/officeDocument/2006/relationships/image" Target="../media/image133.png"/><Relationship Id="rId7" Type="http://schemas.openxmlformats.org/officeDocument/2006/relationships/image" Target="../media/image137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6.png"/><Relationship Id="rId11" Type="http://schemas.openxmlformats.org/officeDocument/2006/relationships/image" Target="../media/image141.png"/><Relationship Id="rId5" Type="http://schemas.openxmlformats.org/officeDocument/2006/relationships/image" Target="../media/image135.png"/><Relationship Id="rId10" Type="http://schemas.openxmlformats.org/officeDocument/2006/relationships/image" Target="../media/image140.png"/><Relationship Id="rId4" Type="http://schemas.openxmlformats.org/officeDocument/2006/relationships/image" Target="../media/image134.png"/><Relationship Id="rId9" Type="http://schemas.openxmlformats.org/officeDocument/2006/relationships/image" Target="../media/image13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3" Type="http://schemas.openxmlformats.org/officeDocument/2006/relationships/image" Target="../media/image134.png"/><Relationship Id="rId7" Type="http://schemas.openxmlformats.org/officeDocument/2006/relationships/image" Target="../media/image145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4" Type="http://schemas.openxmlformats.org/officeDocument/2006/relationships/image" Target="../media/image142.png"/><Relationship Id="rId9" Type="http://schemas.openxmlformats.org/officeDocument/2006/relationships/image" Target="../media/image14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1.png"/><Relationship Id="rId4" Type="http://schemas.openxmlformats.org/officeDocument/2006/relationships/image" Target="../media/image15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8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0.png"/><Relationship Id="rId13" Type="http://schemas.openxmlformats.org/officeDocument/2006/relationships/image" Target="../media/image1860.png"/><Relationship Id="rId3" Type="http://schemas.openxmlformats.org/officeDocument/2006/relationships/image" Target="../media/image1760.png"/><Relationship Id="rId7" Type="http://schemas.openxmlformats.org/officeDocument/2006/relationships/image" Target="../media/image1800.png"/><Relationship Id="rId12" Type="http://schemas.openxmlformats.org/officeDocument/2006/relationships/image" Target="../media/image1850.png"/><Relationship Id="rId2" Type="http://schemas.openxmlformats.org/officeDocument/2006/relationships/image" Target="../media/image175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90.png"/><Relationship Id="rId5" Type="http://schemas.openxmlformats.org/officeDocument/2006/relationships/image" Target="../media/image1780.png"/><Relationship Id="rId15" Type="http://schemas.openxmlformats.org/officeDocument/2006/relationships/image" Target="../media/image154.png"/><Relationship Id="rId10" Type="http://schemas.openxmlformats.org/officeDocument/2006/relationships/image" Target="../media/image1830.png"/><Relationship Id="rId4" Type="http://schemas.openxmlformats.org/officeDocument/2006/relationships/image" Target="../media/image1770.png"/><Relationship Id="rId9" Type="http://schemas.openxmlformats.org/officeDocument/2006/relationships/image" Target="../media/image1820.png"/><Relationship Id="rId14" Type="http://schemas.openxmlformats.org/officeDocument/2006/relationships/image" Target="../media/image1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524000" y="2286000"/>
            <a:ext cx="10668000" cy="19875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0" y="2286000"/>
            <a:ext cx="5052360" cy="1987550"/>
          </a:xfrm>
          <a:prstGeom prst="rect">
            <a:avLst/>
          </a:prstGeom>
          <a:gradFill flip="none" rotWithShape="1">
            <a:gsLst>
              <a:gs pos="36000">
                <a:srgbClr val="026DCE"/>
              </a:gs>
              <a:gs pos="9500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198" name="TextBox 6"/>
          <p:cNvSpPr txBox="1">
            <a:spLocks noChangeArrowheads="1"/>
          </p:cNvSpPr>
          <p:nvPr/>
        </p:nvSpPr>
        <p:spPr bwMode="auto">
          <a:xfrm>
            <a:off x="3054350" y="2709237"/>
            <a:ext cx="6516216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6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第二章习题解答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972" y="292040"/>
            <a:ext cx="291778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dirty="0">
                <a:latin typeface="华文行楷" pitchFamily="2" charset="-122"/>
                <a:ea typeface="华文行楷" pitchFamily="2" charset="-122"/>
              </a:rPr>
              <a:t>模拟</a:t>
            </a:r>
            <a:r>
              <a:rPr lang="en-US" altLang="zh-CN" sz="2000" dirty="0">
                <a:latin typeface="华文行楷" pitchFamily="2" charset="-122"/>
                <a:ea typeface="华文行楷" pitchFamily="2" charset="-122"/>
              </a:rPr>
              <a:t>CMOS</a:t>
            </a:r>
            <a:r>
              <a:rPr lang="zh-CN" altLang="en-US" sz="2000" dirty="0">
                <a:latin typeface="华文行楷" pitchFamily="2" charset="-122"/>
                <a:ea typeface="华文行楷" pitchFamily="2" charset="-122"/>
              </a:rPr>
              <a:t>集成电路设计</a:t>
            </a:r>
            <a:endParaRPr lang="zh-CN" altLang="en-US" sz="2000" spc="100" dirty="0">
              <a:solidFill>
                <a:srgbClr val="0000CC"/>
              </a:solidFill>
              <a:latin typeface="华文行楷" pitchFamily="2" charset="-122"/>
              <a:ea typeface="华文行楷" pitchFamily="2" charset="-122"/>
              <a:cs typeface="Arial" pitchFamily="34" charset="0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951359" y="692150"/>
            <a:ext cx="4205982" cy="54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202" name="Picture 4" descr="jdico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37651" y="192089"/>
            <a:ext cx="1177925" cy="116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3" name="图片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53438" y="2214563"/>
            <a:ext cx="3738562" cy="2005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本框 2"/>
          <p:cNvSpPr txBox="1"/>
          <p:nvPr/>
        </p:nvSpPr>
        <p:spPr>
          <a:xfrm>
            <a:off x="9067828" y="5579081"/>
            <a:ext cx="23391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2400" dirty="0"/>
              <a:t>陈旭辉，戴智超</a:t>
            </a:r>
            <a:endParaRPr lang="en-US" altLang="zh-CN" sz="2400" dirty="0"/>
          </a:p>
          <a:p>
            <a:pPr algn="r"/>
            <a:r>
              <a:rPr lang="en-US" altLang="zh-CN" sz="2400" dirty="0"/>
              <a:t>2021-11-21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35076018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389891" y="208470"/>
            <a:ext cx="5832475" cy="776288"/>
          </a:xfrm>
        </p:spPr>
        <p:txBody>
          <a:bodyPr/>
          <a:lstStyle/>
          <a:p>
            <a:pPr eaLnBrk="1" hangingPunct="1"/>
            <a: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2.2 </a:t>
            </a:r>
            <a:endParaRPr lang="zh-CN" alt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7843206" y="428555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89891" y="1209587"/>
                <a:ext cx="1095133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题目：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W/L=50/0.5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𝑰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𝑫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=0.5mA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，计算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NMOS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和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PMOS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的跨导和输出阻抗，以及本征增益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𝒈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𝒎</m:t>
                        </m:r>
                      </m:sub>
                    </m:sSub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𝒓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𝒐</m:t>
                        </m:r>
                      </m:sub>
                    </m:sSub>
                  </m:oMath>
                </a14:m>
                <a:endParaRPr lang="zh-CN" altLang="en-US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1209587"/>
                <a:ext cx="10951331" cy="400110"/>
              </a:xfrm>
              <a:prstGeom prst="rect">
                <a:avLst/>
              </a:prstGeom>
              <a:blipFill>
                <a:blip r:embed="rId2"/>
                <a:stretch>
                  <a:fillRect l="-612" t="-10606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389891" y="1834526"/>
            <a:ext cx="2502608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解答：对于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NMOS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678220" y="2326089"/>
                <a:ext cx="10994796" cy="4650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𝒈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𝒎</m:t>
                        </m:r>
                      </m:sub>
                    </m:sSub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radPr>
                      <m:deg/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𝟐</m:t>
                        </m:r>
                        <m:sSub>
                          <m:sSub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zh-CN" altLang="en-US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𝒐𝒙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000" b="1" i="1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𝑾</m:t>
                            </m:r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/</m:t>
                            </m:r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𝑳</m:t>
                            </m:r>
                          </m:e>
                        </m:d>
                        <m:sSub>
                          <m:sSubPr>
                            <m:ctrlPr>
                              <a:rPr lang="en-US" altLang="zh-CN" sz="2000" b="1" i="1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𝑰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𝑫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altLang="zh-CN" sz="2000" b="1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radPr>
                      <m:deg/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𝟐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𝟑𝟒𝟐𝟐𝟓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sSup>
                          <m:sSupPr>
                            <m:ctrlPr>
                              <a:rPr lang="en-US" altLang="zh-CN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e>
                          <m:sup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𝟒</m:t>
                            </m:r>
                          </m:sup>
                        </m:sSup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𝟏𝟎𝟎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𝟓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sSup>
                          <m:sSupPr>
                            <m:ctrlPr>
                              <a:rPr lang="en-US" altLang="zh-CN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e>
                          <m:sup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e>
                    </m:rad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𝟔𝟔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𝒎𝑺</m:t>
                    </m:r>
                  </m:oMath>
                </a14:m>
                <a:endParaRPr lang="en-US" altLang="zh-CN" sz="2000" b="1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220" y="2326089"/>
                <a:ext cx="10994796" cy="465064"/>
              </a:xfrm>
              <a:prstGeom prst="rect">
                <a:avLst/>
              </a:prstGeom>
              <a:blipFill>
                <a:blip r:embed="rId3"/>
                <a:stretch>
                  <a:fillRect b="-210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1044" y="3833644"/>
            <a:ext cx="3609647" cy="16424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678220" y="2871567"/>
                <a:ext cx="10994796" cy="7473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𝒓</m:t>
                          </m:r>
                        </m:e>
                        <m:sub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</m:t>
                          </m:r>
                        </m:sub>
                      </m:sSub>
                      <m:r>
                        <a:rPr lang="en-US" altLang="zh-CN" sz="2000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𝝀</m:t>
                          </m:r>
                          <m:sSub>
                            <m:sSub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sub>
                          </m:sSub>
                        </m:den>
                      </m:f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𝟎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.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𝟏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sSup>
                            <m:sSup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e>
                            <m:sup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𝟐𝟎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2000" b="1" i="1" dirty="0" smtClean="0">
                          <a:latin typeface="Cambria Math" panose="02040503050406030204" pitchFamily="18" charset="0"/>
                        </a:rPr>
                        <m:t>𝜴</m:t>
                      </m:r>
                    </m:oMath>
                  </m:oMathPara>
                </a14:m>
                <a:endParaRPr lang="en-US" altLang="zh-CN" sz="2000" b="1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220" y="2871567"/>
                <a:ext cx="10994796" cy="7473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6304664" y="3045204"/>
                <a:ext cx="603561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𝒈</m:t>
                          </m:r>
                        </m:e>
                        <m:sub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𝒎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𝒓</m:t>
                          </m:r>
                        </m:e>
                        <m:sub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</m:t>
                          </m:r>
                        </m:sub>
                      </m:sSub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𝟕𝟑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𝟐𝟕</m:t>
                      </m:r>
                    </m:oMath>
                  </m:oMathPara>
                </a14:m>
                <a:endParaRPr lang="en-US" altLang="zh-CN" sz="2000" b="1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4664" y="3045204"/>
                <a:ext cx="6035618" cy="400110"/>
              </a:xfrm>
              <a:prstGeom prst="rect">
                <a:avLst/>
              </a:prstGeom>
              <a:blipFill>
                <a:blip r:embed="rId6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389891" y="3836805"/>
            <a:ext cx="2985113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对于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PMOS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，同理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8529963" y="4345929"/>
            <a:ext cx="3240360" cy="617914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678220" y="4345929"/>
                <a:ext cx="2419207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𝒈</m:t>
                          </m:r>
                        </m:e>
                        <m:sub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𝒎</m:t>
                          </m:r>
                        </m:sub>
                      </m:sSub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𝟗𝟓𝟖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𝒎𝑺</m:t>
                      </m:r>
                    </m:oMath>
                  </m:oMathPara>
                </a14:m>
                <a:endParaRPr lang="en-US" altLang="zh-CN" sz="2000" b="1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220" y="4345929"/>
                <a:ext cx="2419207" cy="400110"/>
              </a:xfrm>
              <a:prstGeom prst="rect">
                <a:avLst/>
              </a:prstGeom>
              <a:blipFill>
                <a:blip r:embed="rId7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3166346" y="4345929"/>
                <a:ext cx="244437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𝒓</m:t>
                          </m:r>
                        </m:e>
                        <m:sub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</m:t>
                          </m:r>
                        </m:sub>
                      </m:sSub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2000" b="1" i="1" dirty="0" smtClean="0">
                          <a:latin typeface="Cambria Math" panose="02040503050406030204" pitchFamily="18" charset="0"/>
                        </a:rPr>
                        <m:t>𝜴</m:t>
                      </m:r>
                    </m:oMath>
                  </m:oMathPara>
                </a14:m>
                <a:endParaRPr lang="en-US" altLang="zh-CN" sz="2000" b="1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6346" y="4345929"/>
                <a:ext cx="244437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5010128" y="4310865"/>
                <a:ext cx="253271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𝒈</m:t>
                          </m:r>
                        </m:e>
                        <m:sub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𝒎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𝒓</m:t>
                          </m:r>
                        </m:e>
                        <m:sub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</m:t>
                          </m:r>
                        </m:sub>
                      </m:sSub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𝟏𝟗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𝟓𝟖</m:t>
                      </m:r>
                    </m:oMath>
                  </m:oMathPara>
                </a14:m>
                <a:endParaRPr lang="en-US" altLang="zh-CN" sz="2000" b="1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0128" y="4310865"/>
                <a:ext cx="2532710" cy="400110"/>
              </a:xfrm>
              <a:prstGeom prst="rect">
                <a:avLst/>
              </a:prstGeom>
              <a:blipFill>
                <a:blip r:embed="rId9"/>
                <a:stretch>
                  <a:fillRect l="-241"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9771337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1708" y="1609697"/>
            <a:ext cx="1885950" cy="2800350"/>
          </a:xfrm>
          <a:prstGeom prst="rect">
            <a:avLst/>
          </a:prstGeom>
        </p:spPr>
      </p:pic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389891" y="208470"/>
            <a:ext cx="5832475" cy="776288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2.5(a)</a:t>
            </a:r>
            <a:endParaRPr lang="zh-CN" alt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7843206" y="428555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89891" y="1209587"/>
                <a:ext cx="723980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题目：画出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𝑰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zh-CN" altLang="en-US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和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𝒈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关于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zh-CN" altLang="en-US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的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函数曲线草图，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从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变化到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𝑫𝑫</m:t>
                        </m:r>
                      </m:sub>
                    </m:sSub>
                  </m:oMath>
                </a14:m>
                <a:endParaRPr lang="zh-CN" altLang="en-US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1209587"/>
                <a:ext cx="7239802" cy="400110"/>
              </a:xfrm>
              <a:prstGeom prst="rect">
                <a:avLst/>
              </a:prstGeom>
              <a:blipFill>
                <a:blip r:embed="rId3"/>
                <a:stretch>
                  <a:fillRect l="-926" t="-10606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89891" y="1834526"/>
                <a:ext cx="7987990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解答：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是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NMOS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管</a:t>
                </a:r>
                <a14:m>
                  <m:oMath xmlns:m="http://schemas.openxmlformats.org/officeDocument/2006/math">
                    <m:r>
                      <a:rPr lang="zh-CN" altLang="en-US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，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从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变化到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𝑫𝑫</m:t>
                        </m:r>
                      </m:sub>
                    </m:sSub>
                    <m:r>
                      <a:rPr lang="zh-CN" altLang="en-US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，</m:t>
                    </m:r>
                    <m:r>
                      <m:rPr>
                        <m:nor/>
                      </m:rPr>
                      <a:rPr lang="en-US" altLang="zh-CN" sz="2000" b="1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m:t>M</m:t>
                    </m:r>
                    <m:r>
                      <m:rPr>
                        <m:nor/>
                      </m:rPr>
                      <a:rPr lang="en-US" altLang="zh-CN" sz="2000" b="1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m:t>1</m:t>
                    </m:r>
                  </m:oMath>
                </a14:m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先饱和后截止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求解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从饱和区进入截止区的临界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值，列出临界状态方程：</a:t>
                </a: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1834526"/>
                <a:ext cx="7987990" cy="1015663"/>
              </a:xfrm>
              <a:prstGeom prst="rect">
                <a:avLst/>
              </a:prstGeom>
              <a:blipFill>
                <a:blip r:embed="rId4"/>
                <a:stretch>
                  <a:fillRect l="-840" b="-41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801788" y="2874963"/>
                <a:ext cx="8539920" cy="4277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𝑮𝑺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−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𝑻𝑯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𝑫𝑫</m:t>
                          </m:r>
                        </m:sub>
                      </m:sSub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−(</m:t>
                      </m:r>
                      <m:sSub>
                        <m:sSub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𝑻𝑯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b="1" i="1" dirty="0" smtClean="0">
                          <a:latin typeface="Cambria Math" panose="02040503050406030204" pitchFamily="18" charset="0"/>
                        </a:rPr>
                        <m:t>𝜸</m:t>
                      </m:r>
                      <m:d>
                        <m:d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sSub>
                                <m:sSub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sub>
                              </m:sSub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sub>
                              </m:sSub>
                            </m:e>
                          </m:rad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sSub>
                                <m:sSub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sub>
                              </m:sSub>
                            </m:e>
                          </m:rad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altLang="zh-CN" b="1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788" y="2874963"/>
                <a:ext cx="8539920" cy="427746"/>
              </a:xfrm>
              <a:prstGeom prst="rect">
                <a:avLst/>
              </a:prstGeom>
              <a:blipFill>
                <a:blip r:embed="rId5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/>
              <p:cNvSpPr/>
              <p:nvPr/>
            </p:nvSpPr>
            <p:spPr>
              <a:xfrm>
                <a:off x="389891" y="3420369"/>
                <a:ext cx="7987990" cy="5539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CN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𝟗𝟔𝟓</m:t>
                    </m:r>
                    <m:r>
                      <a:rPr lang="en-US" altLang="zh-CN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，则当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dirty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dirty="0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000" b="1" i="1" dirty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000" b="1" i="1" dirty="0">
                        <a:latin typeface="Cambria Math" panose="02040503050406030204" pitchFamily="18" charset="0"/>
                      </a:rPr>
                      <m:t>𝟗𝟔𝟓</m:t>
                    </m:r>
                    <m:r>
                      <a:rPr lang="en-US" altLang="zh-CN" sz="2000" b="1" i="1" dirty="0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时，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处在饱和区，有：</a:t>
                </a:r>
              </a:p>
            </p:txBody>
          </p:sp>
        </mc:Choice>
        <mc:Fallback xmlns=""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3420369"/>
                <a:ext cx="7987990" cy="553998"/>
              </a:xfrm>
              <a:prstGeom prst="rect">
                <a:avLst/>
              </a:prstGeom>
              <a:blipFill>
                <a:blip r:embed="rId6"/>
                <a:stretch>
                  <a:fillRect l="-840" b="-87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477795" y="3974367"/>
                <a:ext cx="7550142" cy="714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𝑰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𝑿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</m:den>
                      </m:f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𝒐𝒙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𝑾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𝑳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𝑫𝑫</m:t>
                                  </m:r>
                                </m:sub>
                              </m:sSub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sub>
                              </m:sSub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 dirty="0">
                                          <a:latin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altLang="zh-CN" b="1" i="1" dirty="0">
                                          <a:latin typeface="Cambria Math" panose="02040503050406030204" pitchFamily="18" charset="0"/>
                                        </a:rPr>
                                        <m:t>𝑻𝑯</m:t>
                                      </m:r>
                                      <m:r>
                                        <a:rPr lang="en-US" altLang="zh-CN" b="1" i="1" dirty="0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b="1" i="1" dirty="0">
                                      <a:latin typeface="Cambria Math" panose="02040503050406030204" pitchFamily="18" charset="0"/>
                                    </a:rPr>
                                    <m:t>𝜸</m:t>
                                  </m:r>
                                  <m:d>
                                    <m:dPr>
                                      <m:ctrlPr>
                                        <a:rPr lang="en-US" altLang="zh-CN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altLang="zh-CN" b="1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b="1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𝑭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b="1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𝑽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𝑿</m:t>
                                              </m:r>
                                            </m:sub>
                                          </m:sSub>
                                        </m:e>
                                      </m:rad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−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altLang="zh-CN" b="1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b="1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𝑭</m:t>
                                              </m:r>
                                            </m:sub>
                                          </m:sSub>
                                        </m:e>
                                      </m:rad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b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95" y="3974367"/>
                <a:ext cx="7550142" cy="7146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/>
              <p:cNvSpPr/>
              <p:nvPr/>
            </p:nvSpPr>
            <p:spPr>
              <a:xfrm>
                <a:off x="385429" y="4654887"/>
                <a:ext cx="7550142" cy="714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𝒈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𝒎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𝒐𝒙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𝑾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𝑳</m:t>
                              </m:r>
                            </m:den>
                          </m:f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[</m:t>
                      </m:r>
                      <m:sSub>
                        <m:sSub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𝑫𝑫</m:t>
                          </m:r>
                        </m:sub>
                      </m:sSub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−(</m:t>
                      </m:r>
                      <m:sSub>
                        <m:sSub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𝑻𝑯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b="1" i="1" dirty="0">
                          <a:latin typeface="Cambria Math" panose="02040503050406030204" pitchFamily="18" charset="0"/>
                        </a:rPr>
                        <m:t>𝜸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sSub>
                                <m:sSub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sub>
                              </m:sSub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sub>
                              </m:sSub>
                            </m:e>
                          </m:rad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sSub>
                                <m:sSub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sub>
                              </m:sSub>
                            </m:e>
                          </m:rad>
                        </m:e>
                      </m:d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]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429" y="4654887"/>
                <a:ext cx="7550142" cy="7146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477795" y="5369570"/>
                <a:ext cx="5908156" cy="4955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dirty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dirty="0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zh-CN" sz="2000" b="1" i="1" dirty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000" b="1" i="1" dirty="0">
                        <a:latin typeface="Cambria Math" panose="02040503050406030204" pitchFamily="18" charset="0"/>
                      </a:rPr>
                      <m:t>𝟗𝟔𝟓</m:t>
                    </m:r>
                    <m:r>
                      <a:rPr lang="en-US" altLang="zh-CN" sz="2000" b="1" i="1" dirty="0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时，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处在截止区，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𝑰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zh-CN" altLang="en-US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和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𝒈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都为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lang="zh-CN" altLang="en-US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95" y="5369570"/>
                <a:ext cx="5908156" cy="495585"/>
              </a:xfrm>
              <a:prstGeom prst="rect">
                <a:avLst/>
              </a:prstGeom>
              <a:blipFill>
                <a:blip r:embed="rId9"/>
                <a:stretch>
                  <a:fillRect l="-1031" r="-412" b="-2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3332782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507" y="1873589"/>
            <a:ext cx="5334011" cy="4000508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562886" y="1212628"/>
            <a:ext cx="7987990" cy="498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画出草图如下：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2366" y="1873589"/>
            <a:ext cx="5334011" cy="4000508"/>
          </a:xfrm>
          <a:prstGeom prst="rect">
            <a:avLst/>
          </a:prstGeom>
        </p:spPr>
      </p:pic>
      <p:sp>
        <p:nvSpPr>
          <p:cNvPr id="8" name="标题 1"/>
          <p:cNvSpPr txBox="1">
            <a:spLocks/>
          </p:cNvSpPr>
          <p:nvPr/>
        </p:nvSpPr>
        <p:spPr>
          <a:xfrm>
            <a:off x="389891" y="208470"/>
            <a:ext cx="5832475" cy="776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2.5(a)</a:t>
            </a:r>
            <a:endParaRPr lang="zh-CN" alt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094458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8675" y="984758"/>
            <a:ext cx="3743325" cy="2705100"/>
          </a:xfrm>
          <a:prstGeom prst="rect">
            <a:avLst/>
          </a:prstGeom>
        </p:spPr>
      </p:pic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389891" y="208470"/>
            <a:ext cx="5832475" cy="776288"/>
          </a:xfrm>
        </p:spPr>
        <p:txBody>
          <a:bodyPr/>
          <a:lstStyle/>
          <a:p>
            <a: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2.5(b)</a:t>
            </a:r>
            <a:endParaRPr lang="zh-CN" alt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89891" y="1209587"/>
                <a:ext cx="723980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题目：画出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𝑰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zh-CN" altLang="en-US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和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𝒈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关于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zh-CN" altLang="en-US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的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函数曲线草图，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从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变化到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𝑫𝑫</m:t>
                        </m:r>
                      </m:sub>
                    </m:sSub>
                  </m:oMath>
                </a14:m>
                <a:endParaRPr lang="zh-CN" altLang="en-US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1209587"/>
                <a:ext cx="7239802" cy="400110"/>
              </a:xfrm>
              <a:prstGeom prst="rect">
                <a:avLst/>
              </a:prstGeom>
              <a:blipFill>
                <a:blip r:embed="rId3"/>
                <a:stretch>
                  <a:fillRect l="-926" t="-10606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89891" y="1615423"/>
                <a:ext cx="11522023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解答：</a:t>
                </a:r>
                <a:r>
                  <a:rPr lang="en-US" altLang="zh-CN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NMOS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管源漏互换的条件，哪边电势为低哪边是源端</a:t>
                </a:r>
                <a:endPara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因此对于本题，分三种情况讨论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(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为方便讨论计算，不考虑体效应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)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：</a:t>
                </a: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&lt;1V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源漏互换，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𝑫𝑺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𝟏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&lt;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𝑮𝑺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𝑻𝑯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𝟏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𝟐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zh-CN" altLang="en-US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，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故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处在线性区</a:t>
                </a: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1615423"/>
                <a:ext cx="11522023" cy="1477328"/>
              </a:xfrm>
              <a:prstGeom prst="rect">
                <a:avLst/>
              </a:prstGeom>
              <a:blipFill>
                <a:blip r:embed="rId4"/>
                <a:stretch>
                  <a:fillRect l="-582" b="-28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489043" y="3092751"/>
                <a:ext cx="7550142" cy="714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𝑰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𝑿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−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𝒐𝒙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𝑾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𝑳</m:t>
                              </m:r>
                            </m:den>
                          </m:f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b="1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𝟏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.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𝟗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𝑿</m:t>
                                  </m:r>
                                </m:sub>
                              </m:sSub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𝑻𝑯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𝟏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𝑿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𝟐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𝟏</m:t>
                                  </m:r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b="1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altLang="zh-CN" b="1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𝑿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43" y="3092751"/>
                <a:ext cx="7550142" cy="714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785903" y="3807434"/>
                <a:ext cx="4469839" cy="714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𝒈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𝒎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𝑮𝑺</m:t>
                              </m:r>
                            </m:sub>
                          </m:sSub>
                        </m:den>
                      </m:f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−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𝒐𝒙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𝑾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𝑳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𝟏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𝑿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903" y="3807434"/>
                <a:ext cx="4469839" cy="7146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489043" y="4522117"/>
                <a:ext cx="9981548" cy="4955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CN" sz="2000" b="1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CN" sz="2000" b="1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sz="2000" b="1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m:t>&lt;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&lt;1.2V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𝑫𝑺</m:t>
                        </m:r>
                      </m:sub>
                    </m:sSub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𝟏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&lt;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𝑮𝑺</m:t>
                        </m:r>
                      </m:sub>
                    </m:sSub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𝑻𝑯</m:t>
                        </m:r>
                      </m:sub>
                    </m:sSub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𝟎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𝟐</m:t>
                    </m:r>
                    <m:r>
                      <a:rPr lang="zh-CN" altLang="en-US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，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故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处在线性区</a:t>
                </a: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43" y="4522117"/>
                <a:ext cx="9981548" cy="495585"/>
              </a:xfrm>
              <a:prstGeom prst="rect">
                <a:avLst/>
              </a:prstGeom>
              <a:blipFill>
                <a:blip r:embed="rId7"/>
                <a:stretch>
                  <a:fillRect l="-611" b="-2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389891" y="5082939"/>
                <a:ext cx="7550142" cy="714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𝑰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𝑿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𝒐𝒙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𝑾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𝑳</m:t>
                              </m:r>
                            </m:den>
                          </m:f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b="1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𝟏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.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𝟗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𝟏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𝑻𝑯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𝑿</m:t>
                                  </m:r>
                                </m:sub>
                              </m:sSub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𝟏</m:t>
                              </m:r>
                            </m:e>
                          </m:d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𝟐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1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altLang="zh-CN" b="1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𝑿</m:t>
                                      </m:r>
                                    </m:sub>
                                  </m:sSub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−</m:t>
                                  </m:r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𝟏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5082939"/>
                <a:ext cx="7550142" cy="7146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840184" y="5651806"/>
                <a:ext cx="4469839" cy="714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𝒈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𝒎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𝑮𝑺</m:t>
                              </m:r>
                            </m:sub>
                          </m:sSub>
                        </m:den>
                      </m:f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𝒐𝒙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𝑾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𝑳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𝑿</m:t>
                              </m:r>
                            </m:sub>
                          </m:sSub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184" y="5651806"/>
                <a:ext cx="4469839" cy="71468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7545026" y="3863603"/>
                <a:ext cx="4982390" cy="658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若考虑体效应，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𝑻𝑯</m:t>
                        </m:r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𝒎𝒂𝒙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𝟎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𝟖𝟗𝟑𝟒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&lt;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𝟎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𝟗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  <m:r>
                      <a:rPr lang="zh-CN" alt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，</m:t>
                    </m:r>
                  </m:oMath>
                </a14:m>
                <a:endPara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r>
                  <a:rPr lang="en-US" altLang="zh-CN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仍然处在线性区</a:t>
                </a: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5026" y="3863603"/>
                <a:ext cx="4982390" cy="658514"/>
              </a:xfrm>
              <a:prstGeom prst="rect">
                <a:avLst/>
              </a:prstGeom>
              <a:blipFill>
                <a:blip r:embed="rId10"/>
                <a:stretch>
                  <a:fillRect l="-1102" t="-8333" b="-1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7545026" y="5246829"/>
                <a:ext cx="437604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若考虑体效应，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𝑻𝑯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𝟎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𝟖𝟗𝟑𝟒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  <m:r>
                      <a:rPr lang="zh-CN" alt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，</m:t>
                    </m:r>
                  </m:oMath>
                </a14:m>
                <a:r>
                  <a:rPr lang="zh-CN" alt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线性区的临界条件变为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𝟏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𝟎𝟎𝟔𝟔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</m:oMath>
                </a14:m>
                <a:endParaRPr lang="zh-CN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5026" y="5246829"/>
                <a:ext cx="4376040" cy="646331"/>
              </a:xfrm>
              <a:prstGeom prst="rect">
                <a:avLst/>
              </a:prstGeom>
              <a:blipFill>
                <a:blip r:embed="rId11"/>
                <a:stretch>
                  <a:fillRect l="-1253" t="-7547" r="-279" b="-122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802443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8675" y="984758"/>
            <a:ext cx="3743325" cy="2705100"/>
          </a:xfrm>
          <a:prstGeom prst="rect">
            <a:avLst/>
          </a:prstGeom>
        </p:spPr>
      </p:pic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389891" y="208470"/>
            <a:ext cx="5832475" cy="776288"/>
          </a:xfrm>
        </p:spPr>
        <p:txBody>
          <a:bodyPr/>
          <a:lstStyle/>
          <a:p>
            <a: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2.5(b)</a:t>
            </a:r>
            <a:endParaRPr lang="zh-CN" alt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89891" y="1209587"/>
                <a:ext cx="723980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题目：画出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𝑰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zh-CN" altLang="en-US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和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𝒈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关于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zh-CN" altLang="en-US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的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函数曲线草图，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从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变化到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𝑫𝑫</m:t>
                        </m:r>
                      </m:sub>
                    </m:sSub>
                  </m:oMath>
                </a14:m>
                <a:endParaRPr lang="zh-CN" altLang="en-US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1209587"/>
                <a:ext cx="7239802" cy="400110"/>
              </a:xfrm>
              <a:prstGeom prst="rect">
                <a:avLst/>
              </a:prstGeom>
              <a:blipFill>
                <a:blip r:embed="rId3"/>
                <a:stretch>
                  <a:fillRect l="-926" t="-10606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89891" y="1615423"/>
                <a:ext cx="11522023" cy="4955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解答：③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&gt;1.2V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𝑫𝑺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𝟏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&gt;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𝑮𝑺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𝑻𝑯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𝟎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𝟐</m:t>
                    </m:r>
                    <m:r>
                      <a:rPr lang="zh-CN" altLang="en-US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，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故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处在饱和区</a:t>
                </a: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1615423"/>
                <a:ext cx="11522023" cy="495585"/>
              </a:xfrm>
              <a:prstGeom prst="rect">
                <a:avLst/>
              </a:prstGeom>
              <a:blipFill>
                <a:blip r:embed="rId4"/>
                <a:stretch>
                  <a:fillRect l="-582" b="-2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491524" y="2188612"/>
                <a:ext cx="4423702" cy="714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𝑰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𝑿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𝟐</m:t>
                              </m:r>
                            </m:den>
                          </m:f>
                          <m:r>
                            <a:rPr lang="zh-CN" altLang="en-US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𝒐𝒙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𝑾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𝑳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𝟏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.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𝟗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𝟏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𝑻𝑯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b="0" i="0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524" y="2188612"/>
                <a:ext cx="4423702" cy="714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4718532" y="2182886"/>
                <a:ext cx="4323851" cy="714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𝒈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𝒎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𝒐𝒙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𝑾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𝑳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𝟏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.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𝟗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𝟏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𝑻𝑯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8532" y="2182886"/>
                <a:ext cx="4323851" cy="7146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082" y="2909021"/>
            <a:ext cx="4638506" cy="347887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8367" y="2909021"/>
            <a:ext cx="46368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220013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0608" y="1320865"/>
            <a:ext cx="3581400" cy="2724150"/>
          </a:xfrm>
          <a:prstGeom prst="rect">
            <a:avLst/>
          </a:prstGeom>
        </p:spPr>
      </p:pic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389891" y="208470"/>
            <a:ext cx="5832475" cy="776288"/>
          </a:xfrm>
        </p:spPr>
        <p:txBody>
          <a:bodyPr/>
          <a:lstStyle/>
          <a:p>
            <a:pPr eaLnBrk="1" hangingPunct="1"/>
            <a: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2.5(c) </a:t>
            </a:r>
            <a:endParaRPr lang="zh-CN" alt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89891" y="1209587"/>
                <a:ext cx="723980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题目：画出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𝑰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zh-CN" altLang="en-US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和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𝒈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关于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zh-CN" altLang="en-US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的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函数曲线草图，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从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变化到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𝑫𝑫</m:t>
                        </m:r>
                      </m:sub>
                    </m:sSub>
                  </m:oMath>
                </a14:m>
                <a:endParaRPr lang="zh-CN" altLang="en-US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1209587"/>
                <a:ext cx="7239802" cy="400110"/>
              </a:xfrm>
              <a:prstGeom prst="rect">
                <a:avLst/>
              </a:prstGeom>
              <a:blipFill>
                <a:blip r:embed="rId3"/>
                <a:stretch>
                  <a:fillRect l="-926" t="-10606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89891" y="1609697"/>
                <a:ext cx="7987990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解答：与上题相同，需要考虑源漏互换的情况，假设不考虑体效应</a:t>
                </a: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ea typeface="宋体" panose="02010600030101010101" pitchFamily="2" charset="-122"/>
                  </a:rPr>
                  <a:t>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&lt;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𝟏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𝟗𝐕</m:t>
                    </m:r>
                    <m:r>
                      <a:rPr lang="zh-CN" altLang="en-US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，</m:t>
                    </m:r>
                  </m:oMath>
                </a14:m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源漏互换，当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&gt;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𝑻𝑯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en-US" altLang="zh-CN" sz="2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&lt;</m:t>
                    </m:r>
                    <m:r>
                      <a:rPr lang="en-US" altLang="zh-CN" sz="2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𝟎</m:t>
                    </m:r>
                    <m:r>
                      <a:rPr lang="en-US" altLang="zh-CN" sz="2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𝟑𝐕</m:t>
                    </m:r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饱和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1609697"/>
                <a:ext cx="7987990" cy="1015663"/>
              </a:xfrm>
              <a:prstGeom prst="rect">
                <a:avLst/>
              </a:prstGeom>
              <a:blipFill>
                <a:blip r:embed="rId4"/>
                <a:stretch>
                  <a:fillRect l="-840" r="-153" b="-41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326767" y="2629577"/>
                <a:ext cx="4423702" cy="714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𝑰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𝑿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−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𝟐</m:t>
                              </m:r>
                            </m:den>
                          </m:f>
                          <m:r>
                            <a:rPr lang="zh-CN" altLang="en-US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𝒐𝒙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𝑾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𝑳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𝟏</m:t>
                              </m:r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𝑿</m:t>
                                  </m:r>
                                </m:sub>
                              </m:sSub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𝑻𝑯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b="0" i="0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67" y="2629577"/>
                <a:ext cx="4423702" cy="714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4750469" y="2629576"/>
                <a:ext cx="4323851" cy="714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𝒈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𝒎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−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𝒐𝒙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𝑾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𝑳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𝟏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𝑿</m:t>
                              </m:r>
                            </m:sub>
                          </m:sSub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𝑻𝑯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0469" y="2629576"/>
                <a:ext cx="4323851" cy="7146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422842" y="3344630"/>
                <a:ext cx="3444789" cy="4955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𝟎</m:t>
                        </m:r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.</m:t>
                        </m:r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𝟑</m:t>
                        </m:r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&lt;</m:t>
                        </m:r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en-US" altLang="zh-CN" sz="20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&lt;</m:t>
                    </m:r>
                    <m:r>
                      <a:rPr lang="en-US" altLang="zh-CN" sz="20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𝟏</m:t>
                    </m:r>
                    <m:r>
                      <a:rPr lang="en-US" altLang="zh-CN" sz="20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𝟗𝐕</m:t>
                    </m:r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截止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842" y="3344630"/>
                <a:ext cx="3444789" cy="495585"/>
              </a:xfrm>
              <a:prstGeom prst="rect">
                <a:avLst/>
              </a:prstGeom>
              <a:blipFill>
                <a:blip r:embed="rId7"/>
                <a:stretch>
                  <a:fillRect r="-1593" b="-2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4292683" y="3470883"/>
                <a:ext cx="91557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𝑰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𝑿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𝟎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2683" y="3470883"/>
                <a:ext cx="91557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5556443" y="3470883"/>
                <a:ext cx="100854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𝒈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𝒎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𝟎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6443" y="3470883"/>
                <a:ext cx="1008545" cy="369332"/>
              </a:xfrm>
              <a:prstGeom prst="rect">
                <a:avLst/>
              </a:prstGeom>
              <a:blipFill>
                <a:blip r:embed="rId9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422842" y="4045015"/>
                <a:ext cx="279788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en-US" altLang="zh-CN" sz="2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&gt;</m:t>
                    </m:r>
                    <m:r>
                      <a:rPr lang="en-US" altLang="zh-CN" sz="20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𝟏</m:t>
                    </m:r>
                    <m:r>
                      <a:rPr lang="en-US" altLang="zh-CN" sz="20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𝟗𝐕</m:t>
                    </m:r>
                    <m:r>
                      <m:rPr>
                        <m:nor/>
                      </m:rPr>
                      <a:rPr lang="zh-CN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m:t>，</m:t>
                    </m:r>
                    <m:r>
                      <m:rPr>
                        <m:nor/>
                      </m:rPr>
                      <a:rPr lang="en-US" altLang="zh-CN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m:t>M</m:t>
                    </m:r>
                    <m:r>
                      <m:rPr>
                        <m:nor/>
                      </m:rPr>
                      <a:rPr lang="en-US" altLang="zh-CN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m:t>1</m:t>
                    </m:r>
                    <m:r>
                      <m:rPr>
                        <m:nor/>
                      </m:rPr>
                      <a:rPr lang="zh-CN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m:t>截止</m:t>
                    </m:r>
                  </m:oMath>
                </a14:m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842" y="4045015"/>
                <a:ext cx="2797882" cy="400110"/>
              </a:xfrm>
              <a:prstGeom prst="rect">
                <a:avLst/>
              </a:prstGeom>
              <a:blipFill>
                <a:blip r:embed="rId10"/>
                <a:stretch>
                  <a:fillRect l="-2179" t="-12308" r="-654" b="-24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4292683" y="4050865"/>
                <a:ext cx="91557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𝑰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𝑿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𝟎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2683" y="4050865"/>
                <a:ext cx="91557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5556443" y="4050865"/>
                <a:ext cx="100854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𝒈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𝒎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𝟎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6443" y="4050865"/>
                <a:ext cx="1008545" cy="369332"/>
              </a:xfrm>
              <a:prstGeom prst="rect">
                <a:avLst/>
              </a:prstGeom>
              <a:blipFill>
                <a:blip r:embed="rId1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7512602" y="4333847"/>
                <a:ext cx="4068871" cy="9817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若考虑体效应，</a:t>
                </a:r>
                <a:r>
                  <a:rPr lang="en-US" altLang="zh-CN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饱和条件为：</a:t>
                </a:r>
                <a:endPara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r>
                  <a:rPr lang="en-US" altLang="zh-CN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𝑻𝑯</m:t>
                        </m:r>
                        <m: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𝜸</m:t>
                    </m:r>
                    <m:d>
                      <m:dPr>
                        <m:ctrlP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sSub>
                              <m:sSubPr>
                                <m:ctrlPr>
                                  <a:rPr lang="en-US" altLang="zh-CN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altLang="zh-CN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sub>
                            </m:sSub>
                            <m:r>
                              <a:rPr lang="en-US" altLang="zh-CN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altLang="zh-CN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sub>
                            </m:sSub>
                          </m:e>
                        </m:rad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sSub>
                              <m:sSubPr>
                                <m:ctrlPr>
                                  <a:rPr lang="en-US" altLang="zh-CN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altLang="zh-CN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sub>
                            </m:sSub>
                          </m:e>
                        </m:rad>
                      </m:e>
                    </m:d>
                  </m:oMath>
                </a14:m>
                <a:endPara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altLang="zh-CN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zh-CN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altLang="zh-CN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zh-CN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𝟐𝟒𝟓𝟑</m:t>
                      </m:r>
                      <m:r>
                        <a:rPr lang="en-US" altLang="zh-CN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𝑽</m:t>
                      </m:r>
                    </m:oMath>
                  </m:oMathPara>
                </a14:m>
                <a:endParaRPr lang="zh-CN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2602" y="4333847"/>
                <a:ext cx="4068871" cy="981744"/>
              </a:xfrm>
              <a:prstGeom prst="rect">
                <a:avLst/>
              </a:prstGeom>
              <a:blipFill>
                <a:blip r:embed="rId13"/>
                <a:stretch>
                  <a:fillRect l="-1198" t="-49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9338340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600" y="1090205"/>
            <a:ext cx="3581400" cy="2724150"/>
          </a:xfrm>
          <a:prstGeom prst="rect">
            <a:avLst/>
          </a:prstGeom>
        </p:spPr>
      </p:pic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389891" y="208470"/>
            <a:ext cx="5832475" cy="776288"/>
          </a:xfrm>
        </p:spPr>
        <p:txBody>
          <a:bodyPr/>
          <a:lstStyle/>
          <a:p>
            <a:pPr eaLnBrk="1" hangingPunct="1"/>
            <a: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2.5(c) </a:t>
            </a:r>
            <a:endParaRPr lang="zh-CN" alt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89891" y="1209587"/>
                <a:ext cx="723980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题目：画出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𝑰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zh-CN" altLang="en-US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和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𝒈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关于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zh-CN" altLang="en-US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的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函数曲线草图，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从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变化到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𝑫𝑫</m:t>
                        </m:r>
                      </m:sub>
                    </m:sSub>
                  </m:oMath>
                </a14:m>
                <a:endParaRPr lang="zh-CN" altLang="en-US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1209587"/>
                <a:ext cx="7239802" cy="400110"/>
              </a:xfrm>
              <a:prstGeom prst="rect">
                <a:avLst/>
              </a:prstGeom>
              <a:blipFill>
                <a:blip r:embed="rId3"/>
                <a:stretch>
                  <a:fillRect l="-926" t="-10606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389891" y="1609697"/>
            <a:ext cx="7987990" cy="495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解答：画出草图如下：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891" y="2285481"/>
            <a:ext cx="4608000" cy="3456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7891" y="2285481"/>
            <a:ext cx="4608000" cy="34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948848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4450" y="1976971"/>
            <a:ext cx="3257550" cy="2705100"/>
          </a:xfrm>
          <a:prstGeom prst="rect">
            <a:avLst/>
          </a:prstGeom>
        </p:spPr>
      </p:pic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389891" y="208470"/>
            <a:ext cx="5832475" cy="776288"/>
          </a:xfrm>
        </p:spPr>
        <p:txBody>
          <a:bodyPr/>
          <a:lstStyle/>
          <a:p>
            <a:pPr eaLnBrk="1" hangingPunct="1"/>
            <a: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2.5(d) </a:t>
            </a:r>
            <a:endParaRPr lang="zh-CN" alt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89891" y="1209587"/>
                <a:ext cx="723980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题目：画出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𝑰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zh-CN" altLang="en-US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和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𝒈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关于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zh-CN" altLang="en-US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的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函数曲线草图，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从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变化到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𝑫𝑫</m:t>
                        </m:r>
                      </m:sub>
                    </m:sSub>
                  </m:oMath>
                </a14:m>
                <a:endParaRPr lang="zh-CN" altLang="en-US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1209587"/>
                <a:ext cx="7239802" cy="400110"/>
              </a:xfrm>
              <a:prstGeom prst="rect">
                <a:avLst/>
              </a:prstGeom>
              <a:blipFill>
                <a:blip r:embed="rId3"/>
                <a:stretch>
                  <a:fillRect l="-926" t="-10606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89890" y="1609697"/>
                <a:ext cx="10970088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解答：</a:t>
                </a:r>
                <a:r>
                  <a:rPr lang="en-US" altLang="zh-CN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PMOS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管源漏互换的条件，哪边电势为高哪边是源端，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假设不考虑体效应</a:t>
                </a:r>
                <a:endPara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ea typeface="宋体" panose="02010600030101010101" pitchFamily="2" charset="-122"/>
                  </a:rPr>
                  <a:t>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en-US" altLang="zh-CN" sz="2000" b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&lt;</m:t>
                    </m:r>
                    <m:r>
                      <a:rPr lang="en-US" altLang="zh-CN" sz="2000" b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𝟏</m:t>
                    </m:r>
                    <m:r>
                      <a:rPr lang="en-US" altLang="zh-CN" sz="2000" b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𝟗𝐕</m:t>
                    </m:r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时，源漏互换，源端在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下，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𝑮𝑺</m:t>
                            </m:r>
                          </m:sub>
                        </m:sSub>
                      </m:e>
                    </m:d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𝟎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𝟗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𝑻𝑯𝑷</m:t>
                            </m:r>
                          </m:sub>
                        </m:sSub>
                      </m:e>
                    </m:d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𝟎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𝟖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，则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𝟏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.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𝟗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𝑮𝑺</m:t>
                            </m:r>
                          </m:sub>
                        </m:sSub>
                      </m:e>
                    </m:d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𝑻𝑯</m:t>
                            </m:r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𝑷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&lt;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𝟏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𝟖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时，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处在饱和区</a:t>
                </a:r>
                <a:endParaRPr lang="en-US" altLang="zh-CN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0" y="1609697"/>
                <a:ext cx="10970088" cy="1477328"/>
              </a:xfrm>
              <a:prstGeom prst="rect">
                <a:avLst/>
              </a:prstGeom>
              <a:blipFill>
                <a:blip r:embed="rId4"/>
                <a:stretch>
                  <a:fillRect l="-611" b="-28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293816" y="3082169"/>
                <a:ext cx="4423702" cy="714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𝑰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𝑿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−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𝟐</m:t>
                              </m:r>
                            </m:den>
                          </m:f>
                          <m:r>
                            <a:rPr lang="zh-CN" altLang="en-US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𝒑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𝒐𝒙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𝑾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𝑳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𝑮𝑺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𝑻𝑯𝑷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b="0" i="0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816" y="3082169"/>
                <a:ext cx="4423702" cy="714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4717518" y="3082168"/>
                <a:ext cx="4323851" cy="714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𝒈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𝒎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−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𝒐𝒙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𝑾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𝑳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𝑮𝑺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𝑻𝑯𝑷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7518" y="3082168"/>
                <a:ext cx="4323851" cy="7146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389890" y="3777051"/>
                <a:ext cx="6096000" cy="49558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𝟏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𝟖𝐕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&lt;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en-US" altLang="zh-CN" sz="2000" b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&lt;</m:t>
                    </m:r>
                    <m:r>
                      <a:rPr lang="en-US" altLang="zh-CN" sz="2000" b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𝟏</m:t>
                    </m:r>
                    <m:r>
                      <a:rPr lang="en-US" altLang="zh-CN" sz="2000" b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𝟗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时，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处在线性区</a:t>
                </a:r>
                <a:endParaRPr lang="en-US" altLang="zh-CN" sz="2000" b="1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0" y="3777051"/>
                <a:ext cx="6096000" cy="495585"/>
              </a:xfrm>
              <a:prstGeom prst="rect">
                <a:avLst/>
              </a:prstGeom>
              <a:blipFill>
                <a:blip r:embed="rId7"/>
                <a:stretch>
                  <a:fillRect l="-1100" b="-2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0" y="4324730"/>
                <a:ext cx="7577852" cy="714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𝑰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𝑿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−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𝒑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𝒐𝒙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𝑾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𝑳</m:t>
                              </m:r>
                            </m:den>
                          </m:f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[</m:t>
                      </m:r>
                      <m:d>
                        <m:d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𝑮𝑺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𝑻𝑯𝑷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d>
                        <m:d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𝟏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.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𝟗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𝑿</m:t>
                              </m:r>
                            </m:sub>
                          </m:sSub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−</m:t>
                      </m:r>
                      <m:f>
                        <m:f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𝟏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.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𝟗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𝑿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]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324730"/>
                <a:ext cx="7577852" cy="7146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-60411" y="5045507"/>
                <a:ext cx="4269946" cy="714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𝒈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𝒎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−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𝒑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𝒐𝒙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𝑾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𝑳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𝟏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.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𝟗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𝑿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0411" y="5045507"/>
                <a:ext cx="4269946" cy="71468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6045709" y="5039413"/>
                <a:ext cx="5991320" cy="9817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若考虑体效应，</a:t>
                </a:r>
                <a:r>
                  <a:rPr lang="en-US" altLang="zh-CN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PMOS</a:t>
                </a:r>
                <a:r>
                  <a:rPr lang="zh-CN" alt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阈值电压为：</a:t>
                </a:r>
                <a:endPara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𝑻𝑯𝑷</m:t>
                            </m:r>
                          </m:sub>
                        </m:sSub>
                      </m:e>
                    </m:d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𝑻𝑯</m:t>
                            </m:r>
                            <m: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en-US" altLang="zh-CN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𝜸</m:t>
                    </m:r>
                    <m:d>
                      <m:dPr>
                        <m:ctrlP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sSub>
                              <m:sSubPr>
                                <m:ctrlPr>
                                  <a:rPr lang="en-US" altLang="zh-CN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altLang="zh-CN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sub>
                            </m:sSub>
                            <m:r>
                              <a:rPr lang="en-US" altLang="zh-CN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altLang="zh-CN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CN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zh-CN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𝟗</m:t>
                            </m:r>
                          </m:e>
                        </m:rad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sSub>
                              <m:sSubPr>
                                <m:ctrlPr>
                                  <a:rPr lang="en-US" altLang="zh-CN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altLang="zh-CN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sub>
                            </m:sSub>
                          </m:e>
                        </m:rad>
                      </m:e>
                    </m:d>
                  </m:oMath>
                </a14:m>
                <a:r>
                  <a:rPr lang="en-US" altLang="zh-CN" b="1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𝟗𝟗𝟓</m:t>
                    </m:r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𝑽</m:t>
                    </m:r>
                  </m:oMath>
                </a14:m>
                <a:endParaRPr lang="en-US" altLang="zh-CN" b="1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r>
                  <a:rPr lang="zh-CN" alt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故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𝑮𝑺</m:t>
                            </m:r>
                          </m:sub>
                        </m:sSub>
                      </m:e>
                    </m:d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𝑻𝑯𝑷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r>
                  <a:rPr lang="en-US" altLang="zh-CN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截止，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𝑰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𝟎</m:t>
                    </m:r>
                  </m:oMath>
                </a14:m>
                <a:r>
                  <a:rPr lang="zh-CN" altLang="en-US" b="1" dirty="0">
                    <a:solidFill>
                      <a:srgbClr val="FF0000"/>
                    </a:solidFill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𝒈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𝒎</m:t>
                        </m:r>
                      </m:sub>
                    </m:sSub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𝟎</m:t>
                    </m:r>
                  </m:oMath>
                </a14:m>
                <a:endParaRPr lang="zh-CN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5709" y="5039413"/>
                <a:ext cx="5991320" cy="981744"/>
              </a:xfrm>
              <a:prstGeom prst="rect">
                <a:avLst/>
              </a:prstGeom>
              <a:blipFill>
                <a:blip r:embed="rId10"/>
                <a:stretch>
                  <a:fillRect l="-916" t="-4969" b="-93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3165003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389891" y="208470"/>
            <a:ext cx="5832475" cy="776288"/>
          </a:xfrm>
        </p:spPr>
        <p:txBody>
          <a:bodyPr/>
          <a:lstStyle/>
          <a:p>
            <a:pPr eaLnBrk="1" hangingPunct="1"/>
            <a: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2.5(d) </a:t>
            </a:r>
            <a:endParaRPr lang="zh-CN" alt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89891" y="1209587"/>
                <a:ext cx="723980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题目：画出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𝑰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zh-CN" altLang="en-US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和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𝒈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关于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zh-CN" altLang="en-US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的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函数曲线草图，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从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变化到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𝑫𝑫</m:t>
                        </m:r>
                      </m:sub>
                    </m:sSub>
                  </m:oMath>
                </a14:m>
                <a:endParaRPr lang="zh-CN" altLang="en-US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1209587"/>
                <a:ext cx="7239802" cy="400110"/>
              </a:xfrm>
              <a:prstGeom prst="rect">
                <a:avLst/>
              </a:prstGeom>
              <a:blipFill>
                <a:blip r:embed="rId2"/>
                <a:stretch>
                  <a:fillRect l="-926" t="-10606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89890" y="1609697"/>
                <a:ext cx="10970088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解答：</a:t>
                </a:r>
                <a:r>
                  <a:rPr lang="zh-CN" altLang="en-US" sz="2000" b="1" dirty="0">
                    <a:ea typeface="宋体" panose="02010600030101010101" pitchFamily="2" charset="-122"/>
                  </a:rPr>
                  <a:t>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&gt;</m:t>
                    </m:r>
                    <m:r>
                      <a:rPr lang="en-US" altLang="zh-CN" sz="2000" b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𝟏</m:t>
                    </m:r>
                    <m:r>
                      <a:rPr lang="en-US" altLang="zh-CN" sz="2000" b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𝟗𝐕</m:t>
                    </m:r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时，源端在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上，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𝑮𝑺</m:t>
                            </m:r>
                          </m:sub>
                        </m:sSub>
                      </m:e>
                    </m:d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𝟏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𝑻𝑯𝑷</m:t>
                            </m:r>
                          </m:sub>
                        </m:sSub>
                      </m:e>
                    </m:d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𝟎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𝟖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同时，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𝑫</m:t>
                            </m:r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𝑺</m:t>
                            </m:r>
                          </m:sub>
                        </m:sSub>
                      </m:e>
                    </m:d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en-US" altLang="zh-CN" sz="2000" b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r>
                      <a:rPr lang="en-US" altLang="zh-CN" sz="2000" b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𝟏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𝟗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𝑮𝑺</m:t>
                            </m:r>
                          </m:sub>
                        </m:sSub>
                      </m:e>
                    </m:d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𝑻𝑯𝑷</m:t>
                            </m:r>
                          </m:sub>
                        </m:sSub>
                      </m:e>
                    </m:d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en-US" altLang="zh-CN" sz="2000" b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r>
                      <a:rPr lang="en-US" altLang="zh-CN" sz="2000" b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𝟏</m:t>
                    </m:r>
                    <m:r>
                      <a:rPr lang="en-US" altLang="zh-CN" sz="2000" b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𝟖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，则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处在线性区</a:t>
                </a: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0" y="1609697"/>
                <a:ext cx="10970088" cy="1938992"/>
              </a:xfrm>
              <a:prstGeom prst="rect">
                <a:avLst/>
              </a:prstGeom>
              <a:blipFill>
                <a:blip r:embed="rId3"/>
                <a:stretch>
                  <a:fillRect l="-6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4671" y="984758"/>
            <a:ext cx="2115197" cy="17564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0" y="2609309"/>
                <a:ext cx="7577852" cy="714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𝑰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𝑿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𝒑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𝒐𝒙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𝑾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𝑳</m:t>
                              </m:r>
                            </m:den>
                          </m:f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[</m:t>
                      </m:r>
                      <m:d>
                        <m:d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𝑿</m:t>
                              </m:r>
                            </m:sub>
                          </m:sSub>
                          <m:r>
                            <a:rPr lang="en-US" altLang="zh-CN" b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𝟏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𝑻𝑯𝑷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d>
                        <m:d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𝑿</m:t>
                              </m:r>
                            </m:sub>
                          </m:sSub>
                          <m:r>
                            <a:rPr lang="en-US" altLang="zh-CN" b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𝟏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.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𝟗</m:t>
                          </m:r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−</m:t>
                      </m:r>
                      <m:f>
                        <m:f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𝑿</m:t>
                                  </m:r>
                                </m:sub>
                              </m:sSub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𝟏</m:t>
                              </m:r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.</m:t>
                              </m:r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𝟗</m:t>
                              </m:r>
                            </m:e>
                          </m:d>
                        </m:e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]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609309"/>
                <a:ext cx="7577852" cy="714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7090033" y="2609309"/>
                <a:ext cx="4269946" cy="714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𝒈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𝒎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𝒑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𝒐𝒙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𝑾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𝑳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𝑿</m:t>
                              </m:r>
                            </m:sub>
                          </m:sSub>
                          <m:r>
                            <a:rPr lang="en-US" altLang="zh-CN" b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𝟏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.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𝟗</m:t>
                          </m:r>
                        </m:e>
                      </m:d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0033" y="2609309"/>
                <a:ext cx="4269946" cy="7146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14" y="3293084"/>
            <a:ext cx="4320000" cy="3240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503" y="3298924"/>
            <a:ext cx="4320000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940899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1990" y="1091850"/>
            <a:ext cx="3020300" cy="2508085"/>
          </a:xfrm>
          <a:prstGeom prst="rect">
            <a:avLst/>
          </a:prstGeom>
        </p:spPr>
      </p:pic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389891" y="208470"/>
            <a:ext cx="5832475" cy="776288"/>
          </a:xfrm>
        </p:spPr>
        <p:txBody>
          <a:bodyPr/>
          <a:lstStyle/>
          <a:p>
            <a:pPr eaLnBrk="1" hangingPunct="1"/>
            <a: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2.5(d) </a:t>
            </a:r>
            <a:endParaRPr lang="zh-CN" alt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89891" y="1209587"/>
                <a:ext cx="723980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题目：画出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𝑰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zh-CN" altLang="en-US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和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𝒈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关于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zh-CN" altLang="en-US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的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函数曲线草图，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从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变化到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𝑫𝑫</m:t>
                        </m:r>
                      </m:sub>
                    </m:sSub>
                  </m:oMath>
                </a14:m>
                <a:endParaRPr lang="zh-CN" altLang="en-US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1209587"/>
                <a:ext cx="7239802" cy="400110"/>
              </a:xfrm>
              <a:prstGeom prst="rect">
                <a:avLst/>
              </a:prstGeom>
              <a:blipFill>
                <a:blip r:embed="rId3"/>
                <a:stretch>
                  <a:fillRect l="-926" t="-10606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89890" y="1609697"/>
                <a:ext cx="10970088" cy="39805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解答：补充：当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en-US" altLang="zh-CN" sz="2000" b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&gt;</m:t>
                    </m:r>
                    <m:r>
                      <a:rPr lang="en-US" altLang="zh-CN" sz="2000" b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𝟏</m:t>
                    </m:r>
                    <m:r>
                      <a:rPr lang="en-US" altLang="zh-CN" sz="2000" b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𝟗𝐕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时，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若考虑体效应：</a:t>
                </a: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en-US" altLang="zh-CN" sz="2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r>
                      <a:rPr lang="en-US" altLang="zh-CN" sz="2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𝟏</m:t>
                    </m:r>
                    <m:r>
                      <a:rPr lang="en-US" altLang="zh-CN" sz="20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𝑻𝑯</m:t>
                            </m:r>
                            <m:r>
                              <a:rPr lang="en-US" altLang="zh-CN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en-US" altLang="zh-CN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𝜸</m:t>
                    </m:r>
                    <m:d>
                      <m:dPr>
                        <m:ctrlPr>
                          <a:rPr lang="en-US" altLang="zh-CN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altLang="zh-CN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0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sSub>
                              <m:sSubPr>
                                <m:ctrlPr>
                                  <a:rPr lang="en-US" altLang="zh-CN" sz="20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altLang="zh-CN" sz="20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sub>
                            </m:sSub>
                            <m:r>
                              <a:rPr lang="en-US" altLang="zh-CN" sz="20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altLang="zh-CN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altLang="zh-CN" sz="2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𝑿</m:t>
                                </m:r>
                              </m:sub>
                            </m:sSub>
                          </m:e>
                        </m:rad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altLang="zh-CN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0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sSub>
                              <m:sSubPr>
                                <m:ctrlPr>
                                  <a:rPr lang="en-US" altLang="zh-CN" sz="20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altLang="zh-CN" sz="20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sub>
                            </m:sSub>
                          </m:e>
                        </m:rad>
                      </m:e>
                    </m:d>
                  </m:oMath>
                </a14:m>
                <a:r>
                  <a:rPr lang="en-US" altLang="zh-CN" sz="20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&gt;</m:t>
                    </m:r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𝟗𝟖𝟏𝟔</m:t>
                    </m:r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𝑽</m:t>
                    </m:r>
                  </m:oMath>
                </a14:m>
                <a:endParaRPr lang="en-US" altLang="zh-CN" sz="2000" b="1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故当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𝟏</m:t>
                        </m:r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.</m:t>
                        </m:r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𝟗</m:t>
                        </m:r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&lt;</m:t>
                        </m:r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&lt;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𝟗𝟖𝟏𝟔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时，</a:t>
                </a:r>
                <a:r>
                  <a:rPr lang="en-US" altLang="zh-CN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截止；</a:t>
                </a:r>
                <a:endPara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&gt;</m:t>
                    </m:r>
                    <m:r>
                      <a:rPr lang="en-US" altLang="zh-CN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𝟗𝟖𝟏𝟔</m:t>
                    </m:r>
                    <m:r>
                      <a:rPr lang="en-US" altLang="zh-CN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en-US" altLang="zh-CN" sz="20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r>
                      <a:rPr lang="en-US" altLang="zh-CN" sz="20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𝟏</m:t>
                    </m:r>
                    <m:r>
                      <a:rPr lang="en-US" altLang="zh-CN" sz="2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𝟗</m:t>
                    </m:r>
                    <m:r>
                      <a:rPr lang="en-US" altLang="zh-CN" sz="2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&gt;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en-US" altLang="zh-CN" sz="2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r>
                      <a:rPr lang="en-US" altLang="zh-CN" sz="2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𝟏</m:t>
                    </m:r>
                    <m:r>
                      <a:rPr lang="en-US" altLang="zh-CN" sz="2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altLang="zh-CN" sz="2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𝑻𝑯</m:t>
                                </m:r>
                                <m:r>
                                  <a:rPr lang="en-US" altLang="zh-CN" sz="2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𝟎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𝜸</m:t>
                        </m:r>
                        <m:d>
                          <m:dPr>
                            <m:ctrlPr>
                              <a:rPr lang="en-US" altLang="zh-CN" sz="20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US" altLang="zh-CN" sz="2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20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sSub>
                                  <m:sSubPr>
                                    <m:ctrlPr>
                                      <a:rPr lang="en-US" altLang="zh-CN" sz="2000" b="1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altLang="zh-CN" sz="2000" b="1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sub>
                                </m:sSub>
                                <m:r>
                                  <a:rPr lang="en-US" altLang="zh-CN" sz="20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altLang="zh-CN" sz="20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0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altLang="zh-CN" sz="20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𝑿</m:t>
                                    </m:r>
                                  </m:sub>
                                </m:sSub>
                              </m:e>
                            </m:rad>
                            <m:r>
                              <a:rPr lang="en-US" altLang="zh-CN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2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20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sSub>
                                  <m:sSubPr>
                                    <m:ctrlPr>
                                      <a:rPr lang="en-US" altLang="zh-CN" sz="2000" b="1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altLang="zh-CN" sz="2000" b="1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sub>
                                </m:sSub>
                              </m:e>
                            </m:rad>
                          </m:e>
                        </m:d>
                      </m:e>
                    </m:d>
                  </m:oMath>
                </a14:m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𝑿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&lt;</m:t>
                      </m:r>
                      <m:r>
                        <a:rPr lang="en-US" altLang="zh-CN" sz="20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0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0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𝟒𝟗𝟎𝟑</m:t>
                      </m:r>
                      <m:r>
                        <a:rPr lang="en-US" altLang="zh-CN" sz="20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𝑽</m:t>
                      </m:r>
                    </m:oMath>
                  </m:oMathPara>
                </a14:m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故</a:t>
                </a:r>
                <a:r>
                  <a:rPr lang="en-US" altLang="zh-CN" sz="20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𝟗𝟖𝟏𝟔</m:t>
                    </m:r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𝑽</m:t>
                    </m:r>
                    <m:r>
                      <a:rPr lang="en-US" altLang="zh-CN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&lt;</m:t>
                    </m:r>
                    <m:r>
                      <a:rPr lang="en-US" altLang="zh-CN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𝟒𝟗𝟎𝟑</m:t>
                    </m:r>
                    <m:r>
                      <a:rPr lang="en-US" altLang="zh-CN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时，</a:t>
                </a:r>
                <a:r>
                  <a:rPr lang="en-US" altLang="zh-CN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饱和；</a:t>
                </a:r>
                <a:endPara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𝟒𝟗𝟎𝟑</m:t>
                    </m:r>
                    <m:r>
                      <a:rPr lang="en-US" altLang="zh-CN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altLang="zh-CN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en-US" altLang="zh-CN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&lt;</m:t>
                    </m:r>
                    <m:r>
                      <a:rPr lang="en-US" altLang="zh-CN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时，</a:t>
                </a:r>
                <a:r>
                  <a:rPr lang="en-US" altLang="zh-CN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线性；</a:t>
                </a:r>
                <a:endPara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0" y="1609697"/>
                <a:ext cx="10970088" cy="3980577"/>
              </a:xfrm>
              <a:prstGeom prst="rect">
                <a:avLst/>
              </a:prstGeom>
              <a:blipFill>
                <a:blip r:embed="rId4"/>
                <a:stretch>
                  <a:fillRect l="-6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4503293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881" y="1409642"/>
            <a:ext cx="3619500" cy="2733675"/>
          </a:xfrm>
          <a:prstGeom prst="rect">
            <a:avLst/>
          </a:prstGeom>
        </p:spPr>
      </p:pic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389891" y="208470"/>
            <a:ext cx="5832475" cy="776288"/>
          </a:xfrm>
        </p:spPr>
        <p:txBody>
          <a:bodyPr/>
          <a:lstStyle/>
          <a:p>
            <a:pPr eaLnBrk="1" hangingPunct="1"/>
            <a: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2.5(e) </a:t>
            </a:r>
            <a:endParaRPr lang="zh-CN" alt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89891" y="1209587"/>
                <a:ext cx="723980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题目：画出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𝑰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zh-CN" altLang="en-US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和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𝒈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关于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zh-CN" altLang="en-US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的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函数曲线草图，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从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变化到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𝑫𝑫</m:t>
                        </m:r>
                      </m:sub>
                    </m:sSub>
                  </m:oMath>
                </a14:m>
                <a:endParaRPr lang="zh-CN" altLang="en-US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1209587"/>
                <a:ext cx="7239802" cy="400110"/>
              </a:xfrm>
              <a:prstGeom prst="rect">
                <a:avLst/>
              </a:prstGeom>
              <a:blipFill>
                <a:blip r:embed="rId3"/>
                <a:stretch>
                  <a:fillRect l="-926" t="-10606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89890" y="1609697"/>
                <a:ext cx="8869439" cy="30572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解答：考虑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zh-CN" altLang="en-US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的</m:t>
                    </m:r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变化对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𝑻𝑯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的影响，从而分析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MOS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管的工作状态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𝑻𝑯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𝒎𝒂𝒙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𝑻𝑯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𝟎</m:t>
                        </m:r>
                      </m:sub>
                    </m:sSub>
                    <m:r>
                      <a:rPr lang="en-US" altLang="zh-CN" sz="2000" b="1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000" b="1" i="1" dirty="0">
                        <a:latin typeface="Cambria Math" panose="02040503050406030204" pitchFamily="18" charset="0"/>
                      </a:rPr>
                      <m:t>𝜸</m:t>
                    </m:r>
                    <m:d>
                      <m:dPr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000" b="1" i="1" dirty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sSub>
                              <m:sSubPr>
                                <m:ctrlPr>
                                  <a:rPr lang="en-US" altLang="zh-CN" sz="20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1" dirty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altLang="zh-CN" sz="2000" b="1" i="1" dirty="0"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sub>
                            </m:sSub>
                            <m:r>
                              <a:rPr lang="en-US" altLang="zh-CN" sz="2000" b="1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000" b="1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rad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000" b="1" i="1" dirty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sSub>
                              <m:sSubPr>
                                <m:ctrlPr>
                                  <a:rPr lang="en-US" altLang="zh-CN" sz="20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1" dirty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altLang="zh-CN" sz="2000" b="1" i="1" dirty="0"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sub>
                            </m:sSub>
                          </m:e>
                        </m:rad>
                      </m:e>
                    </m:d>
                    <m:r>
                      <a:rPr lang="en-US" altLang="zh-CN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CN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𝟖𝟗𝟑</m:t>
                    </m:r>
                    <m:r>
                      <a:rPr lang="en-US" altLang="zh-CN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𝑽</m:t>
                    </m:r>
                    <m:r>
                      <a:rPr lang="en-US" altLang="zh-CN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𝟗</m:t>
                    </m:r>
                    <m:r>
                      <a:rPr lang="en-US" altLang="zh-CN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故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始终处于导通状态；</a:t>
                </a: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𝑫𝑺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𝟎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𝟓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&gt;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𝑺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𝑻𝑯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𝟎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𝟗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[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𝑻𝑯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𝟎</m:t>
                        </m:r>
                      </m:sub>
                    </m:sSub>
                    <m:r>
                      <a:rPr lang="en-US" altLang="zh-CN" sz="2000" b="1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000" b="1" i="1" dirty="0">
                        <a:latin typeface="Cambria Math" panose="02040503050406030204" pitchFamily="18" charset="0"/>
                      </a:rPr>
                      <m:t>𝜸</m:t>
                    </m:r>
                    <m:d>
                      <m:dPr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000" b="1" i="1" dirty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sSub>
                              <m:sSubPr>
                                <m:ctrlPr>
                                  <a:rPr lang="en-US" altLang="zh-CN" sz="20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1" dirty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altLang="zh-CN" sz="2000" b="1" i="1" dirty="0"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sub>
                            </m:sSub>
                            <m:r>
                              <a:rPr lang="en-US" altLang="zh-CN" sz="2000" b="1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000" b="1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CN" sz="2000" b="1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0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1" dirty="0">
                                    <a:latin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altLang="zh-CN" sz="2000" b="1" i="1" dirty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sub>
                            </m:sSub>
                          </m:e>
                        </m:rad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000" b="1" i="1" dirty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sSub>
                              <m:sSubPr>
                                <m:ctrlPr>
                                  <a:rPr lang="en-US" altLang="zh-CN" sz="20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1" dirty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altLang="zh-CN" sz="2000" b="1" i="1" dirty="0"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sub>
                            </m:sSub>
                          </m:e>
                        </m:rad>
                      </m:e>
                    </m:d>
                    <m:r>
                      <a:rPr lang="en-US" altLang="zh-CN" sz="2000" b="1" i="0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dirty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dirty="0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sz="2000" b="1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000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000" b="1" i="1" dirty="0" smtClean="0">
                        <a:latin typeface="Cambria Math" panose="02040503050406030204" pitchFamily="18" charset="0"/>
                      </a:rPr>
                      <m:t>𝟖𝟐𝟎𝟓</m:t>
                    </m:r>
                    <m:r>
                      <a:rPr lang="en-US" altLang="zh-CN" sz="2000" b="1" i="1" dirty="0" smtClean="0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，此时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处在饱和区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0" y="1609697"/>
                <a:ext cx="8869439" cy="3057247"/>
              </a:xfrm>
              <a:prstGeom prst="rect">
                <a:avLst/>
              </a:prstGeom>
              <a:blipFill>
                <a:blip r:embed="rId4"/>
                <a:stretch>
                  <a:fillRect l="-756" b="-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1114112" y="2182470"/>
                <a:ext cx="4545284" cy="4277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𝑻𝑯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𝑻𝑯</m:t>
                          </m:r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𝟎</m:t>
                          </m:r>
                        </m:sub>
                      </m:sSub>
                      <m:r>
                        <a:rPr lang="en-US" altLang="zh-CN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𝜸</m:t>
                      </m:r>
                      <m:d>
                        <m:dPr>
                          <m:ctrlPr>
                            <a:rPr lang="en-US" altLang="zh-CN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sSub>
                                <m:sSubPr>
                                  <m:ctrlPr>
                                    <a:rPr lang="en-US" altLang="zh-CN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altLang="zh-CN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sub>
                              </m:sSub>
                              <m:r>
                                <a:rPr lang="en-US" altLang="zh-CN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sub>
                              </m:sSub>
                            </m:e>
                          </m:rad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sSub>
                                <m:sSubPr>
                                  <m:ctrlPr>
                                    <a:rPr lang="en-US" altLang="zh-CN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altLang="zh-CN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sub>
                              </m:sSub>
                            </m:e>
                          </m:rad>
                        </m:e>
                      </m:d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112" y="2182470"/>
                <a:ext cx="4545284" cy="427746"/>
              </a:xfrm>
              <a:prstGeom prst="rect">
                <a:avLst/>
              </a:prstGeom>
              <a:blipFill>
                <a:blip r:embed="rId5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730421" y="4623283"/>
                <a:ext cx="4423702" cy="714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𝑰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𝑿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𝟐</m:t>
                              </m:r>
                            </m:den>
                          </m:f>
                          <m:r>
                            <a:rPr lang="zh-CN" altLang="en-US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𝒐𝒙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𝑾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𝑳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𝟎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.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𝟗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𝑻𝑯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b="0" i="0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421" y="4623283"/>
                <a:ext cx="4423702" cy="7146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4676379" y="4623283"/>
                <a:ext cx="4423702" cy="714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𝒈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𝒎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𝒐𝒙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𝑾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𝑳</m:t>
                              </m:r>
                            </m:den>
                          </m:f>
                        </m:e>
                      </m:d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𝟎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𝟗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−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𝑻𝑯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6379" y="4623283"/>
                <a:ext cx="4423702" cy="7146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686878" y="5239717"/>
                <a:ext cx="3777316" cy="553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dirty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dirty="0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sz="2000" b="1" i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000" b="1" i="1" dirty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000" b="1" i="1" dirty="0">
                        <a:latin typeface="Cambria Math" panose="02040503050406030204" pitchFamily="18" charset="0"/>
                      </a:rPr>
                      <m:t>𝟖𝟐𝟎𝟓</m:t>
                    </m:r>
                    <m:r>
                      <a:rPr lang="en-US" altLang="zh-CN" sz="2000" b="1" i="1" dirty="0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处在线性区</a:t>
                </a: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878" y="5239717"/>
                <a:ext cx="3777316" cy="553998"/>
              </a:xfrm>
              <a:prstGeom prst="rect">
                <a:avLst/>
              </a:prstGeom>
              <a:blipFill>
                <a:blip r:embed="rId8"/>
                <a:stretch>
                  <a:fillRect r="-1292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686878" y="5690353"/>
                <a:ext cx="5862695" cy="7146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𝑰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𝑿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𝒐𝒙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𝑾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𝑳</m:t>
                              </m:r>
                            </m:den>
                          </m:f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b="1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𝟎</m:t>
                              </m:r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.</m:t>
                              </m:r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𝟗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𝑻𝑯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𝟏</m:t>
                              </m:r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.</m:t>
                              </m:r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𝟓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𝟏</m:t>
                              </m:r>
                            </m:e>
                          </m:d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𝟐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𝟏</m:t>
                                  </m:r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.</m:t>
                                  </m:r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𝟓</m:t>
                                  </m:r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−</m:t>
                                  </m:r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𝟏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878" y="5690353"/>
                <a:ext cx="5862695" cy="71468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6293633" y="5690352"/>
                <a:ext cx="4469839" cy="714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𝒈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𝒎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𝒐𝒙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𝑾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𝑳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𝟏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.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𝟓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3633" y="5690352"/>
                <a:ext cx="4469839" cy="71468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8799359" y="4518959"/>
                <a:ext cx="3282689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需要注意，衬底</a:t>
                </a:r>
                <a:r>
                  <a:rPr lang="en-US" altLang="zh-CN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PN</a:t>
                </a:r>
                <a:r>
                  <a:rPr lang="zh-CN" alt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结不能正偏，</a:t>
                </a:r>
                <a:endPara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r>
                  <a:rPr lang="zh-CN" alt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即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sSub>
                      <m:sSubPr>
                        <m:ctrlP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𝝓</m:t>
                        </m:r>
                      </m:e>
                      <m:sub>
                        <m: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sub>
                    </m:sSub>
                    <m:r>
                      <a:rPr lang="en-US" altLang="zh-CN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zh-CN" alt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endParaRPr lang="zh-CN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359" y="4518959"/>
                <a:ext cx="3282689" cy="923330"/>
              </a:xfrm>
              <a:prstGeom prst="rect">
                <a:avLst/>
              </a:prstGeom>
              <a:blipFill>
                <a:blip r:embed="rId11"/>
                <a:stretch>
                  <a:fillRect l="-1484" t="-4605" r="-76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0828198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6405" y="1409643"/>
            <a:ext cx="2740976" cy="2070158"/>
          </a:xfrm>
          <a:prstGeom prst="rect">
            <a:avLst/>
          </a:prstGeom>
        </p:spPr>
      </p:pic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389891" y="208470"/>
            <a:ext cx="5832475" cy="776288"/>
          </a:xfrm>
        </p:spPr>
        <p:txBody>
          <a:bodyPr/>
          <a:lstStyle/>
          <a:p>
            <a:pPr eaLnBrk="1" hangingPunct="1"/>
            <a: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2.5(e) </a:t>
            </a:r>
            <a:endParaRPr lang="zh-CN" alt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89891" y="1209587"/>
                <a:ext cx="723980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题目：画出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𝑰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zh-CN" altLang="en-US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和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𝒈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关于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zh-CN" altLang="en-US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的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函数曲线草图，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从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变化到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𝑫𝑫</m:t>
                        </m:r>
                      </m:sub>
                    </m:sSub>
                  </m:oMath>
                </a14:m>
                <a:endParaRPr lang="zh-CN" altLang="en-US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1209587"/>
                <a:ext cx="7239802" cy="400110"/>
              </a:xfrm>
              <a:prstGeom prst="rect">
                <a:avLst/>
              </a:prstGeom>
              <a:blipFill>
                <a:blip r:embed="rId3"/>
                <a:stretch>
                  <a:fillRect l="-926" t="-10606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389890" y="1609697"/>
            <a:ext cx="8869439" cy="495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解答：画出草图如下：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890" y="2305337"/>
            <a:ext cx="4608000" cy="3456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4555" y="2305337"/>
            <a:ext cx="4608000" cy="34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478238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389891" y="208470"/>
            <a:ext cx="5832475" cy="776288"/>
          </a:xfrm>
        </p:spPr>
        <p:txBody>
          <a:bodyPr/>
          <a:lstStyle/>
          <a:p>
            <a:pPr eaLnBrk="1" hangingPunct="1"/>
            <a: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2.7(a) </a:t>
            </a:r>
            <a:endParaRPr lang="zh-CN" alt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89891" y="1209587"/>
                <a:ext cx="696145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题目：画出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𝒐𝒖𝒕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关于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𝒊𝒏</m:t>
                        </m:r>
                      </m:sub>
                    </m:sSub>
                    <m:r>
                      <a:rPr lang="zh-CN" altLang="en-US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的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函数曲线草图，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𝒊𝒏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从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变化到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𝑫𝑫</m:t>
                        </m:r>
                      </m:sub>
                    </m:sSub>
                  </m:oMath>
                </a14:m>
                <a:endParaRPr lang="zh-CN" altLang="en-US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1209587"/>
                <a:ext cx="6961458" cy="400110"/>
              </a:xfrm>
              <a:prstGeom prst="rect">
                <a:avLst/>
              </a:prstGeom>
              <a:blipFill>
                <a:blip r:embed="rId2"/>
                <a:stretch>
                  <a:fillRect l="-963" t="-10606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89891" y="1609697"/>
                <a:ext cx="8153020" cy="42473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解答：分析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的源漏端，电流从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1V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电压源经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和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R1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往地端流，因此图中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的源漏互换，电路可表示如下：</a:t>
                </a: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分析：当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𝒊𝒏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从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开始增大时，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未导通，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𝒐𝒖𝒕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近似为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𝒊𝒏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增大至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𝑻𝑯</m:t>
                        </m:r>
                      </m:sub>
                    </m:sSub>
                  </m:oMath>
                </a14:m>
                <a:r>
                  <a:rPr lang="en-US" altLang="zh-CN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(0.7V)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时，</a:t>
                </a:r>
                <a:r>
                  <a:rPr lang="en-US" altLang="zh-CN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开始导通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，此时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𝟏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𝒐𝒖𝒕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&gt;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𝒊𝒏</m:t>
                        </m:r>
                      </m:sub>
                    </m:sSub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𝒐𝒖𝒕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𝑻𝑯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r>
                  <a:rPr lang="en-US" altLang="zh-CN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饱和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，当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𝒊𝒏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继续增大至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𝟏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𝒐𝒖𝒕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&lt;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𝒊𝒏</m:t>
                        </m:r>
                      </m:sub>
                    </m:sSub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𝒐𝒖𝒕</m:t>
                        </m:r>
                      </m:sub>
                    </m:sSub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𝑻𝑯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𝒊𝒏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&gt;</m:t>
                    </m:r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𝟏</m:t>
                    </m:r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𝟕</m:t>
                    </m:r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  <m:r>
                      <a:rPr lang="zh-CN" alt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时</m:t>
                    </m:r>
                  </m:oMath>
                </a14:m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r>
                  <a:rPr lang="en-US" altLang="zh-CN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进入线性区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。故：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𝒊𝒏</m:t>
                        </m:r>
                      </m:sub>
                    </m:sSub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&lt;</m:t>
                    </m:r>
                    <m:r>
                      <a:rPr lang="en-US" altLang="zh-CN" sz="2000" b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𝟎</m:t>
                    </m:r>
                    <m:r>
                      <a:rPr lang="en-US" altLang="zh-CN" sz="2000" b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𝟕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截止，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𝒐𝒖𝒕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𝟎</m:t>
                    </m:r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；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𝟏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.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𝟕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&gt;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𝒊𝒏</m:t>
                        </m:r>
                      </m:sub>
                    </m:sSub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&gt;</m:t>
                    </m:r>
                    <m:r>
                      <a:rPr lang="en-US" altLang="zh-CN" sz="2000" b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𝟎</m:t>
                    </m:r>
                    <m:r>
                      <a:rPr lang="en-US" altLang="zh-CN" sz="2000" b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𝟕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  <m:r>
                      <a:rPr lang="zh-CN" altLang="en-US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，</m:t>
                    </m:r>
                  </m:oMath>
                </a14:m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饱和，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③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𝒊𝒏</m:t>
                        </m:r>
                      </m:sub>
                    </m:sSub>
                    <m:r>
                      <a:rPr lang="en-US" altLang="zh-CN" sz="2000" b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&gt;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𝟏</m:t>
                    </m:r>
                    <m:r>
                      <a:rPr lang="en-US" altLang="zh-CN" sz="2000" b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𝟕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线性，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1609697"/>
                <a:ext cx="8153020" cy="4247317"/>
              </a:xfrm>
              <a:prstGeom prst="rect">
                <a:avLst/>
              </a:prstGeom>
              <a:blipFill>
                <a:blip r:embed="rId3"/>
                <a:stretch>
                  <a:fillRect l="-823" b="-2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2911" y="1209587"/>
            <a:ext cx="3295650" cy="26479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3913" y="3857537"/>
            <a:ext cx="2040865" cy="21653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4204495" y="4680666"/>
                <a:ext cx="5096023" cy="714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𝒐𝒖𝒕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𝟐</m:t>
                              </m:r>
                            </m:den>
                          </m:f>
                          <m:r>
                            <a:rPr lang="zh-CN" altLang="en-US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𝒐𝒙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𝑾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𝑳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𝒊𝒏</m:t>
                                  </m:r>
                                </m:sub>
                              </m:s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𝒐𝒖𝒕</m:t>
                                  </m:r>
                                </m:sub>
                              </m:s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𝑻𝑯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4495" y="4680666"/>
                <a:ext cx="5096023" cy="7146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2098001" y="5665558"/>
                <a:ext cx="7525912" cy="714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𝒐𝒖𝒕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𝒐𝒙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𝑾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𝑳</m:t>
                              </m:r>
                            </m:den>
                          </m:f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[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𝒊𝒏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𝒐𝒖𝒕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𝑻𝑯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𝟏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𝒐𝒖𝒕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−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𝟏</m:t>
                              </m:r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𝒐𝒖𝒕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]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8001" y="5665558"/>
                <a:ext cx="7525912" cy="7146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1040093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389891" y="208470"/>
            <a:ext cx="5832475" cy="776288"/>
          </a:xfrm>
        </p:spPr>
        <p:txBody>
          <a:bodyPr/>
          <a:lstStyle/>
          <a:p>
            <a:pPr eaLnBrk="1" hangingPunct="1"/>
            <a: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2.7(a) </a:t>
            </a:r>
            <a:endParaRPr lang="zh-CN" alt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89891" y="1209587"/>
                <a:ext cx="696145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题目：画出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𝒐𝒖𝒕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关于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𝒊𝒏</m:t>
                        </m:r>
                      </m:sub>
                    </m:sSub>
                    <m:r>
                      <a:rPr lang="zh-CN" altLang="en-US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的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函数曲线草图，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𝒊𝒏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从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变化到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𝑫𝑫</m:t>
                        </m:r>
                      </m:sub>
                    </m:sSub>
                  </m:oMath>
                </a14:m>
                <a:endParaRPr lang="zh-CN" altLang="en-US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1209587"/>
                <a:ext cx="6961458" cy="400110"/>
              </a:xfrm>
              <a:prstGeom prst="rect">
                <a:avLst/>
              </a:prstGeom>
              <a:blipFill>
                <a:blip r:embed="rId2"/>
                <a:stretch>
                  <a:fillRect l="-963" t="-10606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389891" y="1609697"/>
            <a:ext cx="8153020" cy="495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解答：画出草图如下：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2911" y="1209587"/>
            <a:ext cx="3295650" cy="26479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913" y="3857537"/>
            <a:ext cx="2040865" cy="2165363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338" y="2105282"/>
            <a:ext cx="5334011" cy="400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005835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389891" y="208470"/>
            <a:ext cx="5832475" cy="776288"/>
          </a:xfrm>
        </p:spPr>
        <p:txBody>
          <a:bodyPr/>
          <a:lstStyle/>
          <a:p>
            <a:pPr eaLnBrk="1" hangingPunct="1"/>
            <a: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2.7(b) </a:t>
            </a:r>
            <a:endParaRPr lang="zh-CN" alt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89890" y="1609697"/>
                <a:ext cx="8504143" cy="33239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解答：与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(a)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中的分析类似，右图中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的源漏互换，电路可重新表示如下</a:t>
                </a: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分析：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𝒊𝒏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从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开始增大时，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电路中电流也从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开始增大，故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𝒐𝒖𝒕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从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开始增大，此时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𝑮𝑺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𝑻𝑯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𝟏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𝟑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𝒐𝒖𝒕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&gt;</m:t>
                    </m:r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𝑫𝑺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𝒊𝒏</m:t>
                        </m:r>
                      </m:sub>
                    </m:sSub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𝒐𝒖𝒕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处在线性区；当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𝒊𝒏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增大至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1.3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以上，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𝟏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𝟑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𝒐𝒖𝒕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&lt;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𝒊𝒏</m:t>
                        </m:r>
                      </m:sub>
                    </m:sSub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𝒐𝒖𝒕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，此时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处在饱和区，故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𝒊𝒏</m:t>
                        </m:r>
                      </m:sub>
                    </m:sSub>
                    <m:r>
                      <a:rPr lang="en-US" altLang="zh-CN" sz="2000" b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&lt;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𝟏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𝟑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线性；</a:t>
                </a: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𝒊𝒏</m:t>
                        </m:r>
                      </m:sub>
                    </m:sSub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&gt;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𝟏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𝟑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M1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饱和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0" y="1609697"/>
                <a:ext cx="8504143" cy="3323987"/>
              </a:xfrm>
              <a:prstGeom prst="rect">
                <a:avLst/>
              </a:prstGeom>
              <a:blipFill>
                <a:blip r:embed="rId2"/>
                <a:stretch>
                  <a:fillRect l="-789" b="-7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4033" y="1409642"/>
            <a:ext cx="2724150" cy="20764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389891" y="1209587"/>
                <a:ext cx="696145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题目：画出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𝒐𝒖𝒕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关于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𝒊𝒏</m:t>
                        </m:r>
                      </m:sub>
                    </m:sSub>
                    <m:r>
                      <a:rPr lang="zh-CN" altLang="en-US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的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函数曲线草图，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𝒊𝒏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从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变化到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𝑫𝑫</m:t>
                        </m:r>
                      </m:sub>
                    </m:sSub>
                  </m:oMath>
                </a14:m>
                <a:endParaRPr lang="zh-CN" altLang="en-US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1209587"/>
                <a:ext cx="6961458" cy="400110"/>
              </a:xfrm>
              <a:prstGeom prst="rect">
                <a:avLst/>
              </a:prstGeom>
              <a:blipFill>
                <a:blip r:embed="rId4"/>
                <a:stretch>
                  <a:fillRect l="-963" t="-10606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8295" y="3584946"/>
            <a:ext cx="2235625" cy="25337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2007385" y="3852546"/>
                <a:ext cx="7525912" cy="714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𝒐𝒖𝒕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𝒐𝒙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𝑾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𝑳</m:t>
                              </m:r>
                            </m:den>
                          </m:f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[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𝒐𝒖𝒕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𝑻𝑯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𝒊𝒏</m:t>
                              </m:r>
                            </m:sub>
                          </m:s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𝒐𝒖𝒕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−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𝒊𝒏</m:t>
                                  </m:r>
                                </m:sub>
                              </m:s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𝒐𝒖𝒕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]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385" y="3852546"/>
                <a:ext cx="7525912" cy="7146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2007385" y="4851800"/>
                <a:ext cx="5096023" cy="714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𝒐𝒖𝒕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𝟐</m:t>
                              </m:r>
                            </m:den>
                          </m:f>
                          <m:r>
                            <a:rPr lang="zh-CN" altLang="en-US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𝒐𝒙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𝑾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𝑳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𝟐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𝒐𝒖𝒕</m:t>
                                  </m:r>
                                </m:sub>
                              </m:s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𝑻𝑯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385" y="4851800"/>
                <a:ext cx="5096023" cy="7146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2680465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389891" y="208470"/>
            <a:ext cx="5832475" cy="776288"/>
          </a:xfrm>
        </p:spPr>
        <p:txBody>
          <a:bodyPr/>
          <a:lstStyle/>
          <a:p>
            <a:pPr eaLnBrk="1" hangingPunct="1"/>
            <a: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2.7(b) </a:t>
            </a:r>
            <a:endParaRPr lang="zh-CN" alt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9890" y="1609697"/>
            <a:ext cx="8504143" cy="495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解答：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4033" y="1409642"/>
            <a:ext cx="2724150" cy="20764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389891" y="1209587"/>
                <a:ext cx="696145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题目：画出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𝒐𝒖𝒕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关于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𝒊𝒏</m:t>
                        </m:r>
                      </m:sub>
                    </m:sSub>
                    <m:r>
                      <a:rPr lang="zh-CN" altLang="en-US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的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函数曲线草图，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𝒊𝒏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从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变化到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𝑫𝑫</m:t>
                        </m:r>
                      </m:sub>
                    </m:sSub>
                  </m:oMath>
                </a14:m>
                <a:endParaRPr lang="zh-CN" altLang="en-US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1209587"/>
                <a:ext cx="6961458" cy="400110"/>
              </a:xfrm>
              <a:prstGeom prst="rect">
                <a:avLst/>
              </a:prstGeom>
              <a:blipFill>
                <a:blip r:embed="rId3"/>
                <a:stretch>
                  <a:fillRect l="-963" t="-10606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8295" y="3584946"/>
            <a:ext cx="2235625" cy="2533708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389891" y="1609697"/>
            <a:ext cx="7987990" cy="495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解答：画出草图如下：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9178" y="2203103"/>
            <a:ext cx="5334011" cy="400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04918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389891" y="208470"/>
            <a:ext cx="5832475" cy="776288"/>
          </a:xfrm>
        </p:spPr>
        <p:txBody>
          <a:bodyPr/>
          <a:lstStyle/>
          <a:p>
            <a:pPr eaLnBrk="1" hangingPunct="1"/>
            <a: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2.7(c) </a:t>
            </a:r>
            <a:endParaRPr lang="zh-CN" alt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9891" y="1609697"/>
            <a:ext cx="798799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解答：本题电路与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(b)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相同，仅栅端电压不同，画出草图如下：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389891" y="1209587"/>
                <a:ext cx="696145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题目：画出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𝒐𝒖𝒕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关于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𝒊𝒏</m:t>
                        </m:r>
                      </m:sub>
                    </m:sSub>
                    <m:r>
                      <a:rPr lang="zh-CN" altLang="en-US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的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函数曲线草图，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𝒊𝒏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从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变化到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𝑫𝑫</m:t>
                        </m:r>
                      </m:sub>
                    </m:sSub>
                  </m:oMath>
                </a14:m>
                <a:endParaRPr lang="zh-CN" altLang="en-US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1209587"/>
                <a:ext cx="6961458" cy="400110"/>
              </a:xfrm>
              <a:prstGeom prst="rect">
                <a:avLst/>
              </a:prstGeom>
              <a:blipFill>
                <a:blip r:embed="rId2"/>
                <a:stretch>
                  <a:fillRect l="-963" t="-10606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0929" y="1344183"/>
            <a:ext cx="2762250" cy="21431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5312" y="3487308"/>
            <a:ext cx="2017139" cy="239090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338" y="2163695"/>
            <a:ext cx="5334011" cy="400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437294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389891" y="208470"/>
            <a:ext cx="5832475" cy="776288"/>
          </a:xfrm>
        </p:spPr>
        <p:txBody>
          <a:bodyPr/>
          <a:lstStyle/>
          <a:p>
            <a:pPr eaLnBrk="1" hangingPunct="1"/>
            <a: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2.7(d) </a:t>
            </a:r>
            <a:endParaRPr lang="zh-CN" alt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89891" y="1609697"/>
                <a:ext cx="7987990" cy="24006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解答：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注意</a:t>
                </a:r>
                <a:r>
                  <a:rPr lang="en-US" altLang="zh-CN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为</a:t>
                </a:r>
                <a:r>
                  <a:rPr lang="en-US" altLang="zh-CN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PMOS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管，上为源，下为漏；</a:t>
                </a:r>
                <a:endPara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分析：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𝒊𝒏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从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开始增大，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截止，流过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R1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的电流为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𝒐𝒖𝒕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为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；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𝒊𝒏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增大到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1.8V(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即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𝑮𝑺</m:t>
                            </m:r>
                          </m:sub>
                        </m:sSub>
                      </m:e>
                    </m:d>
                    <m:r>
                      <a:rPr lang="en-US" altLang="zh-CN" sz="2000" b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𝑻𝑯𝑷</m:t>
                            </m:r>
                          </m:sub>
                        </m:sSub>
                      </m:e>
                    </m:d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&gt;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𝟎</m:t>
                    </m:r>
                  </m:oMath>
                </a14:m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)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时，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开始导通，此时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𝑫</m:t>
                            </m:r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𝑺</m:t>
                            </m:r>
                          </m:sub>
                        </m:sSub>
                      </m:e>
                    </m:d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𝑮𝑺</m:t>
                            </m:r>
                          </m:sub>
                        </m:sSub>
                      </m:e>
                    </m:d>
                    <m:r>
                      <a:rPr lang="en-US" altLang="zh-CN" sz="2000" b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𝑻𝑯𝑷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饱和；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𝒊𝒏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继续增大，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进入线性区的临界条件为：</a:t>
                </a: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1609697"/>
                <a:ext cx="7987990" cy="2400657"/>
              </a:xfrm>
              <a:prstGeom prst="rect">
                <a:avLst/>
              </a:prstGeom>
              <a:blipFill>
                <a:blip r:embed="rId2"/>
                <a:stretch>
                  <a:fillRect l="-840" b="-5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389891" y="1209587"/>
                <a:ext cx="696145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题目：画出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𝒐𝒖𝒕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关于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𝒊𝒏</m:t>
                        </m:r>
                      </m:sub>
                    </m:sSub>
                    <m:r>
                      <a:rPr lang="zh-CN" altLang="en-US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的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函数曲线草图，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𝒊𝒏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从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变化到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𝑫𝑫</m:t>
                        </m:r>
                      </m:sub>
                    </m:sSub>
                  </m:oMath>
                </a14:m>
                <a:endParaRPr lang="zh-CN" altLang="en-US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1209587"/>
                <a:ext cx="6961458" cy="400110"/>
              </a:xfrm>
              <a:prstGeom prst="rect">
                <a:avLst/>
              </a:prstGeom>
              <a:blipFill>
                <a:blip r:embed="rId3"/>
                <a:stretch>
                  <a:fillRect l="-963" t="-10606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2080" y="1209587"/>
            <a:ext cx="2752725" cy="22383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1888701" y="3610244"/>
                <a:ext cx="536262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𝒊𝒏</m:t>
                          </m:r>
                        </m:sub>
                      </m:sSub>
                      <m:r>
                        <a:rPr lang="en-US" altLang="zh-CN" sz="2000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−</m:t>
                      </m:r>
                      <m:sSub>
                        <m:sSub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𝒐𝒖𝒕</m:t>
                          </m:r>
                        </m:sub>
                      </m:sSub>
                      <m:r>
                        <a:rPr lang="en-US" altLang="zh-CN" sz="2000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𝒊𝒏</m:t>
                          </m:r>
                        </m:sub>
                      </m:sSub>
                      <m:r>
                        <a:rPr lang="en-US" altLang="zh-CN" sz="2000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−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𝟏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𝑻𝑯𝑷</m:t>
                              </m:r>
                            </m:sub>
                          </m:sSub>
                        </m:e>
                      </m:d>
                      <m:r>
                        <a:rPr lang="zh-CN" altLang="en-US" sz="2000" b="1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⇒</m:t>
                      </m:r>
                      <m:sSub>
                        <m:sSub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𝒐𝒖𝒕</m:t>
                          </m:r>
                        </m:sub>
                      </m:sSub>
                      <m:r>
                        <a:rPr lang="en-US" altLang="zh-CN" sz="2000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𝟏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𝟖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𝑽</m:t>
                      </m:r>
                    </m:oMath>
                  </m:oMathPara>
                </a14:m>
                <a:endParaRPr lang="zh-CN" altLang="en-US" sz="20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8701" y="3610244"/>
                <a:ext cx="5362622" cy="400110"/>
              </a:xfrm>
              <a:prstGeom prst="rect">
                <a:avLst/>
              </a:prstGeom>
              <a:blipFill>
                <a:blip r:embed="rId5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389891" y="4162701"/>
                <a:ext cx="11451276" cy="16291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即</a:t>
                </a:r>
                <a:r>
                  <a:rPr lang="en-US" altLang="zh-CN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进入线性区的条件与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𝒐𝒖𝒕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的值是否能够达到</a:t>
                </a:r>
                <a:r>
                  <a:rPr lang="en-US" altLang="zh-CN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1.8V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有关，</a:t>
                </a:r>
                <a:endPara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𝒊𝒏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&lt;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𝟏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𝟖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，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截止，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𝒐𝒖𝒕</m:t>
                        </m:r>
                      </m:sub>
                    </m:sSub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</m:oMath>
                </a14:m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；</a:t>
                </a: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𝒊𝒏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&gt;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𝟏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𝟖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，若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𝒐𝒖𝒕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&lt;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𝟏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𝟖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</m:oMath>
                </a14:m>
                <a:r>
                  <a:rPr lang="zh-CN" altLang="en-US" sz="2000" b="1" i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M1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饱和，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𝒐𝒖𝒕</m:t>
                        </m:r>
                      </m:sub>
                    </m:sSub>
                    <m:r>
                      <a:rPr lang="en-US" altLang="zh-CN" sz="2000" b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𝟐</m:t>
                            </m:r>
                          </m:den>
                        </m:f>
                        <m:r>
                          <a:rPr lang="zh-CN" altLang="en-US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𝝁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𝒏</m:t>
                        </m:r>
                      </m:sub>
                    </m:sSub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𝑪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𝒐𝒙</m:t>
                        </m:r>
                      </m:sub>
                    </m:sSub>
                    <m:d>
                      <m:d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𝑾</m:t>
                            </m:r>
                          </m:num>
                          <m:den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𝑳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000" b="1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𝒊𝒏</m:t>
                                </m:r>
                              </m:sub>
                            </m:sSub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−</m:t>
                            </m:r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𝟏</m:t>
                            </m:r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−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000" b="1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000" b="1" i="1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altLang="zh-CN" sz="2000" b="1" i="1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𝑻𝑯𝑷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𝟐</m:t>
                        </m:r>
                      </m:sup>
                    </m:sSup>
                    <m:r>
                      <a:rPr lang="en-US" altLang="zh-CN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；</a:t>
                </a: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𝒐𝒖𝒕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&gt;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𝟏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𝟖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</m:oMath>
                </a14:m>
                <a:r>
                  <a:rPr lang="zh-CN" altLang="en-US" sz="2000" b="1" i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M1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线性，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𝒐𝒖𝒕</m:t>
                        </m:r>
                      </m:sub>
                    </m:sSub>
                    <m:r>
                      <a:rPr lang="en-US" altLang="zh-CN" sz="2000" b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zh-CN" altLang="en-US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𝝁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𝒏</m:t>
                        </m:r>
                      </m:sub>
                    </m:sSub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𝑪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𝒐𝒙</m:t>
                        </m:r>
                      </m:sub>
                    </m:sSub>
                    <m:d>
                      <m:d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𝑾</m:t>
                            </m:r>
                          </m:num>
                          <m:den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𝑳</m:t>
                            </m:r>
                          </m:den>
                        </m:f>
                      </m:e>
                    </m:d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[</m:t>
                    </m:r>
                    <m:d>
                      <m:d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𝒊𝒏</m:t>
                            </m:r>
                          </m:sub>
                        </m:s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𝟏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000" b="1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𝑻𝑯𝑷</m:t>
                                </m:r>
                              </m:sub>
                            </m:sSub>
                          </m:e>
                        </m:d>
                      </m:e>
                    </m:d>
                    <m:d>
                      <m:d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𝒊𝒏</m:t>
                            </m:r>
                          </m:sub>
                        </m:s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𝒐𝒖𝒕</m:t>
                            </m:r>
                          </m:sub>
                        </m:sSub>
                      </m:e>
                    </m:d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f>
                      <m:f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fPr>
                      <m:num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𝟏</m:t>
                        </m:r>
                      </m:num>
                      <m:den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𝟐</m:t>
                        </m:r>
                      </m:den>
                    </m:f>
                    <m:sSup>
                      <m:sSup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000" b="1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𝒊𝒏</m:t>
                                </m:r>
                              </m:sub>
                            </m:sSub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000" b="1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𝒐𝒖𝒕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𝟐</m:t>
                        </m:r>
                      </m:sup>
                    </m:sSup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]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4162701"/>
                <a:ext cx="11451276" cy="1629164"/>
              </a:xfrm>
              <a:prstGeom prst="rect">
                <a:avLst/>
              </a:prstGeom>
              <a:blipFill>
                <a:blip r:embed="rId6"/>
                <a:stretch>
                  <a:fillRect l="-586" t="-2996" b="-1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8281237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389891" y="208470"/>
            <a:ext cx="5832475" cy="776288"/>
          </a:xfrm>
        </p:spPr>
        <p:txBody>
          <a:bodyPr/>
          <a:lstStyle/>
          <a:p>
            <a:pPr eaLnBrk="1" hangingPunct="1"/>
            <a: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2.7(d) </a:t>
            </a:r>
            <a:endParaRPr lang="zh-CN" alt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9891" y="1609697"/>
            <a:ext cx="7987990" cy="495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解答：画出草图如下：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389891" y="1209587"/>
                <a:ext cx="696145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题目：画出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𝒐𝒖𝒕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关于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𝒊𝒏</m:t>
                        </m:r>
                      </m:sub>
                    </m:sSub>
                    <m:r>
                      <a:rPr lang="zh-CN" altLang="en-US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的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函数曲线草图，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𝒊𝒏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从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变化到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𝑫𝑫</m:t>
                        </m:r>
                      </m:sub>
                    </m:sSub>
                  </m:oMath>
                </a14:m>
                <a:endParaRPr lang="zh-CN" altLang="en-US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1209587"/>
                <a:ext cx="6961458" cy="400110"/>
              </a:xfrm>
              <a:prstGeom prst="rect">
                <a:avLst/>
              </a:prstGeom>
              <a:blipFill>
                <a:blip r:embed="rId2"/>
                <a:stretch>
                  <a:fillRect l="-963" t="-10606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2080" y="1209587"/>
            <a:ext cx="2752725" cy="22383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7427" y="2211340"/>
            <a:ext cx="4800000" cy="3600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77" y="2211340"/>
            <a:ext cx="48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985302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3284" y="1209587"/>
            <a:ext cx="2124075" cy="1666875"/>
          </a:xfrm>
          <a:prstGeom prst="rect">
            <a:avLst/>
          </a:prstGeom>
        </p:spPr>
      </p:pic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389891" y="208470"/>
            <a:ext cx="5832475" cy="776288"/>
          </a:xfrm>
        </p:spPr>
        <p:txBody>
          <a:bodyPr/>
          <a:lstStyle/>
          <a:p>
            <a:pPr eaLnBrk="1" hangingPunct="1"/>
            <a: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2.16 </a:t>
            </a:r>
            <a:endParaRPr lang="zh-CN" alt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89891" y="1917473"/>
                <a:ext cx="9867292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解答：记上方晶体管为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，源漏电压为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𝑫𝑺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，下方为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M2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𝑫𝑺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，则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𝑫𝑺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𝑫𝑺</m:t>
                        </m:r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𝑫𝑺</m:t>
                        </m:r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</m:t>
                        </m:r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𝑺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𝑮𝑺</m:t>
                        </m:r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</m:t>
                        </m:r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𝑺</m:t>
                        </m:r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𝑮𝑺</m:t>
                        </m:r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𝟐</m:t>
                        </m:r>
                      </m:sub>
                    </m:sSub>
                  </m:oMath>
                </a14:m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①截止区：流过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、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M2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的电流相同，故一个管子截止，另外一个必定也截止，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𝑰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𝟎</m:t>
                    </m:r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；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②线性区：当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𝑫𝑺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较小时，两个管子均处在线性区，则有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1917473"/>
                <a:ext cx="9867292" cy="1938992"/>
              </a:xfrm>
              <a:prstGeom prst="rect">
                <a:avLst/>
              </a:prstGeom>
              <a:blipFill>
                <a:blip r:embed="rId3"/>
                <a:stretch>
                  <a:fillRect l="-679" r="-3212" b="-9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389891" y="1209587"/>
                <a:ext cx="9007466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题目：考虑如图所示的结构，求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𝑰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关于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𝑮𝑺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𝑺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的函数关系，并证明该结构可</a:t>
                </a: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看作宽长比等于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W/ (2L)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的晶体管，假设</a:t>
                </a:r>
                <a14:m>
                  <m:oMath xmlns:m="http://schemas.openxmlformats.org/officeDocument/2006/math">
                    <m:r>
                      <a:rPr lang="zh-CN" altLang="en-US" sz="2000" b="1" i="1" smtClean="0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000" b="1" i="1" smtClean="0">
                        <a:latin typeface="Cambria Math" panose="02040503050406030204" pitchFamily="18" charset="0"/>
                      </a:rPr>
                      <m:t>𝜸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。</a:t>
                </a: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1209587"/>
                <a:ext cx="9007466" cy="707886"/>
              </a:xfrm>
              <a:prstGeom prst="rect">
                <a:avLst/>
              </a:prstGeom>
              <a:blipFill>
                <a:blip r:embed="rId4"/>
                <a:stretch>
                  <a:fillRect l="-744" t="-5983" r="-68" b="-145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620479" y="3836167"/>
                <a:ext cx="11277574" cy="6202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𝑰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𝑫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𝑰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𝑫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𝒐𝒙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𝑾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𝑳</m:t>
                              </m:r>
                            </m:den>
                          </m:f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𝑮𝑺</m:t>
                                  </m:r>
                                </m:sub>
                              </m:s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𝑫𝑺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𝑻𝑯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𝑫𝑺</m:t>
                              </m:r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𝟐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𝑫𝑺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  <m:r>
                        <a:rPr lang="en-US" altLang="zh-CN" b="0" i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𝑰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𝑫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𝒐𝒙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𝑾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𝑳</m:t>
                              </m:r>
                            </m:den>
                          </m:f>
                        </m:e>
                      </m:d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[</m:t>
                      </m:r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𝑮𝑺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𝑻𝑯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𝑫𝑺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−</m:t>
                      </m:r>
                      <m:f>
                        <m:f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𝑫𝑺</m:t>
                              </m:r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𝟐</m:t>
                              </m:r>
                            </m:sub>
                          </m:sSub>
                        </m:e>
                        <m:sup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]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79" y="3836167"/>
                <a:ext cx="11277574" cy="6202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389891" y="4610832"/>
            <a:ext cx="70083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解得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1201308" y="4456401"/>
                <a:ext cx="6408806" cy="8879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𝑮𝑺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𝑻𝑯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𝑫𝑺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−</m:t>
                      </m:r>
                      <m:f>
                        <m:f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𝑫𝑺</m:t>
                              </m:r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𝟐</m:t>
                              </m:r>
                            </m:sub>
                          </m:sSub>
                        </m:e>
                        <m:sup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</m:sup>
                      </m:sSup>
                      <m:r>
                        <a:rPr lang="en-US" altLang="zh-CN" b="0" i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</m:den>
                      </m:f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dirty="0"/>
                        <m:t>[</m:t>
                      </m:r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𝑮𝑺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𝑻𝑯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𝑫𝑺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−</m:t>
                      </m:r>
                      <m:f>
                        <m:f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𝑫𝑺</m:t>
                              </m:r>
                            </m:sub>
                          </m:sSub>
                        </m:e>
                        <m:sup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</m:sup>
                      </m:sSup>
                      <m:r>
                        <m:rPr>
                          <m:nor/>
                        </m:rPr>
                        <a:rPr lang="en-US" altLang="zh-CN" dirty="0"/>
                        <m:t>]</m:t>
                      </m:r>
                    </m:oMath>
                  </m:oMathPara>
                </a14:m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1308" y="4456401"/>
                <a:ext cx="6408806" cy="88793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/>
          <p:cNvSpPr/>
          <p:nvPr/>
        </p:nvSpPr>
        <p:spPr>
          <a:xfrm>
            <a:off x="389891" y="5080524"/>
            <a:ext cx="35397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将该式代回电流公式，则有：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620479" y="5498767"/>
                <a:ext cx="4855047" cy="6186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𝑰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𝑫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𝒐𝒙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𝑾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𝟐</m:t>
                              </m:r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𝑳</m:t>
                              </m:r>
                            </m:den>
                          </m:f>
                        </m:e>
                      </m:d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[</m:t>
                      </m:r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𝑮𝑺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𝑻𝑯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𝑫𝑺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−</m:t>
                      </m:r>
                      <m:f>
                        <m:f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𝑫𝑺</m:t>
                              </m:r>
                            </m:sub>
                          </m:sSub>
                        </m:e>
                        <m:sup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]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79" y="5498767"/>
                <a:ext cx="4855047" cy="6186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0431375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3284" y="1209587"/>
            <a:ext cx="2124075" cy="1666875"/>
          </a:xfrm>
          <a:prstGeom prst="rect">
            <a:avLst/>
          </a:prstGeom>
        </p:spPr>
      </p:pic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389891" y="208470"/>
            <a:ext cx="5832475" cy="776288"/>
          </a:xfrm>
        </p:spPr>
        <p:txBody>
          <a:bodyPr/>
          <a:lstStyle/>
          <a:p>
            <a:pPr eaLnBrk="1" hangingPunct="1"/>
            <a: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2.16 </a:t>
            </a:r>
            <a:endParaRPr lang="zh-CN" alt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89891" y="1917473"/>
                <a:ext cx="10042220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解答：③饱和区：</a:t>
                </a:r>
                <a:r>
                  <a:rPr lang="en-US" altLang="zh-CN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、</a:t>
                </a:r>
                <a:r>
                  <a:rPr lang="en-US" altLang="zh-CN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M2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无法同时处于饱和区，且只能</a:t>
                </a:r>
                <a:r>
                  <a:rPr lang="en-US" altLang="zh-CN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处于饱和区</a:t>
                </a:r>
                <a:endPara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假定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M2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处于饱和区，则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𝑺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&gt;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𝑮𝑺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𝑻𝑯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，此时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𝑺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𝑮𝑺</m:t>
                        </m:r>
                      </m:sub>
                    </m:sSub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𝑫𝑺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&lt;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𝑻𝑯</m:t>
                        </m:r>
                      </m:sub>
                    </m:sSub>
                    <m:r>
                      <a:rPr lang="zh-CN" altLang="en-US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，</m:t>
                    </m:r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即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截止，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这是不存在的，故饱和区时，只能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饱和，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M2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线性，则有：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1917473"/>
                <a:ext cx="10042220" cy="1477328"/>
              </a:xfrm>
              <a:prstGeom prst="rect">
                <a:avLst/>
              </a:prstGeom>
              <a:blipFill>
                <a:blip r:embed="rId3"/>
                <a:stretch>
                  <a:fillRect l="-668" r="-3097" b="-28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389891" y="1209587"/>
                <a:ext cx="9007466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题目：考虑如图所示的结构，求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𝑰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关于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𝑮𝑺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𝑺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的函数关系，并证明该结构可</a:t>
                </a: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看作宽长比等于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W/ (2L)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的晶体管，假设</a:t>
                </a:r>
                <a14:m>
                  <m:oMath xmlns:m="http://schemas.openxmlformats.org/officeDocument/2006/math">
                    <m:r>
                      <a:rPr lang="zh-CN" altLang="en-US" sz="2000" b="1" i="1" smtClean="0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000" b="1" i="1" smtClean="0">
                        <a:latin typeface="Cambria Math" panose="02040503050406030204" pitchFamily="18" charset="0"/>
                      </a:rPr>
                      <m:t>𝜸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。</a:t>
                </a: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1209587"/>
                <a:ext cx="9007466" cy="707886"/>
              </a:xfrm>
              <a:prstGeom prst="rect">
                <a:avLst/>
              </a:prstGeom>
              <a:blipFill>
                <a:blip r:embed="rId4"/>
                <a:stretch>
                  <a:fillRect l="-744" t="-5983" r="-68" b="-145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500474" y="3394801"/>
                <a:ext cx="9760236" cy="6186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𝑰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𝑫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𝑰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𝑫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𝟐</m:t>
                              </m:r>
                            </m:den>
                          </m:f>
                          <m:r>
                            <a:rPr lang="zh-CN" altLang="en-US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𝒐𝒙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𝑾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𝑳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(</m:t>
                              </m:r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𝑮𝑺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𝑫𝑺</m:t>
                              </m:r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𝑻𝑯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)</m:t>
                          </m:r>
                        </m:e>
                        <m:sup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𝑰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𝑫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𝒐𝒙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𝑾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𝑳</m:t>
                              </m:r>
                            </m:den>
                          </m:f>
                        </m:e>
                      </m:d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[</m:t>
                      </m:r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𝑮𝑺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𝑻𝑯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𝑫𝑺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−</m:t>
                      </m:r>
                      <m:f>
                        <m:f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𝑫𝑺</m:t>
                              </m:r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𝟐</m:t>
                              </m:r>
                            </m:sub>
                          </m:sSub>
                        </m:e>
                        <m:sup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]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74" y="3394801"/>
                <a:ext cx="9760236" cy="6186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389891" y="4087910"/>
            <a:ext cx="12170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同理解得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1606891" y="3947030"/>
                <a:ext cx="3392403" cy="6186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𝑰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𝑫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𝟐</m:t>
                              </m:r>
                            </m:den>
                          </m:f>
                          <m:r>
                            <a:rPr lang="zh-CN" altLang="en-US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𝒐𝒙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𝑾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𝟐</m:t>
                              </m:r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𝑳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(</m:t>
                              </m:r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𝑮𝑺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𝑻𝑯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)</m:t>
                          </m:r>
                        </m:e>
                        <m:sup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6891" y="3947030"/>
                <a:ext cx="3392403" cy="6186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389891" y="4608520"/>
            <a:ext cx="12170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综上所述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1083683" y="4746966"/>
                <a:ext cx="4851135" cy="14875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𝑰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𝑫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𝟎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𝒐𝒙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𝑾</m:t>
                                      </m:r>
                                    </m:num>
                                    <m:den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𝟐</m:t>
                                      </m:r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𝑳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[</m:t>
                              </m:r>
                              <m:d>
                                <m:d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𝑮𝑺</m:t>
                                      </m:r>
                                    </m:sub>
                                  </m:s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𝑻𝑯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𝑫𝑺</m:t>
                                  </m:r>
                                </m:sub>
                              </m:s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𝟐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𝑫𝑺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]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f>
                                    <m:f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𝟏</m:t>
                                      </m:r>
                                    </m:num>
                                    <m:den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𝟐</m:t>
                                      </m:r>
                                    </m:den>
                                  </m:f>
                                  <m:r>
                                    <a:rPr lang="zh-CN" altLang="en-US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𝒐𝒙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𝑾</m:t>
                                      </m:r>
                                    </m:num>
                                    <m:den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𝟐</m:t>
                                      </m:r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𝑳</m:t>
                                      </m:r>
                                    </m:den>
                                  </m:f>
                                </m:e>
                              </m:d>
                              <m:sSup>
                                <m:sSup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(</m:t>
                                      </m:r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𝑮𝑺</m:t>
                                      </m:r>
                                    </m:sub>
                                  </m:s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𝑻𝑯</m:t>
                                      </m:r>
                                    </m:sub>
                                  </m:s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683" y="4746966"/>
                <a:ext cx="4851135" cy="14875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6222366" y="4746966"/>
            <a:ext cx="9589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截止区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432111" y="5680555"/>
            <a:ext cx="70083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证毕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222366" y="5680555"/>
            <a:ext cx="9589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饱和区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222366" y="5208391"/>
            <a:ext cx="9589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线性区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3918820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389891" y="208470"/>
            <a:ext cx="5832475" cy="776288"/>
          </a:xfrm>
        </p:spPr>
        <p:txBody>
          <a:bodyPr/>
          <a:lstStyle/>
          <a:p>
            <a:pPr eaLnBrk="1" hangingPunct="1"/>
            <a: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2.17 </a:t>
            </a:r>
            <a:endParaRPr lang="zh-CN" alt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1406" y="1496409"/>
            <a:ext cx="798799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解答：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(a)</a:t>
            </a: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            (b)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171406" y="1096299"/>
                <a:ext cx="11918095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题目：已知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NMOS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器件工作在饱和区。如果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(a)</a:t>
                </a:r>
                <a:r>
                  <a:rPr lang="en-US" altLang="zh-CN" sz="2000" b="1" dirty="0"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𝑰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恒定；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(b)</a:t>
                </a:r>
                <a:r>
                  <a:rPr lang="en-US" altLang="zh-CN" sz="2000" b="1" dirty="0"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𝒈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恒定，画出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W/L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关于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𝑮𝑺</m:t>
                        </m:r>
                      </m:sub>
                    </m:sSub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𝑻𝑯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的函数曲线</a:t>
                </a: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06" y="1096299"/>
                <a:ext cx="11918095" cy="400110"/>
              </a:xfrm>
              <a:prstGeom prst="rect">
                <a:avLst/>
              </a:prstGeom>
              <a:blipFill>
                <a:blip r:embed="rId2"/>
                <a:stretch>
                  <a:fillRect l="-512" t="-13846" r="-307" b="-2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1517878" y="1773473"/>
                <a:ext cx="6580456" cy="6619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𝑰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𝑫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𝟐</m:t>
                              </m:r>
                            </m:den>
                          </m:f>
                          <m:r>
                            <a:rPr lang="zh-CN" altLang="en-US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𝒐𝒙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𝑾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𝑳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(</m:t>
                              </m:r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𝑮𝑺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𝑻𝑯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)</m:t>
                          </m:r>
                        </m:e>
                        <m:sup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</m:sup>
                      </m:sSup>
                      <m:r>
                        <a:rPr lang="en-US" altLang="zh-CN" b="0" i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     </m:t>
                      </m:r>
                      <m:r>
                        <a:rPr lang="zh-CN" altLang="en-US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     </m:t>
                      </m:r>
                      <m:f>
                        <m:f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𝑾</m:t>
                          </m:r>
                        </m:num>
                        <m:den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𝑳</m:t>
                          </m:r>
                        </m:den>
                      </m:f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𝟐</m:t>
                              </m:r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𝑫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𝒐𝒙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(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𝑮𝑺</m:t>
                                  </m:r>
                                </m:sub>
                              </m:s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𝑻𝑯</m:t>
                                  </m:r>
                                </m:sub>
                              </m:s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7878" y="1773473"/>
                <a:ext cx="6580456" cy="6619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1517878" y="2581001"/>
                <a:ext cx="6471579" cy="6600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𝒈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𝒎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𝒐𝒙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𝑾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𝑳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(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𝑮𝑺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−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𝑻𝑯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         </m:t>
                      </m:r>
                      <m:r>
                        <a:rPr lang="zh-CN" altLang="en-US" dirty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     </m:t>
                      </m:r>
                      <m:f>
                        <m:f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𝑾</m:t>
                          </m:r>
                        </m:num>
                        <m:den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𝑳</m:t>
                          </m:r>
                        </m:den>
                      </m:f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𝒈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𝒎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𝒐𝒙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(</m:t>
                              </m:r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𝑮𝑺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𝑻𝑯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7878" y="2581001"/>
                <a:ext cx="6471579" cy="6600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99" y="3250801"/>
            <a:ext cx="4320000" cy="3240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599" y="3250801"/>
            <a:ext cx="4320000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002852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389891" y="208470"/>
            <a:ext cx="5832475" cy="776288"/>
          </a:xfrm>
        </p:spPr>
        <p:txBody>
          <a:bodyPr/>
          <a:lstStyle/>
          <a:p>
            <a:pPr eaLnBrk="1" hangingPunct="1"/>
            <a: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2.18 </a:t>
            </a:r>
            <a:endParaRPr lang="zh-CN" alt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89891" y="1609697"/>
                <a:ext cx="7987990" cy="24006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解答：理想电流源，其输出阻抗无穷大，即电流源越理想，其两端电压变化时，电流源的电流变化越小；</a:t>
                </a: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对于图中的两个晶体管，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左边为</a:t>
                </a:r>
                <a:r>
                  <a:rPr lang="en-US" altLang="zh-CN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PMOS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管，右边为</a:t>
                </a:r>
                <a:r>
                  <a:rPr lang="en-US" altLang="zh-CN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NMOS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管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作为电流源使用时，若其两端电压变化，即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𝑮𝑺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𝑺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都会变化，尤其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𝑮𝑺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的变化会使得电流产生明显的变化，因此其无法作为电流源使用。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1609697"/>
                <a:ext cx="7987990" cy="2400657"/>
              </a:xfrm>
              <a:prstGeom prst="rect">
                <a:avLst/>
              </a:prstGeom>
              <a:blipFill>
                <a:blip r:embed="rId2"/>
                <a:stretch>
                  <a:fillRect l="-840" b="-5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/>
          <p:cNvSpPr/>
          <p:nvPr/>
        </p:nvSpPr>
        <p:spPr>
          <a:xfrm>
            <a:off x="389891" y="1209587"/>
            <a:ext cx="9217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题目：如图所示的晶体管，尽管处在饱和区，解释不能作为电流源使用的原因。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669" y="2105282"/>
            <a:ext cx="3009524" cy="1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424409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389891" y="208470"/>
            <a:ext cx="5832475" cy="776288"/>
          </a:xfrm>
        </p:spPr>
        <p:txBody>
          <a:bodyPr/>
          <a:lstStyle/>
          <a:p>
            <a:pPr eaLnBrk="1" hangingPunct="1"/>
            <a: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2.24(a) </a:t>
            </a:r>
            <a:endParaRPr lang="zh-CN" alt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89891" y="1576088"/>
                <a:ext cx="9100098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解答：分析在不同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下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NMOS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和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PMOS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变化的工作状态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&lt;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𝑻𝑯𝑵</m:t>
                        </m:r>
                      </m:sub>
                    </m:sSub>
                    <m:r>
                      <a:rPr lang="zh-CN" alt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，</m:t>
                    </m:r>
                  </m:oMath>
                </a14:m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𝟎</m:t>
                    </m:r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𝟓</m:t>
                    </m:r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NMOS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截止，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从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增大至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</m:t>
                        </m:r>
                      </m:sub>
                    </m:sSub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𝑻𝑯𝑷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PMOS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从截止变为饱和，则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1576088"/>
                <a:ext cx="9100098" cy="1477328"/>
              </a:xfrm>
              <a:prstGeom prst="rect">
                <a:avLst/>
              </a:prstGeom>
              <a:blipFill>
                <a:blip r:embed="rId2"/>
                <a:stretch>
                  <a:fillRect l="-737" b="-28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389891" y="1209587"/>
                <a:ext cx="1115955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题目：在图中，以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为参数，画出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𝑰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关于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的函数曲线草图和其等效跨导草图，假设</a:t>
                </a:r>
                <a14:m>
                  <m:oMath xmlns:m="http://schemas.openxmlformats.org/officeDocument/2006/math">
                    <m:r>
                      <a:rPr lang="zh-CN" altLang="en-US" sz="2000" b="1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000" b="1" i="1">
                        <a:latin typeface="Cambria Math" panose="02040503050406030204" pitchFamily="18" charset="0"/>
                      </a:rPr>
                      <m:t>𝜸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。</a:t>
                </a: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1209587"/>
                <a:ext cx="11159558" cy="400110"/>
              </a:xfrm>
              <a:prstGeom prst="rect">
                <a:avLst/>
              </a:prstGeom>
              <a:blipFill>
                <a:blip r:embed="rId3"/>
                <a:stretch>
                  <a:fillRect l="-601" t="-10606" r="-546" b="-2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6114" y="1707586"/>
            <a:ext cx="2682472" cy="24386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2983186" y="2642615"/>
                <a:ext cx="4240263" cy="1117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𝑰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𝑿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𝟎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f>
                                    <m:f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𝟏</m:t>
                                      </m:r>
                                    </m:num>
                                    <m:den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𝟐</m:t>
                                      </m:r>
                                    </m:den>
                                  </m:f>
                                  <m:r>
                                    <a:rPr lang="zh-CN" altLang="en-US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𝒑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𝒐𝒙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𝑾</m:t>
                                      </m:r>
                                    </m:num>
                                    <m:den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𝑳</m:t>
                                      </m:r>
                                    </m:den>
                                  </m:f>
                                </m:e>
                              </m:d>
                              <m:sSup>
                                <m:sSup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(</m:t>
                                      </m:r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𝑿</m:t>
                                      </m:r>
                                    </m:sub>
                                  </m:s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𝑮</m:t>
                                      </m:r>
                                    </m:sub>
                                  </m:s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1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𝑽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1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𝑻𝑯𝑷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3186" y="2642615"/>
                <a:ext cx="4240263" cy="1117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7163811" y="2762099"/>
                <a:ext cx="203132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𝑿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&lt;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𝑮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𝑻𝑯𝑷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3811" y="2762099"/>
                <a:ext cx="203132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7163811" y="3182265"/>
                <a:ext cx="203132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𝑿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&gt;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𝑮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𝑻𝑯𝑷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3811" y="3182265"/>
                <a:ext cx="203132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14" y="3760613"/>
            <a:ext cx="9363475" cy="329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462207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7179" y="1635789"/>
            <a:ext cx="2376405" cy="2160368"/>
          </a:xfrm>
          <a:prstGeom prst="rect">
            <a:avLst/>
          </a:prstGeom>
        </p:spPr>
      </p:pic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389891" y="208470"/>
            <a:ext cx="5832475" cy="776288"/>
          </a:xfrm>
        </p:spPr>
        <p:txBody>
          <a:bodyPr/>
          <a:lstStyle/>
          <a:p>
            <a:pPr eaLnBrk="1" hangingPunct="1"/>
            <a: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2.24(a) </a:t>
            </a:r>
            <a:endParaRPr lang="zh-CN" alt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89891" y="1576088"/>
                <a:ext cx="8268078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解答：分析在不同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下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NMOS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和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PMOS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变化的工作状态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&gt;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𝑻𝑯𝑵</m:t>
                        </m:r>
                      </m:sub>
                    </m:sSub>
                    <m:r>
                      <a:rPr lang="zh-CN" alt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，</m:t>
                    </m:r>
                  </m:oMath>
                </a14:m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𝟏</m:t>
                    </m:r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从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增大到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0.3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NMOS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线性，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PMOS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始终截止；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从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0.3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增大到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𝟖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NMOS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饱和，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PMOS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仍然截止；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从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𝟖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增大到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NMOS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PMOS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同时饱和，则：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1576088"/>
                <a:ext cx="8268078" cy="1938992"/>
              </a:xfrm>
              <a:prstGeom prst="rect">
                <a:avLst/>
              </a:prstGeom>
              <a:blipFill>
                <a:blip r:embed="rId3"/>
                <a:stretch>
                  <a:fillRect l="-811" r="-516" b="-18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389891" y="1209587"/>
                <a:ext cx="1115955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题目：在图中，以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为参数，画出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𝑰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关于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的函数曲线草图和其等效跨导草图，假设</a:t>
                </a:r>
                <a14:m>
                  <m:oMath xmlns:m="http://schemas.openxmlformats.org/officeDocument/2006/math">
                    <m:r>
                      <a:rPr lang="zh-CN" altLang="en-US" sz="2000" b="1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000" b="1" i="1">
                        <a:latin typeface="Cambria Math" panose="02040503050406030204" pitchFamily="18" charset="0"/>
                      </a:rPr>
                      <m:t>𝜸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。</a:t>
                </a: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1209587"/>
                <a:ext cx="11159558" cy="400110"/>
              </a:xfrm>
              <a:prstGeom prst="rect">
                <a:avLst/>
              </a:prstGeom>
              <a:blipFill>
                <a:blip r:embed="rId4"/>
                <a:stretch>
                  <a:fillRect l="-601" t="-10606" r="-546" b="-2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5057543" y="3822250"/>
                <a:ext cx="5374933" cy="18738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𝒈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𝒎</m:t>
                          </m:r>
                        </m:sub>
                      </m:sSub>
                      <m:r>
                        <a:rPr lang="en-US" altLang="zh-CN" sz="1600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16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600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𝒐𝒙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𝑾</m:t>
                                      </m:r>
                                    </m:num>
                                    <m:den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𝑳</m:t>
                                      </m:r>
                                    </m:den>
                                  </m:f>
                                </m:e>
                              </m:d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𝑿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𝒐𝒙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𝑾</m:t>
                                      </m:r>
                                    </m:num>
                                    <m:den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𝑳</m:t>
                                      </m:r>
                                    </m:den>
                                  </m:f>
                                </m:e>
                              </m:d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(</m:t>
                                  </m:r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𝑮</m:t>
                                  </m:r>
                                </m:sub>
                              </m:sSub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𝑻𝑯𝑵</m:t>
                                  </m:r>
                                </m:sub>
                              </m:sSub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𝑪</m:t>
                                      </m:r>
                                    </m:e>
                                    <m:sub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𝒐𝒙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CN" sz="1600" b="1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1600" b="1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𝑾</m:t>
                                          </m:r>
                                        </m:num>
                                        <m:den>
                                          <m:r>
                                            <a:rPr lang="en-US" altLang="zh-CN" sz="1600" b="1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𝑳</m:t>
                                          </m:r>
                                        </m:den>
                                      </m:f>
                                    </m:e>
                                  </m:d>
                                  <m:d>
                                    <m:dPr>
                                      <m:begChr m:val="["/>
                                      <m:ctrlPr>
                                        <a:rPr lang="en-US" altLang="zh-CN" sz="1600" b="1" i="1" smtClean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600" b="1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600" b="1" i="1">
                                                  <a:latin typeface="Cambria Math" panose="02040503050406030204" pitchFamily="18" charset="0"/>
                                                  <a:ea typeface="宋体" panose="02010600030101010101" pitchFamily="2" charset="-122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600" b="1" i="1">
                                                  <a:latin typeface="Cambria Math" panose="02040503050406030204" pitchFamily="18" charset="0"/>
                                                  <a:ea typeface="宋体" panose="02010600030101010101" pitchFamily="2" charset="-122"/>
                                                </a:rPr>
                                                <m:t>𝝁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600" b="1" i="1">
                                                  <a:latin typeface="Cambria Math" panose="02040503050406030204" pitchFamily="18" charset="0"/>
                                                  <a:ea typeface="宋体" panose="02010600030101010101" pitchFamily="2" charset="-122"/>
                                                </a:rPr>
                                                <m:t>𝒏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1600" b="1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zh-CN" sz="1600" b="1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𝑽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b="1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𝑮</m:t>
                                          </m:r>
                                        </m:sub>
                                      </m:sSub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600" b="1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 b="1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𝑽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b="1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𝑻𝑯𝑵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−</m:t>
                                  </m:r>
                                  <m:r>
                                    <a:rPr lang="zh-CN" altLang="en-US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𝒑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(</m:t>
                                  </m:r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𝑿</m:t>
                                  </m:r>
                                </m:sub>
                              </m:sSub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𝑮</m:t>
                                  </m:r>
                                </m:sub>
                              </m:sSub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𝑻𝑯𝑷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)]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7543" y="3822250"/>
                <a:ext cx="5374933" cy="18738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9877432" y="3985274"/>
                <a:ext cx="177478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𝟎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.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𝟑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&gt;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𝑿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&gt;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𝟎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7432" y="3985274"/>
                <a:ext cx="177478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9875400" y="4517630"/>
                <a:ext cx="214828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𝟏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.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𝟖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&gt;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𝑿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&gt;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𝟎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𝟑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𝑽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5400" y="4517630"/>
                <a:ext cx="214828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10268140" y="5104682"/>
                <a:ext cx="192386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𝟑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&gt;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𝑿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&gt;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𝟏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𝟖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𝑽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8140" y="5104682"/>
                <a:ext cx="192386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283" y="3881581"/>
                <a:ext cx="5644174" cy="18738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𝑰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𝑿</m:t>
                          </m:r>
                        </m:sub>
                      </m:sSub>
                      <m:r>
                        <a:rPr lang="en-US" altLang="zh-CN" sz="1600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16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600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𝒐𝒙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𝑾</m:t>
                                      </m:r>
                                    </m:num>
                                    <m:den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𝑳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[</m:t>
                              </m:r>
                              <m:d>
                                <m:dPr>
                                  <m:ctrlP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𝑮</m:t>
                                      </m:r>
                                    </m:sub>
                                  </m:sSub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𝑻𝑯</m:t>
                                      </m:r>
                                      <m:r>
                                        <a:rPr lang="en-US" altLang="zh-CN" sz="1600" b="1" i="1" smtClean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𝑵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𝑿</m:t>
                                  </m:r>
                                </m:sub>
                              </m:sSub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𝟐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𝑿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]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f>
                                    <m:f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𝟏</m:t>
                                      </m:r>
                                    </m:num>
                                    <m:den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𝟐</m:t>
                                      </m:r>
                                    </m:den>
                                  </m:f>
                                  <m:r>
                                    <a:rPr lang="zh-CN" altLang="en-US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𝒐𝒙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𝑾</m:t>
                                      </m:r>
                                    </m:num>
                                    <m:den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𝑳</m:t>
                                      </m:r>
                                    </m:den>
                                  </m:f>
                                </m:e>
                              </m:d>
                              <m:sSup>
                                <m:sSup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1" i="1" smtClean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(</m:t>
                                      </m:r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𝑮</m:t>
                                      </m:r>
                                    </m:sub>
                                  </m:s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𝑻𝑯𝑵</m:t>
                                      </m:r>
                                    </m:sub>
                                  </m:s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  <m:e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f>
                                        <m:fPr>
                                          <m:ctrlPr>
                                            <a:rPr lang="en-US" altLang="zh-CN" sz="1600" b="1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1600" b="1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𝟏</m:t>
                                          </m:r>
                                        </m:num>
                                        <m:den>
                                          <m:r>
                                            <a:rPr lang="en-US" altLang="zh-CN" sz="1600" b="1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𝟐</m:t>
                                          </m:r>
                                        </m:den>
                                      </m:f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𝑪</m:t>
                                      </m:r>
                                    </m:e>
                                    <m:sub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𝒐𝒙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CN" sz="1600" b="1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1600" b="1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𝑾</m:t>
                                          </m:r>
                                        </m:num>
                                        <m:den>
                                          <m:r>
                                            <a:rPr lang="en-US" altLang="zh-CN" sz="1600" b="1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𝑳</m:t>
                                          </m:r>
                                        </m:den>
                                      </m:f>
                                    </m:e>
                                  </m:d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[</m:t>
                                  </m:r>
                                  <m:sSup>
                                    <m:sSup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600" b="1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600" b="1" i="1">
                                                  <a:latin typeface="Cambria Math" panose="02040503050406030204" pitchFamily="18" charset="0"/>
                                                  <a:ea typeface="宋体" panose="02010600030101010101" pitchFamily="2" charset="-122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600" b="1" i="1">
                                                  <a:latin typeface="Cambria Math" panose="02040503050406030204" pitchFamily="18" charset="0"/>
                                                  <a:ea typeface="宋体" panose="02010600030101010101" pitchFamily="2" charset="-122"/>
                                                </a:rPr>
                                                <m:t>𝝁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600" b="1" i="1">
                                                  <a:latin typeface="Cambria Math" panose="02040503050406030204" pitchFamily="18" charset="0"/>
                                                  <a:ea typeface="宋体" panose="02010600030101010101" pitchFamily="2" charset="-122"/>
                                                </a:rPr>
                                                <m:t>𝒏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1600" b="1" i="1" smtClean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zh-CN" sz="1600" b="1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𝑽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b="1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𝑮</m:t>
                                          </m:r>
                                        </m:sub>
                                      </m:sSub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600" b="1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 b="1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𝑽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b="1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𝑻𝑯𝑵</m:t>
                                          </m:r>
                                        </m:sub>
                                      </m:sSub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+</m:t>
                                  </m:r>
                                  <m:r>
                                    <a:rPr lang="zh-CN" altLang="en-US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𝒑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(</m:t>
                                      </m:r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𝑿</m:t>
                                      </m:r>
                                    </m:sub>
                                  </m:s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𝑮</m:t>
                                      </m:r>
                                    </m:sub>
                                  </m:s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600" b="1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 b="1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𝑽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b="1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𝑻𝑯𝑷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]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" y="3881581"/>
                <a:ext cx="5644174" cy="187384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9306767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7179" y="1635789"/>
            <a:ext cx="2376405" cy="2160368"/>
          </a:xfrm>
          <a:prstGeom prst="rect">
            <a:avLst/>
          </a:prstGeom>
        </p:spPr>
      </p:pic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389891" y="208470"/>
            <a:ext cx="5832475" cy="776288"/>
          </a:xfrm>
        </p:spPr>
        <p:txBody>
          <a:bodyPr/>
          <a:lstStyle/>
          <a:p>
            <a:pPr eaLnBrk="1" hangingPunct="1"/>
            <a: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2.24(a) </a:t>
            </a:r>
            <a:endParaRPr lang="zh-CN" alt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89891" y="1576088"/>
                <a:ext cx="8268078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解答：分析在不同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下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NMOS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和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PMOS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变化的工作状态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&gt;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𝑻𝑯𝑵</m:t>
                        </m:r>
                      </m:sub>
                    </m:sSub>
                    <m:r>
                      <a:rPr lang="zh-CN" alt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，</m:t>
                    </m:r>
                  </m:oMath>
                </a14:m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𝟏</m:t>
                    </m:r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从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增大到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0.3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NMOS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线性，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PMOS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始终截止；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从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0.3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增大到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𝟖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NMOS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饱和，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PMOS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仍然截止；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从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𝟖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增大到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NMOS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PMOS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同时饱和，则：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1576088"/>
                <a:ext cx="8268078" cy="1938992"/>
              </a:xfrm>
              <a:prstGeom prst="rect">
                <a:avLst/>
              </a:prstGeom>
              <a:blipFill>
                <a:blip r:embed="rId3"/>
                <a:stretch>
                  <a:fillRect l="-811" r="-516" b="-18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389891" y="1209587"/>
                <a:ext cx="1115955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题目：在图中，以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为参数，画出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𝑰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关于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的函数曲线草图和其等效跨导草图，假设</a:t>
                </a:r>
                <a14:m>
                  <m:oMath xmlns:m="http://schemas.openxmlformats.org/officeDocument/2006/math">
                    <m:r>
                      <a:rPr lang="zh-CN" altLang="en-US" sz="2000" b="1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000" b="1" i="1">
                        <a:latin typeface="Cambria Math" panose="02040503050406030204" pitchFamily="18" charset="0"/>
                      </a:rPr>
                      <m:t>𝜸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。</a:t>
                </a: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1209587"/>
                <a:ext cx="11159558" cy="400110"/>
              </a:xfrm>
              <a:prstGeom prst="rect">
                <a:avLst/>
              </a:prstGeom>
              <a:blipFill>
                <a:blip r:embed="rId4"/>
                <a:stretch>
                  <a:fillRect l="-601" t="-10606" r="-546" b="-2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891" y="3566153"/>
            <a:ext cx="9363475" cy="329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158090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7179" y="1635789"/>
            <a:ext cx="2376405" cy="2160368"/>
          </a:xfrm>
          <a:prstGeom prst="rect">
            <a:avLst/>
          </a:prstGeom>
        </p:spPr>
      </p:pic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389891" y="208470"/>
            <a:ext cx="5832475" cy="776288"/>
          </a:xfrm>
        </p:spPr>
        <p:txBody>
          <a:bodyPr/>
          <a:lstStyle/>
          <a:p>
            <a:pPr eaLnBrk="1" hangingPunct="1"/>
            <a: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2.24(a) </a:t>
            </a:r>
            <a:endParaRPr lang="zh-CN" alt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89891" y="1576088"/>
                <a:ext cx="8268078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解答：分析在不同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下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NMOS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和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PMOS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变化的工作状态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③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&gt;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𝑻𝑯𝑵</m:t>
                        </m:r>
                      </m:sub>
                    </m:sSub>
                    <m:r>
                      <a:rPr lang="zh-CN" alt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，</m:t>
                    </m:r>
                  </m:oMath>
                </a14:m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𝟐</m:t>
                    </m:r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𝟓</m:t>
                    </m:r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从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增大到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𝟖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NMOS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线性，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PMOS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截止；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从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𝟖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增大到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NMOS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饱和，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PMOS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仍然截止；即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PMOS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始终截止，则：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1576088"/>
                <a:ext cx="8268078" cy="1938992"/>
              </a:xfrm>
              <a:prstGeom prst="rect">
                <a:avLst/>
              </a:prstGeom>
              <a:blipFill>
                <a:blip r:embed="rId3"/>
                <a:stretch>
                  <a:fillRect l="-811" b="-18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389891" y="1209587"/>
                <a:ext cx="1115955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题目：在图中，以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为参数，画出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𝑰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关于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的函数曲线草图和其等效跨导草图，假设</a:t>
                </a:r>
                <a14:m>
                  <m:oMath xmlns:m="http://schemas.openxmlformats.org/officeDocument/2006/math">
                    <m:r>
                      <a:rPr lang="zh-CN" altLang="en-US" sz="2000" b="1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000" b="1" i="1">
                        <a:latin typeface="Cambria Math" panose="02040503050406030204" pitchFamily="18" charset="0"/>
                      </a:rPr>
                      <m:t>𝜸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。</a:t>
                </a: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1209587"/>
                <a:ext cx="11159558" cy="400110"/>
              </a:xfrm>
              <a:prstGeom prst="rect">
                <a:avLst/>
              </a:prstGeom>
              <a:blipFill>
                <a:blip r:embed="rId4"/>
                <a:stretch>
                  <a:fillRect l="-601" t="-10606" r="-546" b="-2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4569226" y="3881581"/>
                <a:ext cx="3343479" cy="14160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𝒈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𝒎</m:t>
                          </m:r>
                        </m:sub>
                      </m:sSub>
                      <m:r>
                        <a:rPr lang="en-US" altLang="zh-CN" sz="1600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16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600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𝒐𝒙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𝑾</m:t>
                                      </m:r>
                                    </m:num>
                                    <m:den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𝑳</m:t>
                                      </m:r>
                                    </m:den>
                                  </m:f>
                                </m:e>
                              </m:d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𝑿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𝒐𝒙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𝑾</m:t>
                                      </m:r>
                                    </m:num>
                                    <m:den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𝑳</m:t>
                                      </m:r>
                                    </m:den>
                                  </m:f>
                                </m:e>
                              </m:d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(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𝑮</m:t>
                                  </m:r>
                                </m:sub>
                              </m:s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𝑻𝑯𝑵</m:t>
                                  </m:r>
                                </m:sub>
                              </m:s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zh-CN" altLang="en-US" dirty="0"/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9226" y="3881581"/>
                <a:ext cx="3343479" cy="14160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8197757" y="4099719"/>
                <a:ext cx="214828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𝟏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.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𝟖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&gt;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𝑿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&gt;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𝟎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𝟑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𝑽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757" y="4099719"/>
                <a:ext cx="214828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8197757" y="4772614"/>
                <a:ext cx="192386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𝟑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&gt;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𝑿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&gt;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𝟏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𝟖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𝑽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757" y="4772614"/>
                <a:ext cx="192386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283" y="3881581"/>
                <a:ext cx="4568943" cy="14160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𝑰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𝑿</m:t>
                          </m:r>
                        </m:sub>
                      </m:sSub>
                      <m:r>
                        <a:rPr lang="en-US" altLang="zh-CN" sz="1600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16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600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𝒐𝒙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𝑾</m:t>
                                      </m:r>
                                    </m:num>
                                    <m:den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𝑳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[</m:t>
                              </m:r>
                              <m:d>
                                <m:d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𝑮</m:t>
                                      </m:r>
                                    </m:sub>
                                  </m:s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𝑻𝑯𝑵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𝑿</m:t>
                                  </m:r>
                                </m:sub>
                              </m:s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𝟐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𝑿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]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f>
                                    <m:f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𝟏</m:t>
                                      </m:r>
                                    </m:num>
                                    <m:den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𝟐</m:t>
                                      </m:r>
                                    </m:den>
                                  </m:f>
                                  <m:r>
                                    <a:rPr lang="zh-CN" altLang="en-US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𝒐𝒙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𝑾</m:t>
                                      </m:r>
                                    </m:num>
                                    <m:den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𝑳</m:t>
                                      </m:r>
                                    </m:den>
                                  </m:f>
                                </m:e>
                              </m:d>
                              <m:sSup>
                                <m:sSup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(</m:t>
                                      </m:r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𝑮</m:t>
                                      </m:r>
                                    </m:sub>
                                  </m:s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𝑻𝑯𝑵</m:t>
                                      </m:r>
                                    </m:sub>
                                  </m:s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" y="3881581"/>
                <a:ext cx="4568943" cy="141602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7916697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7179" y="1635789"/>
            <a:ext cx="2376405" cy="2160368"/>
          </a:xfrm>
          <a:prstGeom prst="rect">
            <a:avLst/>
          </a:prstGeom>
        </p:spPr>
      </p:pic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389891" y="208470"/>
            <a:ext cx="5832475" cy="776288"/>
          </a:xfrm>
        </p:spPr>
        <p:txBody>
          <a:bodyPr/>
          <a:lstStyle/>
          <a:p>
            <a:pPr eaLnBrk="1" hangingPunct="1"/>
            <a: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2.24(a) </a:t>
            </a:r>
            <a:endParaRPr lang="zh-CN" alt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89891" y="1576088"/>
                <a:ext cx="8268078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解答：分析在不同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下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NMOS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和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PMOS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变化的工作状态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&gt;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𝑻𝑯𝑵</m:t>
                        </m:r>
                      </m:sub>
                    </m:sSub>
                    <m:r>
                      <a:rPr lang="zh-CN" alt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，</m:t>
                    </m:r>
                  </m:oMath>
                </a14:m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𝟐</m:t>
                    </m:r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𝟓</m:t>
                    </m:r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从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增大到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𝟖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NMOS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线性，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PMOS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截止；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从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𝟖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增大到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NMOS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饱和，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PMOS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仍然截止；即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PMOS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始终截止，则：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1576088"/>
                <a:ext cx="8268078" cy="1938992"/>
              </a:xfrm>
              <a:prstGeom prst="rect">
                <a:avLst/>
              </a:prstGeom>
              <a:blipFill>
                <a:blip r:embed="rId3"/>
                <a:stretch>
                  <a:fillRect l="-811" b="-18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389891" y="1209587"/>
                <a:ext cx="1115955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题目：在图中，以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为参数，画出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𝑰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关于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的函数曲线草图和其等效跨导草图，假设</a:t>
                </a:r>
                <a14:m>
                  <m:oMath xmlns:m="http://schemas.openxmlformats.org/officeDocument/2006/math">
                    <m:r>
                      <a:rPr lang="zh-CN" altLang="en-US" sz="2000" b="1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000" b="1" i="1">
                        <a:latin typeface="Cambria Math" panose="02040503050406030204" pitchFamily="18" charset="0"/>
                      </a:rPr>
                      <m:t>𝜸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。</a:t>
                </a: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1209587"/>
                <a:ext cx="11159558" cy="400110"/>
              </a:xfrm>
              <a:prstGeom prst="rect">
                <a:avLst/>
              </a:prstGeom>
              <a:blipFill>
                <a:blip r:embed="rId4"/>
                <a:stretch>
                  <a:fillRect l="-601" t="-10606" r="-546" b="-2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710" y="3515080"/>
            <a:ext cx="9364999" cy="329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430670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664" y="1719858"/>
            <a:ext cx="2316336" cy="2712775"/>
          </a:xfrm>
          <a:prstGeom prst="rect">
            <a:avLst/>
          </a:prstGeom>
        </p:spPr>
      </p:pic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389891" y="208470"/>
            <a:ext cx="5832475" cy="776288"/>
          </a:xfrm>
        </p:spPr>
        <p:txBody>
          <a:bodyPr/>
          <a:lstStyle/>
          <a:p>
            <a:pPr eaLnBrk="1" hangingPunct="1"/>
            <a: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2.24(b) </a:t>
            </a:r>
            <a:endParaRPr lang="zh-CN" alt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89890" y="1576088"/>
                <a:ext cx="8342217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解答：分析方法同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(a)</a:t>
                </a:r>
              </a:p>
              <a:p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&lt;</m:t>
                    </m:r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𝑻𝑯𝑵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NMOS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截止，故不论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怎么变化，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𝑰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𝟎</m:t>
                    </m:r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𝒈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𝒎</m:t>
                        </m:r>
                      </m:sub>
                    </m:sSub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𝟎</m:t>
                    </m:r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；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&gt;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𝑻𝑯𝑵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𝟏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&lt;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𝟏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𝟖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PMOS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截止，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𝑰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𝟎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𝒈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𝒎</m:t>
                        </m:r>
                      </m:sub>
                    </m:sSub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𝟎</m:t>
                    </m:r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&gt;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𝟏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𝟖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PMOS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开始导通时，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PMOS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饱和，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NMOS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线性</a:t>
                </a:r>
                <a:r>
                  <a:rPr lang="en-US" altLang="zh-CN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电流由较小的一方决定</a:t>
                </a:r>
                <a:r>
                  <a:rPr lang="en-US" altLang="zh-CN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)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继续增大使得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PMOS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和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NMOS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同时饱和时，再继续增大，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PMOS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线性，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NMOS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饱和，临界的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为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:</a:t>
                </a: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0" y="1576088"/>
                <a:ext cx="8342217" cy="1938992"/>
              </a:xfrm>
              <a:prstGeom prst="rect">
                <a:avLst/>
              </a:prstGeom>
              <a:blipFill>
                <a:blip r:embed="rId3"/>
                <a:stretch>
                  <a:fillRect l="-804" t="-2516" r="-439" b="-50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389891" y="1209587"/>
                <a:ext cx="1115955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题目：在图中，以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为参数，画出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𝑰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关于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的函数曲线草图和其等效跨导草图，假设</a:t>
                </a:r>
                <a14:m>
                  <m:oMath xmlns:m="http://schemas.openxmlformats.org/officeDocument/2006/math">
                    <m:r>
                      <a:rPr lang="zh-CN" altLang="en-US" sz="2000" b="1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000" b="1" i="1">
                        <a:latin typeface="Cambria Math" panose="02040503050406030204" pitchFamily="18" charset="0"/>
                      </a:rPr>
                      <m:t>𝜸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。</a:t>
                </a: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1209587"/>
                <a:ext cx="11159558" cy="400110"/>
              </a:xfrm>
              <a:prstGeom prst="rect">
                <a:avLst/>
              </a:prstGeom>
              <a:blipFill>
                <a:blip r:embed="rId4"/>
                <a:stretch>
                  <a:fillRect l="-601" t="-10606" r="-546" b="-2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389890" y="3515080"/>
                <a:ext cx="9942081" cy="7146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𝑰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𝑫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𝟐</m:t>
                              </m:r>
                            </m:den>
                          </m:f>
                          <m:r>
                            <a:rPr lang="zh-CN" altLang="en-US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𝒐𝒙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𝑾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𝑳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(</m:t>
                              </m:r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𝑮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𝑻𝑯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𝑵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)</m:t>
                          </m:r>
                        </m:e>
                        <m:sup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𝑰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𝑫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𝟐</m:t>
                              </m:r>
                            </m:den>
                          </m:f>
                          <m:r>
                            <a:rPr lang="zh-CN" altLang="en-US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𝒑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𝒐𝒙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𝑾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𝑳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(</m:t>
                              </m:r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𝑿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𝑮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𝑻𝑯𝑷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)</m:t>
                          </m:r>
                        </m:e>
                        <m:sup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</m:sup>
                      </m:sSup>
                      <m:r>
                        <a:rPr lang="en-US" altLang="zh-CN" b="0" i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 </m:t>
                      </m:r>
                      <m:r>
                        <a:rPr lang="zh-CN" altLang="en-US" dirty="0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  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𝑿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𝟐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𝟑𝟔𝟏𝟐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𝑽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0" y="3515080"/>
                <a:ext cx="9942081" cy="714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383188" y="4294909"/>
                <a:ext cx="3842334" cy="14906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𝑰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𝑿</m:t>
                          </m:r>
                        </m:sub>
                      </m:sSub>
                      <m:r>
                        <a:rPr lang="en-US" altLang="zh-CN" sz="1600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16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600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𝟎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f>
                                    <m:f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𝟏</m:t>
                                      </m:r>
                                    </m:num>
                                    <m:den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𝟐</m:t>
                                      </m:r>
                                    </m:den>
                                  </m:f>
                                  <m:r>
                                    <a:rPr lang="zh-CN" altLang="en-US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𝒑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𝒐𝒙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𝑾</m:t>
                                      </m:r>
                                    </m:num>
                                    <m:den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𝑳</m:t>
                                      </m:r>
                                    </m:den>
                                  </m:f>
                                </m:e>
                              </m:d>
                              <m:sSup>
                                <m:sSup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(</m:t>
                                      </m:r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𝑿</m:t>
                                      </m:r>
                                    </m:sub>
                                  </m:s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𝑮</m:t>
                                      </m:r>
                                    </m:sub>
                                  </m:s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600" b="1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 b="1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𝑽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b="1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𝑻𝑯𝑷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  <m:e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f>
                                    <m:f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𝟏</m:t>
                                      </m:r>
                                    </m:num>
                                    <m:den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𝟐</m:t>
                                      </m:r>
                                    </m:den>
                                  </m:f>
                                  <m:r>
                                    <a:rPr lang="zh-CN" altLang="en-US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𝒐𝒙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𝑾</m:t>
                                      </m:r>
                                    </m:num>
                                    <m:den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𝑳</m:t>
                                      </m:r>
                                    </m:den>
                                  </m:f>
                                </m:e>
                              </m:d>
                              <m:sSup>
                                <m:sSup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𝑮</m:t>
                                      </m:r>
                                    </m:sub>
                                  </m:s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1600" b="1" i="1" smtClean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1" i="1" smtClean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altLang="zh-CN" sz="1600" b="1" i="1" smtClean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𝑻𝑯𝑵</m:t>
                                      </m:r>
                                    </m:sub>
                                  </m:s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188" y="4294909"/>
                <a:ext cx="3842334" cy="1490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4225522" y="4294909"/>
                <a:ext cx="3780394" cy="14906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𝒈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𝒎</m:t>
                          </m:r>
                        </m:sub>
                      </m:sSub>
                      <m:r>
                        <a:rPr lang="en-US" altLang="zh-CN" sz="1600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16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600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𝟎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−</m:t>
                                  </m:r>
                                  <m:r>
                                    <a:rPr lang="zh-CN" altLang="en-US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𝒑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𝒐𝒙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𝑾</m:t>
                                      </m:r>
                                    </m:num>
                                    <m:den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𝑳</m:t>
                                      </m:r>
                                    </m:den>
                                  </m:f>
                                </m:e>
                              </m:d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(</m:t>
                                  </m:r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𝑿</m:t>
                                  </m:r>
                                </m:sub>
                              </m:sSub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𝑮</m:t>
                                  </m:r>
                                </m:sub>
                              </m:sSub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𝑻𝑯𝑷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𝒐𝒙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𝑾</m:t>
                                      </m:r>
                                    </m:num>
                                    <m:den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𝑳</m:t>
                                      </m:r>
                                    </m:den>
                                  </m:f>
                                </m:e>
                              </m:d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(</m:t>
                                  </m:r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𝑮</m:t>
                                  </m:r>
                                </m:sub>
                              </m:sSub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𝑻𝑯𝑵</m:t>
                                  </m:r>
                                </m:sub>
                              </m:sSub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)</m:t>
                              </m:r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5522" y="4294909"/>
                <a:ext cx="3780394" cy="14906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7966400" y="4301055"/>
                <a:ext cx="177478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𝟏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.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𝟖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&gt;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𝑿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&gt;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𝟎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6400" y="4301055"/>
                <a:ext cx="177478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7964368" y="4787545"/>
                <a:ext cx="256185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.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𝟑𝟔𝟏𝟐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&gt;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𝑿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&gt;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𝟏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𝟖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𝑽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4368" y="4787545"/>
                <a:ext cx="256185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7964368" y="5274035"/>
                <a:ext cx="233743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𝟑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&gt;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𝑿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&gt;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𝟐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𝟑𝟔𝟏𝟐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𝑽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4368" y="5274035"/>
                <a:ext cx="233743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389890" y="5850719"/>
                <a:ext cx="9405203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③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</m:t>
                        </m:r>
                      </m:sub>
                    </m:sSub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&gt;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𝑻𝑯𝑵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</m:t>
                        </m:r>
                      </m:sub>
                    </m:sSub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𝟐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𝟓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  <m:r>
                      <a:rPr lang="zh-CN" altLang="en-US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，</m:t>
                    </m:r>
                    <m:r>
                      <m:rPr>
                        <m:nor/>
                      </m:rPr>
                      <a:rPr lang="en-US" altLang="zh-CN" sz="2000" b="1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P</m:t>
                    </m:r>
                    <m:r>
                      <m:rPr>
                        <m:nor/>
                      </m:rPr>
                      <a:rPr lang="en-US" altLang="zh-CN" sz="2000" b="1" dirty="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m:t>MOS</m:t>
                    </m:r>
                    <m:r>
                      <m:rPr>
                        <m:nor/>
                      </m:rPr>
                      <a:rPr lang="zh-CN" altLang="en-US" sz="2000" b="1" dirty="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m:t>截止，故不论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2000" b="1" dirty="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m:t>怎么变化，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𝑰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𝟎</m:t>
                    </m:r>
                    <m:r>
                      <m:rPr>
                        <m:nor/>
                      </m:rPr>
                      <a:rPr lang="zh-CN" altLang="en-US" sz="2000" b="1" dirty="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m:t>，</m:t>
                    </m:r>
                    <m:sSub>
                      <m:sSubPr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𝒈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𝒎</m:t>
                        </m:r>
                      </m:sub>
                    </m:sSub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𝟎</m:t>
                    </m:r>
                    <m:r>
                      <m:rPr>
                        <m:nor/>
                      </m:rPr>
                      <a:rPr lang="zh-CN" altLang="en-US" sz="2000" b="1" dirty="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m:t>；</m:t>
                    </m:r>
                  </m:oMath>
                </a14:m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endParaRPr lang="zh-CN" altLang="en-US" sz="200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0" y="5850719"/>
                <a:ext cx="9405203" cy="707886"/>
              </a:xfrm>
              <a:prstGeom prst="rect">
                <a:avLst/>
              </a:prstGeom>
              <a:blipFill>
                <a:blip r:embed="rId11"/>
                <a:stretch>
                  <a:fillRect l="-713" t="-68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9846610"/>
      </p:ext>
    </p:ext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664" y="1719858"/>
            <a:ext cx="2316336" cy="2712775"/>
          </a:xfrm>
          <a:prstGeom prst="rect">
            <a:avLst/>
          </a:prstGeom>
        </p:spPr>
      </p:pic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389891" y="208470"/>
            <a:ext cx="5832475" cy="776288"/>
          </a:xfrm>
        </p:spPr>
        <p:txBody>
          <a:bodyPr/>
          <a:lstStyle/>
          <a:p>
            <a:pPr eaLnBrk="1" hangingPunct="1"/>
            <a: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2.24(b) </a:t>
            </a:r>
            <a:endParaRPr lang="zh-CN" alt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9890" y="1576088"/>
            <a:ext cx="83422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解答：画出②中的草图如下：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389891" y="1209587"/>
                <a:ext cx="1115955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题目：在图中，以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为参数，画出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𝑰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关于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的函数曲线草图和其等效跨导草图，假设</a:t>
                </a:r>
                <a14:m>
                  <m:oMath xmlns:m="http://schemas.openxmlformats.org/officeDocument/2006/math">
                    <m:r>
                      <a:rPr lang="zh-CN" altLang="en-US" sz="2000" b="1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000" b="1" i="1">
                        <a:latin typeface="Cambria Math" panose="02040503050406030204" pitchFamily="18" charset="0"/>
                      </a:rPr>
                      <m:t>𝜸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。</a:t>
                </a: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1209587"/>
                <a:ext cx="11159558" cy="400110"/>
              </a:xfrm>
              <a:prstGeom prst="rect">
                <a:avLst/>
              </a:prstGeom>
              <a:blipFill>
                <a:blip r:embed="rId3"/>
                <a:stretch>
                  <a:fillRect l="-601" t="-10606" r="-546" b="-2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0" y="1976198"/>
                <a:ext cx="3842334" cy="14906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𝑰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𝑿</m:t>
                          </m:r>
                        </m:sub>
                      </m:sSub>
                      <m:r>
                        <a:rPr lang="en-US" altLang="zh-CN" sz="1600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16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600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𝟎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f>
                                    <m:f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𝟏</m:t>
                                      </m:r>
                                    </m:num>
                                    <m:den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𝟐</m:t>
                                      </m:r>
                                    </m:den>
                                  </m:f>
                                  <m:r>
                                    <a:rPr lang="zh-CN" altLang="en-US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𝒑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𝒐𝒙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𝑾</m:t>
                                      </m:r>
                                    </m:num>
                                    <m:den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𝑳</m:t>
                                      </m:r>
                                    </m:den>
                                  </m:f>
                                </m:e>
                              </m:d>
                              <m:sSup>
                                <m:sSup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(</m:t>
                                      </m:r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𝑿</m:t>
                                      </m:r>
                                    </m:sub>
                                  </m:s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𝑮</m:t>
                                      </m:r>
                                    </m:sub>
                                  </m:s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600" b="1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 b="1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𝑽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b="1" i="1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𝑻𝑯𝑷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  <m:e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f>
                                    <m:f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𝟏</m:t>
                                      </m:r>
                                    </m:num>
                                    <m:den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𝟐</m:t>
                                      </m:r>
                                    </m:den>
                                  </m:f>
                                  <m:r>
                                    <a:rPr lang="zh-CN" altLang="en-US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𝒐𝒙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𝑾</m:t>
                                      </m:r>
                                    </m:num>
                                    <m:den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𝑳</m:t>
                                      </m:r>
                                    </m:den>
                                  </m:f>
                                </m:e>
                              </m:d>
                              <m:sSup>
                                <m:sSup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𝑮</m:t>
                                      </m:r>
                                    </m:sub>
                                  </m:s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1600" b="1" i="1" smtClean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1" i="1" smtClean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altLang="zh-CN" sz="1600" b="1" i="1" smtClean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𝑻𝑯𝑵</m:t>
                                      </m:r>
                                    </m:sub>
                                  </m:s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976198"/>
                <a:ext cx="3842334" cy="1490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3842334" y="1976198"/>
                <a:ext cx="3780394" cy="14906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𝒈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𝒎</m:t>
                          </m:r>
                        </m:sub>
                      </m:sSub>
                      <m:r>
                        <a:rPr lang="en-US" altLang="zh-CN" sz="1600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16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600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𝟎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−</m:t>
                                  </m:r>
                                  <m:r>
                                    <a:rPr lang="zh-CN" altLang="en-US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𝒑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𝒐𝒙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𝑾</m:t>
                                      </m:r>
                                    </m:num>
                                    <m:den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𝑳</m:t>
                                      </m:r>
                                    </m:den>
                                  </m:f>
                                </m:e>
                              </m:d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(</m:t>
                                  </m:r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𝑿</m:t>
                                  </m:r>
                                </m:sub>
                              </m:sSub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𝑮</m:t>
                                  </m:r>
                                </m:sub>
                              </m:sSub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𝑻𝑯𝑷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𝒐𝒙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𝑾</m:t>
                                      </m:r>
                                    </m:num>
                                    <m:den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  <m:t>𝑳</m:t>
                                      </m:r>
                                    </m:den>
                                  </m:f>
                                </m:e>
                              </m:d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(</m:t>
                                  </m:r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𝑮</m:t>
                                  </m:r>
                                </m:sub>
                              </m:sSub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𝑻𝑯𝑵</m:t>
                                  </m:r>
                                </m:sub>
                              </m:sSub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)</m:t>
                              </m:r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2334" y="1976198"/>
                <a:ext cx="3780394" cy="14906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7583212" y="1982344"/>
                <a:ext cx="177478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𝟏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.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𝟖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&gt;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𝑿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&gt;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𝟎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3212" y="1982344"/>
                <a:ext cx="177478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7581180" y="2468834"/>
                <a:ext cx="256185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.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𝟑𝟔𝟏𝟐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&gt;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𝑿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&gt;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𝟏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𝟖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𝑽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1180" y="2468834"/>
                <a:ext cx="256185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7581180" y="2955324"/>
                <a:ext cx="233743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𝟑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&gt;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𝑿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&gt;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𝟐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.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𝟑𝟔𝟏𝟐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𝑽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1180" y="2955324"/>
                <a:ext cx="233743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/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115" y="3466862"/>
            <a:ext cx="9363475" cy="329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77487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7572" y="1563530"/>
            <a:ext cx="2220576" cy="2319747"/>
          </a:xfrm>
          <a:prstGeom prst="rect">
            <a:avLst/>
          </a:prstGeom>
        </p:spPr>
      </p:pic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389891" y="208470"/>
            <a:ext cx="5832475" cy="776288"/>
          </a:xfrm>
        </p:spPr>
        <p:txBody>
          <a:bodyPr/>
          <a:lstStyle/>
          <a:p>
            <a:pPr eaLnBrk="1" hangingPunct="1"/>
            <a: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2.28 </a:t>
            </a:r>
            <a:endParaRPr lang="zh-CN" alt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89891" y="1894509"/>
                <a:ext cx="7987990" cy="24006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解答：①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不断减小到低于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0V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MOS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管源漏互换，并处在线性区，当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小到某个值后，衬底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-D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之间会形成导通的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PN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结，产生漏电；</a:t>
                </a: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𝒔𝒖𝒃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不断增大到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0V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以上，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𝒔𝒖𝒃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较小时，由于衬偏效应，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𝑻𝑯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变小，因此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MOS</a:t>
                </a:r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管的电流增大；当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𝒔𝒖𝒃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大到某个值后，同样衬底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-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源之间会形成导通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PN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结，产生漏电。</a:t>
                </a:r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1" y="1894509"/>
                <a:ext cx="7987990" cy="2400657"/>
              </a:xfrm>
              <a:prstGeom prst="rect">
                <a:avLst/>
              </a:prstGeom>
              <a:blipFill>
                <a:blip r:embed="rId3"/>
                <a:stretch>
                  <a:fillRect l="-840" b="-12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389892" y="1209587"/>
                <a:ext cx="11340790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题目：考虑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𝑮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𝟏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.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𝟓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𝑽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𝑺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𝟎</m:t>
                    </m:r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的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NMOS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器件。解释如果将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不断减小到低于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0V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或者将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𝑽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𝒔𝒖𝒃</m:t>
                        </m:r>
                      </m:sub>
                    </m:sSub>
                  </m:oMath>
                </a14:m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不断增大到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0V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以上，将会发生什么情况？</a:t>
                </a: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92" y="1209587"/>
                <a:ext cx="11340790" cy="707886"/>
              </a:xfrm>
              <a:prstGeom prst="rect">
                <a:avLst/>
              </a:prstGeom>
              <a:blipFill>
                <a:blip r:embed="rId4"/>
                <a:stretch>
                  <a:fillRect l="-591" t="-5983" b="-145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9800" y="3916218"/>
            <a:ext cx="5495095" cy="175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406027"/>
      </p:ext>
    </p:extLst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389891" y="208470"/>
            <a:ext cx="5832475" cy="776288"/>
          </a:xfrm>
        </p:spPr>
        <p:txBody>
          <a:bodyPr/>
          <a:lstStyle/>
          <a:p>
            <a:pPr eaLnBrk="1" hangingPunct="1"/>
            <a:r>
              <a:rPr lang="zh-CN" alt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附录：常用参数求解</a:t>
            </a:r>
            <a: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zh-CN" alt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7843206" y="428555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7670624" y="1768712"/>
                <a:ext cx="4521376" cy="14802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zh-CN" altLang="en-US" sz="20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𝒐𝒙</m:t>
                          </m:r>
                        </m:sub>
                      </m:sSub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zh-CN" altLang="en-US" sz="20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𝒏</m:t>
                          </m:r>
                        </m:sub>
                      </m:sSub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×</m:t>
                      </m:r>
                      <m:f>
                        <m:fPr>
                          <m:ctrlPr>
                            <a:rPr lang="en-US" altLang="zh-CN" sz="2000" b="1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b="1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000" b="1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000" b="1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000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000" b="1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𝒐𝒙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000" b="1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altLang="zh-CN" sz="2000" b="1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𝒐𝒙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sz="2000" b="1" i="1" dirty="0">
                  <a:latin typeface="Cambria Math" panose="02040503050406030204" pitchFamily="18" charset="0"/>
                  <a:ea typeface="宋体" panose="02010600030101010101" pitchFamily="2" charset="-122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              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𝟑𝟓𝟎</m:t>
                    </m:r>
                  </m:oMath>
                </a14:m>
                <a:r>
                  <a:rPr lang="en-US" altLang="zh-CN" sz="2000" b="1" dirty="0"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×</m:t>
                    </m:r>
                    <m:f>
                      <m:fPr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fPr>
                      <m:num>
                        <m:r>
                          <a:rPr lang="en-US" altLang="zh-CN" sz="2000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𝟖</m:t>
                        </m:r>
                        <m:r>
                          <a:rPr lang="en-US" altLang="zh-CN" sz="2000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.</m:t>
                        </m:r>
                        <m:r>
                          <a:rPr lang="en-US" altLang="zh-CN" sz="2000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𝟖𝟓</m:t>
                        </m:r>
                        <m:r>
                          <a:rPr lang="en-US" altLang="zh-CN" sz="2000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×</m:t>
                        </m:r>
                        <m:sSup>
                          <m:sSupPr>
                            <m:ctrlPr>
                              <a:rPr lang="en-US" altLang="zh-CN" sz="2000" b="1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2000" b="1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𝟏𝟎</m:t>
                            </m:r>
                          </m:e>
                          <m:sup>
                            <m:r>
                              <a:rPr lang="en-US" altLang="zh-CN" sz="2000" b="1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−</m:t>
                            </m:r>
                            <m:r>
                              <a:rPr lang="en-US" altLang="zh-CN" sz="2000" b="1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𝟏𝟐</m:t>
                            </m:r>
                          </m:sup>
                        </m:sSup>
                        <m:r>
                          <a:rPr lang="en-US" altLang="zh-CN" sz="2000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×</m:t>
                        </m:r>
                        <m:r>
                          <a:rPr lang="en-US" altLang="zh-CN" sz="2000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𝟑</m:t>
                        </m:r>
                        <m:r>
                          <a:rPr lang="en-US" altLang="zh-CN" sz="2000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.</m:t>
                        </m:r>
                        <m:r>
                          <a:rPr lang="en-US" altLang="zh-CN" sz="2000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𝟗</m:t>
                        </m:r>
                      </m:num>
                      <m:den>
                        <m:r>
                          <a:rPr lang="en-US" altLang="zh-CN" sz="2000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𝟗</m:t>
                        </m:r>
                        <m:r>
                          <a:rPr lang="en-US" altLang="zh-CN" sz="2000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×</m:t>
                        </m:r>
                        <m:sSup>
                          <m:sSupPr>
                            <m:ctrlPr>
                              <a:rPr lang="en-US" altLang="zh-CN" sz="2000" b="1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2000" b="1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𝟏𝟎</m:t>
                            </m:r>
                          </m:e>
                          <m:sup>
                            <m:r>
                              <a:rPr lang="en-US" altLang="zh-CN" sz="2000" b="1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−</m:t>
                            </m:r>
                            <m:r>
                              <a:rPr lang="en-US" altLang="zh-CN" sz="2000" b="1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𝟗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sz="2000" b="1" i="1" dirty="0">
                  <a:latin typeface="Cambria Math" panose="02040503050406030204" pitchFamily="18" charset="0"/>
                  <a:ea typeface="宋体" panose="02010600030101010101" pitchFamily="2" charset="-122"/>
                </a:endParaRPr>
              </a:p>
              <a:p>
                <a:r>
                  <a:rPr lang="en-US" altLang="zh-CN" sz="2000" b="1" dirty="0">
                    <a:ea typeface="Cambria Math" panose="020405030504060302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CN" sz="2000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</m:t>
                    </m:r>
                    <m:r>
                      <a:rPr lang="en-US" altLang="zh-CN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≈</m:t>
                    </m:r>
                    <m:r>
                      <a:rPr lang="en-US" altLang="zh-CN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𝟑𝟒𝟐𝟐𝟓</m:t>
                    </m:r>
                  </m:oMath>
                </a14:m>
                <a:r>
                  <a:rPr lang="en-US" altLang="zh-CN" sz="2000" b="1" dirty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×</m:t>
                    </m:r>
                    <m:r>
                      <a:rPr lang="en-US" altLang="zh-CN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𝟏</m:t>
                    </m:r>
                    <m:sSup>
                      <m:sSupPr>
                        <m:ctrlP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pPr>
                      <m:e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𝟎</m:t>
                        </m:r>
                      </m:e>
                      <m:sup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𝟒</m:t>
                        </m:r>
                      </m:sup>
                    </m:sSup>
                  </m:oMath>
                </a14:m>
                <a:endParaRPr lang="en-US" altLang="zh-CN" sz="2000" b="1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0624" y="1768712"/>
                <a:ext cx="4521376" cy="14802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02" y="1651495"/>
            <a:ext cx="7419331" cy="353780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8634037" y="2351692"/>
            <a:ext cx="18473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7670624" y="3420398"/>
                <a:ext cx="4521376" cy="14802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zh-CN" altLang="en-US" sz="20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𝒑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𝒐𝒙</m:t>
                          </m:r>
                        </m:sub>
                      </m:sSub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zh-CN" altLang="en-US" sz="2000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𝒑</m:t>
                          </m:r>
                        </m:sub>
                      </m:sSub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×</m:t>
                      </m:r>
                      <m:f>
                        <m:fPr>
                          <m:ctrlPr>
                            <a:rPr lang="en-US" altLang="zh-CN" sz="2000" b="1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b="1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000" b="1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000" b="1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000" b="1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000" b="1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𝒐𝒙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000" b="1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altLang="zh-CN" sz="2000" b="1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𝒐𝒙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sz="2000" b="1" i="1" dirty="0">
                  <a:latin typeface="Cambria Math" panose="02040503050406030204" pitchFamily="18" charset="0"/>
                  <a:ea typeface="宋体" panose="02010600030101010101" pitchFamily="2" charset="-122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              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𝟏𝟎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𝟎</m:t>
                    </m:r>
                  </m:oMath>
                </a14:m>
                <a:r>
                  <a:rPr lang="en-US" altLang="zh-CN" sz="2000" b="1" dirty="0"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×</m:t>
                    </m:r>
                    <m:f>
                      <m:fPr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fPr>
                      <m:num>
                        <m:r>
                          <a:rPr lang="en-US" altLang="zh-CN" sz="2000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𝟖</m:t>
                        </m:r>
                        <m:r>
                          <a:rPr lang="en-US" altLang="zh-CN" sz="2000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.</m:t>
                        </m:r>
                        <m:r>
                          <a:rPr lang="en-US" altLang="zh-CN" sz="2000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𝟖𝟓</m:t>
                        </m:r>
                        <m:r>
                          <a:rPr lang="en-US" altLang="zh-CN" sz="2000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×</m:t>
                        </m:r>
                        <m:sSup>
                          <m:sSupPr>
                            <m:ctrlPr>
                              <a:rPr lang="en-US" altLang="zh-CN" sz="2000" b="1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2000" b="1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𝟏𝟎</m:t>
                            </m:r>
                          </m:e>
                          <m:sup>
                            <m:r>
                              <a:rPr lang="en-US" altLang="zh-CN" sz="2000" b="1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−</m:t>
                            </m:r>
                            <m:r>
                              <a:rPr lang="en-US" altLang="zh-CN" sz="2000" b="1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𝟏𝟐</m:t>
                            </m:r>
                          </m:sup>
                        </m:sSup>
                        <m:r>
                          <a:rPr lang="en-US" altLang="zh-CN" sz="2000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×</m:t>
                        </m:r>
                        <m:r>
                          <a:rPr lang="en-US" altLang="zh-CN" sz="2000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𝟑</m:t>
                        </m:r>
                        <m:r>
                          <a:rPr lang="en-US" altLang="zh-CN" sz="2000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.</m:t>
                        </m:r>
                        <m:r>
                          <a:rPr lang="en-US" altLang="zh-CN" sz="2000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𝟗</m:t>
                        </m:r>
                      </m:num>
                      <m:den>
                        <m:r>
                          <a:rPr lang="en-US" altLang="zh-CN" sz="2000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𝟗</m:t>
                        </m:r>
                        <m:r>
                          <a:rPr lang="en-US" altLang="zh-CN" sz="2000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×</m:t>
                        </m:r>
                        <m:sSup>
                          <m:sSupPr>
                            <m:ctrlPr>
                              <a:rPr lang="en-US" altLang="zh-CN" sz="2000" b="1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2000" b="1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𝟏𝟎</m:t>
                            </m:r>
                          </m:e>
                          <m:sup>
                            <m:r>
                              <a:rPr lang="en-US" altLang="zh-CN" sz="2000" b="1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−</m:t>
                            </m:r>
                            <m:r>
                              <a:rPr lang="en-US" altLang="zh-CN" sz="2000" b="1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𝟗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sz="2000" b="1" i="1" dirty="0">
                  <a:latin typeface="Cambria Math" panose="02040503050406030204" pitchFamily="18" charset="0"/>
                  <a:ea typeface="宋体" panose="02010600030101010101" pitchFamily="2" charset="-122"/>
                </a:endParaRPr>
              </a:p>
              <a:p>
                <a:r>
                  <a:rPr lang="en-US" altLang="zh-CN" sz="2000" b="1" dirty="0">
                    <a:ea typeface="Cambria Math" panose="020405030504060302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CN" sz="2000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</m:t>
                    </m:r>
                    <m:r>
                      <a:rPr lang="en-US" altLang="zh-CN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≈</m:t>
                    </m:r>
                    <m:r>
                      <a:rPr lang="en-US" altLang="zh-CN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𝟑𝟖𝟑𝟓</m:t>
                    </m:r>
                    <m:r>
                      <a:rPr lang="en-US" altLang="zh-CN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×</m:t>
                    </m:r>
                    <m:r>
                      <a:rPr lang="en-US" altLang="zh-CN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𝟏</m:t>
                    </m:r>
                    <m:sSup>
                      <m:sSupPr>
                        <m:ctrlP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pPr>
                      <m:e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𝟎</m:t>
                        </m:r>
                      </m:e>
                      <m:sup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</m:t>
                        </m:r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𝟒</m:t>
                        </m:r>
                      </m:sup>
                    </m:sSup>
                  </m:oMath>
                </a14:m>
                <a:endParaRPr lang="en-US" altLang="zh-CN" sz="2000" b="1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0624" y="3420398"/>
                <a:ext cx="4521376" cy="14802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8291546"/>
      </p:ext>
    </p:extLst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389891" y="208470"/>
            <a:ext cx="5832475" cy="776288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附录：常用公式汇总</a:t>
            </a:r>
          </a:p>
        </p:txBody>
      </p:sp>
      <p:sp>
        <p:nvSpPr>
          <p:cNvPr id="7" name="矩形 6"/>
          <p:cNvSpPr/>
          <p:nvPr/>
        </p:nvSpPr>
        <p:spPr>
          <a:xfrm>
            <a:off x="8634037" y="2351692"/>
            <a:ext cx="18473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596718" y="4574944"/>
                <a:ext cx="1378774" cy="6656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𝒈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𝒎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𝑮𝑺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718" y="4574944"/>
                <a:ext cx="1378774" cy="6656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884813" y="1725501"/>
                <a:ext cx="4699620" cy="6186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𝒐𝒙</m:t>
                          </m:r>
                        </m:sub>
                      </m:sSub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𝑾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𝑳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𝑮𝑺</m:t>
                                  </m:r>
                                </m:sub>
                              </m:s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𝑻𝑯𝑵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𝟏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+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𝝀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𝑫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𝑺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4813" y="1725501"/>
                <a:ext cx="4699620" cy="6186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/>
          <p:cNvSpPr/>
          <p:nvPr/>
        </p:nvSpPr>
        <p:spPr>
          <a:xfrm>
            <a:off x="507468" y="1246771"/>
            <a:ext cx="18117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平方率电流公式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507468" y="1864196"/>
            <a:ext cx="881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饱和区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507467" y="2501278"/>
            <a:ext cx="881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线性区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1884813" y="2340297"/>
                <a:ext cx="4781309" cy="6186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𝒐𝒙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𝑾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𝑳</m:t>
                              </m:r>
                            </m:den>
                          </m:f>
                        </m:e>
                      </m:d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[</m:t>
                      </m:r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𝑮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𝑺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𝑻𝑯𝑵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𝑫𝑺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−</m:t>
                      </m:r>
                      <m:f>
                        <m:f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𝑫𝑺</m:t>
                              </m:r>
                            </m:sub>
                          </m:sSub>
                        </m:e>
                        <m:sup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]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4813" y="2340297"/>
                <a:ext cx="4781309" cy="6186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7079805" y="1739546"/>
                <a:ext cx="4681987" cy="6186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𝒑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𝒐𝒙</m:t>
                          </m:r>
                        </m:sub>
                      </m:sSub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𝑾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𝑳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𝑺𝑮</m:t>
                                  </m:r>
                                </m:sub>
                              </m:s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𝑻𝑯𝑷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𝟏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+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𝝀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𝑺𝑫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9805" y="1739546"/>
                <a:ext cx="4681987" cy="6186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/>
          <p:cNvSpPr/>
          <p:nvPr/>
        </p:nvSpPr>
        <p:spPr>
          <a:xfrm>
            <a:off x="4031221" y="1251477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NMOS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8644418" y="1246771"/>
            <a:ext cx="8515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PMOS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7079805" y="2376628"/>
                <a:ext cx="4781309" cy="6186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𝒑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𝒐𝒙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𝑾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𝑳</m:t>
                              </m:r>
                            </m:den>
                          </m:f>
                        </m:e>
                      </m:d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[</m:t>
                      </m:r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𝑺𝑮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𝑻𝑯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𝑷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𝑺𝑫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−</m:t>
                      </m:r>
                      <m:f>
                        <m:f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𝑺𝑫</m:t>
                              </m:r>
                            </m:sub>
                          </m:sSub>
                        </m:e>
                        <m:sup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]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9805" y="2376628"/>
                <a:ext cx="4781309" cy="6186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2376889" y="3753121"/>
                <a:ext cx="4496872" cy="6167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𝒈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𝒎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𝑪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𝒐𝒙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𝑾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𝑳</m:t>
                              </m:r>
                            </m:den>
                          </m:f>
                        </m:e>
                      </m:d>
                      <m:r>
                        <a:rPr lang="en-US" altLang="zh-CN" b="0" i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𝑮𝑺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−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𝑻𝑯𝑵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𝟏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+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𝝀</m:t>
                      </m:r>
                      <m:sSub>
                        <m:sSubPr>
                          <m:ctrlP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𝑫𝑺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6889" y="3753121"/>
                <a:ext cx="4496872" cy="6167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2317359" y="4487589"/>
                <a:ext cx="4129015" cy="7047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𝒈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𝒎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𝟐</m:t>
                              </m:r>
                              <m:r>
                                <a:rPr lang="zh-CN" altLang="en-US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𝒐𝒙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𝑾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/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𝑳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sub>
                          </m:sSub>
                        </m:e>
                      </m:rad>
                      <m:r>
                        <a:rPr lang="en-US" altLang="zh-CN" b="1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/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(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𝟏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+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𝝀</m:t>
                      </m:r>
                      <m:sSub>
                        <m:sSubPr>
                          <m:ctrlP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𝑫𝑺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7359" y="4487589"/>
                <a:ext cx="4129015" cy="70474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/>
              <p:cNvSpPr/>
              <p:nvPr/>
            </p:nvSpPr>
            <p:spPr>
              <a:xfrm>
                <a:off x="2376889" y="5135449"/>
                <a:ext cx="3308663" cy="6594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𝒈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𝒎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𝑮𝑺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𝑻𝑯𝑵</m:t>
                              </m:r>
                            </m:sub>
                          </m:sSub>
                        </m:den>
                      </m:f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/(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𝟏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+</m:t>
                      </m:r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𝝀</m:t>
                      </m:r>
                      <m:sSub>
                        <m:sSubPr>
                          <m:ctrlP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𝑫𝑺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6889" y="5135449"/>
                <a:ext cx="3308663" cy="65941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7465421" y="4002228"/>
                <a:ext cx="3752566" cy="735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𝒈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𝒎𝒃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𝑩𝑺</m:t>
                              </m:r>
                            </m:sub>
                          </m:sSub>
                        </m:den>
                      </m:f>
                      <m:r>
                        <a:rPr lang="en-US" altLang="zh-CN" b="0" i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𝒈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𝒎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Pr>
                        <m:num>
                          <m:r>
                            <a:rPr lang="zh-CN" altLang="en-US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𝜸</m:t>
                          </m:r>
                        </m:num>
                        <m:den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𝟐</m:t>
                          </m:r>
                          <m:rad>
                            <m:radPr>
                              <m:degHide m:val="on"/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sSub>
                                <m:sSub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sub>
                              </m:sSub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𝑺𝑩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5421" y="4002228"/>
                <a:ext cx="3752566" cy="73533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/>
              <p:cNvSpPr/>
              <p:nvPr/>
            </p:nvSpPr>
            <p:spPr>
              <a:xfrm>
                <a:off x="1884813" y="2997545"/>
                <a:ext cx="4450385" cy="4277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𝑻𝑯𝑵</m:t>
                              </m:r>
                            </m:sub>
                          </m:s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=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𝑻𝑯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b="1" i="1" dirty="0">
                          <a:latin typeface="Cambria Math" panose="02040503050406030204" pitchFamily="18" charset="0"/>
                        </a:rPr>
                        <m:t>𝜸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sSub>
                                <m:sSub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sub>
                              </m:sSub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  <m:t>𝑺𝑩</m:t>
                                  </m:r>
                                </m:sub>
                              </m:sSub>
                            </m:e>
                          </m:rad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sSub>
                                <m:sSub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sub>
                              </m:sSub>
                            </m:e>
                          </m:rad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4813" y="2997545"/>
                <a:ext cx="4450385" cy="427746"/>
              </a:xfrm>
              <a:prstGeom prst="rect">
                <a:avLst/>
              </a:prstGeom>
              <a:blipFill>
                <a:blip r:embed="rId12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/>
              <p:cNvSpPr/>
              <p:nvPr/>
            </p:nvSpPr>
            <p:spPr>
              <a:xfrm>
                <a:off x="7079805" y="3016908"/>
                <a:ext cx="4394280" cy="4367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𝑻𝑯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𝑷</m:t>
                              </m:r>
                            </m:sub>
                          </m:s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=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𝑻𝑯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b="1" i="1" dirty="0">
                          <a:latin typeface="Cambria Math" panose="02040503050406030204" pitchFamily="18" charset="0"/>
                        </a:rPr>
                        <m:t>𝜸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sSub>
                                <m:sSub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sub>
                              </m:sSub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b="1" i="1" dirty="0" smtClean="0">
                                      <a:latin typeface="Cambria Math" panose="02040503050406030204" pitchFamily="18" charset="0"/>
                                    </a:rPr>
                                    <m:t>𝑩𝑺</m:t>
                                  </m:r>
                                </m:sub>
                              </m:sSub>
                            </m:e>
                          </m:rad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sSub>
                                <m:sSubPr>
                                  <m:ctrlP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altLang="zh-CN" b="1" i="1" dirty="0"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sub>
                              </m:sSub>
                            </m:e>
                          </m:rad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9805" y="3016908"/>
                <a:ext cx="4394280" cy="436723"/>
              </a:xfrm>
              <a:prstGeom prst="rect">
                <a:avLst/>
              </a:prstGeom>
              <a:blipFill>
                <a:blip r:embed="rId13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矩形 26"/>
          <p:cNvSpPr/>
          <p:nvPr/>
        </p:nvSpPr>
        <p:spPr>
          <a:xfrm>
            <a:off x="505645" y="3583567"/>
            <a:ext cx="18117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小信号参数公式</a:t>
            </a:r>
            <a:endParaRPr lang="zh-CN" altLang="en-US" dirty="0"/>
          </a:p>
        </p:txBody>
      </p:sp>
      <p:sp>
        <p:nvSpPr>
          <p:cNvPr id="30" name="Rectangle 8">
            <a:extLst>
              <a:ext uri="{FF2B5EF4-FFF2-40B4-BE49-F238E27FC236}">
                <a16:creationId xmlns:a16="http://schemas.microsoft.com/office/drawing/2014/main" id="{95E80445-57EB-4952-958C-7AE99E7A4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5986" y="487130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939F13D9-08F2-4211-8230-24B5167DA843}"/>
                  </a:ext>
                </a:extLst>
              </p:cNvPr>
              <p:cNvSpPr/>
              <p:nvPr/>
            </p:nvSpPr>
            <p:spPr>
              <a:xfrm>
                <a:off x="7543465" y="4953307"/>
                <a:ext cx="1971822" cy="6656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𝒐</m:t>
                              </m:r>
                            </m:sub>
                          </m:sSub>
                        </m:den>
                      </m:f>
                      <m:r>
                        <a:rPr lang="en-US" altLang="zh-CN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𝑫𝑺</m:t>
                              </m:r>
                            </m:sub>
                          </m:sSub>
                        </m:den>
                      </m:f>
                      <m:r>
                        <a:rPr lang="en-US" altLang="zh-CN" b="0" i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𝝀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𝑫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939F13D9-08F2-4211-8230-24B5167DA8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465" y="4953307"/>
                <a:ext cx="1971822" cy="66569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78B5AD7C-6011-4FF6-AA8D-6B21C5DC82A1}"/>
                  </a:ext>
                </a:extLst>
              </p:cNvPr>
              <p:cNvSpPr/>
              <p:nvPr/>
            </p:nvSpPr>
            <p:spPr>
              <a:xfrm>
                <a:off x="9921472" y="4967610"/>
                <a:ext cx="1146339" cy="6580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𝒓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𝒐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𝑫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78B5AD7C-6011-4FF6-AA8D-6B21C5DC82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1472" y="4967610"/>
                <a:ext cx="1146339" cy="65806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0414112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7728</TotalTime>
  <Words>3594</Words>
  <Application>Microsoft Office PowerPoint</Application>
  <PresentationFormat>宽屏</PresentationFormat>
  <Paragraphs>273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5" baseType="lpstr">
      <vt:lpstr>等线</vt:lpstr>
      <vt:lpstr>等线 Light</vt:lpstr>
      <vt:lpstr>华文行楷</vt:lpstr>
      <vt:lpstr>宋体</vt:lpstr>
      <vt:lpstr>微软雅黑</vt:lpstr>
      <vt:lpstr>Arial</vt:lpstr>
      <vt:lpstr>Calibri</vt:lpstr>
      <vt:lpstr>Cambria Math</vt:lpstr>
      <vt:lpstr>Times New Roman</vt:lpstr>
      <vt:lpstr>Wingdings</vt:lpstr>
      <vt:lpstr>Office 主题​​</vt:lpstr>
      <vt:lpstr>PowerPoint 演示文稿</vt:lpstr>
      <vt:lpstr>2.2 </vt:lpstr>
      <vt:lpstr>2.5(a)</vt:lpstr>
      <vt:lpstr>PowerPoint 演示文稿</vt:lpstr>
      <vt:lpstr>2.5(b)</vt:lpstr>
      <vt:lpstr>2.5(b)</vt:lpstr>
      <vt:lpstr>2.5(c) </vt:lpstr>
      <vt:lpstr>2.5(c) </vt:lpstr>
      <vt:lpstr>2.5(d) </vt:lpstr>
      <vt:lpstr>2.5(d) </vt:lpstr>
      <vt:lpstr>2.5(d) </vt:lpstr>
      <vt:lpstr>2.5(e) </vt:lpstr>
      <vt:lpstr>2.5(e) </vt:lpstr>
      <vt:lpstr>2.7(a) </vt:lpstr>
      <vt:lpstr>2.7(a) </vt:lpstr>
      <vt:lpstr>2.7(b) </vt:lpstr>
      <vt:lpstr>2.7(b) </vt:lpstr>
      <vt:lpstr>2.7(c) </vt:lpstr>
      <vt:lpstr>2.7(d) </vt:lpstr>
      <vt:lpstr>2.7(d) </vt:lpstr>
      <vt:lpstr>2.16 </vt:lpstr>
      <vt:lpstr>2.16 </vt:lpstr>
      <vt:lpstr>2.17 </vt:lpstr>
      <vt:lpstr>2.18 </vt:lpstr>
      <vt:lpstr>2.24(a) </vt:lpstr>
      <vt:lpstr>2.24(a) </vt:lpstr>
      <vt:lpstr>2.24(a) </vt:lpstr>
      <vt:lpstr>2.24(a) </vt:lpstr>
      <vt:lpstr>2.24(a) </vt:lpstr>
      <vt:lpstr>2.24(b) </vt:lpstr>
      <vt:lpstr>2.24(b) </vt:lpstr>
      <vt:lpstr>2.28 </vt:lpstr>
      <vt:lpstr>附录：常用参数求解 </vt:lpstr>
      <vt:lpstr>附录：常用公式汇总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 超男</dc:creator>
  <cp:lastModifiedBy>孙 傲然</cp:lastModifiedBy>
  <cp:revision>267</cp:revision>
  <dcterms:created xsi:type="dcterms:W3CDTF">2020-04-30T15:30:12Z</dcterms:created>
  <dcterms:modified xsi:type="dcterms:W3CDTF">2022-01-01T10:13:41Z</dcterms:modified>
</cp:coreProperties>
</file>